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微软雅黑" panose="020B0503020204020204" pitchFamily="34" charset="-122"/>
      <p:regular r:id="rId15"/>
      <p:bold r:id="rId16"/>
    </p:embeddedFont>
    <p:embeddedFont>
      <p:font typeface="MiSans" panose="020B0604020202020204" charset="-122"/>
      <p:regular r:id="rId17"/>
    </p:embeddedFont>
    <p:embeddedFont>
      <p:font typeface="Hedvig Letters Sans" panose="020B0604020202020204" charset="0"/>
      <p:regular r:id="rId18"/>
    </p:embeddedFont>
    <p:embeddedFont>
      <p:font typeface="Liter" panose="020B0604020202020204" charset="0"/>
      <p:regular r:id="rId19"/>
    </p:embeddedFont>
    <p:embeddedFont>
      <p:font typeface="Quattrocento Sans" panose="020B0502050000020003" pitchFamily="3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00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0d0f92bf167be82e7c323c442fbe2c1dcd4eecf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778" r="177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2D63">
                  <a:alpha val="95000"/>
                </a:srgbClr>
              </a:gs>
              <a:gs pos="50000">
                <a:srgbClr val="0F2D63">
                  <a:alpha val="90000"/>
                </a:srgbClr>
              </a:gs>
              <a:gs pos="100000">
                <a:srgbClr val="26A2DB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810" y="384810"/>
            <a:ext cx="3369945" cy="388620"/>
          </a:xfrm>
          <a:custGeom>
            <a:avLst/>
            <a:gdLst/>
            <a:ahLst/>
            <a:cxnLst/>
            <a:rect l="l" t="t" r="r" b="b"/>
            <a:pathLst>
              <a:path w="3369945" h="388620">
                <a:moveTo>
                  <a:pt x="38100" y="0"/>
                </a:moveTo>
                <a:lnTo>
                  <a:pt x="3331845" y="0"/>
                </a:lnTo>
                <a:cubicBezTo>
                  <a:pt x="3352887" y="0"/>
                  <a:pt x="3369945" y="17058"/>
                  <a:pt x="3369945" y="38100"/>
                </a:cubicBezTo>
                <a:lnTo>
                  <a:pt x="3369945" y="350520"/>
                </a:lnTo>
                <a:cubicBezTo>
                  <a:pt x="3369945" y="371562"/>
                  <a:pt x="3352887" y="388620"/>
                  <a:pt x="3331845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A2DB">
              <a:alpha val="20000"/>
            </a:srgbClr>
          </a:solidFill>
          <a:ln w="10160">
            <a:solidFill>
              <a:srgbClr val="26A2DB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9120" y="464820"/>
            <a:ext cx="305550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BACKEND STANDARDS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05840"/>
            <a:ext cx="59531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DGC API Guideline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948940"/>
            <a:ext cx="5724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9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Enterprise Backend Standards for Reliability,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AFC">
                    <a:alpha val="9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Security, and Operability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14350" y="6153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52500" y="613410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First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09073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242423" y="6153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680573" y="613410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 by Design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10658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32102" y="6153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82158" y="613410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Governance Aligned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06BB38A-FFDC-1C50-DC94-E0477D2CD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694" y="1623060"/>
            <a:ext cx="4171512" cy="41376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62100"/>
            <a:ext cx="5600700" cy="1628775"/>
          </a:xfrm>
          <a:custGeom>
            <a:avLst/>
            <a:gdLst/>
            <a:ahLst/>
            <a:cxnLst/>
            <a:rect l="l" t="t" r="r" b="b"/>
            <a:pathLst>
              <a:path w="5600700" h="1628775">
                <a:moveTo>
                  <a:pt x="38100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14468"/>
                </a:lnTo>
                <a:cubicBezTo>
                  <a:pt x="5600700" y="1577598"/>
                  <a:pt x="5549523" y="1628775"/>
                  <a:pt x="5486393" y="1628775"/>
                </a:cubicBez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0050" y="1562100"/>
            <a:ext cx="38100" cy="1628775"/>
          </a:xfrm>
          <a:custGeom>
            <a:avLst/>
            <a:gdLst/>
            <a:ahLst/>
            <a:cxnLst/>
            <a:rect l="l" t="t" r="r" b="b"/>
            <a:pathLst>
              <a:path w="38100" h="1628775">
                <a:moveTo>
                  <a:pt x="38100" y="0"/>
                </a:moveTo>
                <a:lnTo>
                  <a:pt x="38100" y="0"/>
                </a:lnTo>
                <a:lnTo>
                  <a:pt x="38100" y="1628775"/>
                </a:ln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77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010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33500" y="17907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95500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layered structure for scalable backend services with strict separation of concerns.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0300" y="1562100"/>
            <a:ext cx="5600700" cy="1628775"/>
          </a:xfrm>
          <a:custGeom>
            <a:avLst/>
            <a:gdLst/>
            <a:ahLst/>
            <a:cxnLst/>
            <a:rect l="l" t="t" r="r" b="b"/>
            <a:pathLst>
              <a:path w="5600700" h="1628775">
                <a:moveTo>
                  <a:pt x="38100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14468"/>
                </a:lnTo>
                <a:cubicBezTo>
                  <a:pt x="5600700" y="1577598"/>
                  <a:pt x="5549523" y="1628775"/>
                  <a:pt x="5486393" y="1628775"/>
                </a:cubicBez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0300" y="1562100"/>
            <a:ext cx="38100" cy="1628775"/>
          </a:xfrm>
          <a:custGeom>
            <a:avLst/>
            <a:gdLst/>
            <a:ahLst/>
            <a:cxnLst/>
            <a:rect l="l" t="t" r="r" b="b"/>
            <a:pathLst>
              <a:path w="38100" h="1628775">
                <a:moveTo>
                  <a:pt x="38100" y="0"/>
                </a:moveTo>
                <a:lnTo>
                  <a:pt x="38100" y="0"/>
                </a:lnTo>
                <a:lnTo>
                  <a:pt x="38100" y="1628775"/>
                </a:ln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5795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38925" y="1943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43750" y="17907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Governance-First 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43750" y="2095500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Azure-style API conventions with standardized versioning, error contracts, and tracing.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378160"/>
            <a:ext cx="5600700" cy="1628775"/>
          </a:xfrm>
          <a:custGeom>
            <a:avLst/>
            <a:gdLst/>
            <a:ahLst/>
            <a:cxnLst/>
            <a:rect l="l" t="t" r="r" b="b"/>
            <a:pathLst>
              <a:path w="5600700" h="1628775">
                <a:moveTo>
                  <a:pt x="38100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14468"/>
                </a:lnTo>
                <a:cubicBezTo>
                  <a:pt x="5600700" y="1577598"/>
                  <a:pt x="5549523" y="1628775"/>
                  <a:pt x="5486393" y="1628775"/>
                </a:cubicBez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00050" y="3378160"/>
            <a:ext cx="38100" cy="1628775"/>
          </a:xfrm>
          <a:custGeom>
            <a:avLst/>
            <a:gdLst/>
            <a:ahLst/>
            <a:cxnLst/>
            <a:rect l="l" t="t" r="r" b="b"/>
            <a:pathLst>
              <a:path w="38100" h="1628775">
                <a:moveTo>
                  <a:pt x="38100" y="0"/>
                </a:moveTo>
                <a:lnTo>
                  <a:pt x="38100" y="0"/>
                </a:lnTo>
                <a:lnTo>
                  <a:pt x="38100" y="1628775"/>
                </a:ln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700" y="360676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0100" y="37591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33500" y="360676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 by Design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3911560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Idempotency, queue processing, and resilience policies built into the foundation.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3378160"/>
            <a:ext cx="5600700" cy="1628775"/>
          </a:xfrm>
          <a:custGeom>
            <a:avLst/>
            <a:gdLst/>
            <a:ahLst/>
            <a:cxnLst/>
            <a:rect l="l" t="t" r="r" b="b"/>
            <a:pathLst>
              <a:path w="5600700" h="1628775">
                <a:moveTo>
                  <a:pt x="38100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14468"/>
                </a:lnTo>
                <a:cubicBezTo>
                  <a:pt x="5600700" y="1577598"/>
                  <a:pt x="5549523" y="1628775"/>
                  <a:pt x="5486393" y="1628775"/>
                </a:cubicBez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0300" y="3378160"/>
            <a:ext cx="38100" cy="1628775"/>
          </a:xfrm>
          <a:custGeom>
            <a:avLst/>
            <a:gdLst/>
            <a:ahLst/>
            <a:cxnLst/>
            <a:rect l="l" t="t" r="r" b="b"/>
            <a:pathLst>
              <a:path w="38100" h="1628775">
                <a:moveTo>
                  <a:pt x="38100" y="0"/>
                </a:moveTo>
                <a:lnTo>
                  <a:pt x="38100" y="0"/>
                </a:lnTo>
                <a:lnTo>
                  <a:pt x="38100" y="1628775"/>
                </a:lnTo>
                <a:lnTo>
                  <a:pt x="38100" y="1628775"/>
                </a:lnTo>
                <a:cubicBezTo>
                  <a:pt x="17072" y="1628775"/>
                  <a:pt x="0" y="1611703"/>
                  <a:pt x="0" y="1590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57950" y="360676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638925" y="375916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57150" y="42863"/>
                </a:moveTo>
                <a:lnTo>
                  <a:pt x="57150" y="71438"/>
                </a:lnTo>
                <a:lnTo>
                  <a:pt x="114300" y="71438"/>
                </a:lnTo>
                <a:lnTo>
                  <a:pt x="114300" y="42863"/>
                </a:lnTo>
                <a:cubicBezTo>
                  <a:pt x="114300" y="27102"/>
                  <a:pt x="101486" y="14288"/>
                  <a:pt x="85725" y="14288"/>
                </a:cubicBezTo>
                <a:cubicBezTo>
                  <a:pt x="69964" y="14288"/>
                  <a:pt x="57150" y="27102"/>
                  <a:pt x="57150" y="42863"/>
                </a:cubicBezTo>
                <a:close/>
                <a:moveTo>
                  <a:pt x="28575" y="71438"/>
                </a:moveTo>
                <a:lnTo>
                  <a:pt x="28575" y="42863"/>
                </a:lnTo>
                <a:cubicBezTo>
                  <a:pt x="28575" y="11296"/>
                  <a:pt x="54159" y="-14287"/>
                  <a:pt x="85725" y="-14287"/>
                </a:cubicBezTo>
                <a:cubicBezTo>
                  <a:pt x="117291" y="-14287"/>
                  <a:pt x="142875" y="11296"/>
                  <a:pt x="142875" y="42863"/>
                </a:cubicBezTo>
                <a:lnTo>
                  <a:pt x="142875" y="71438"/>
                </a:lnTo>
                <a:cubicBezTo>
                  <a:pt x="158636" y="71438"/>
                  <a:pt x="171450" y="84252"/>
                  <a:pt x="171450" y="10001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00013"/>
                </a:lnTo>
                <a:cubicBezTo>
                  <a:pt x="0" y="84252"/>
                  <a:pt x="12814" y="71438"/>
                  <a:pt x="28575" y="71438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43750" y="360676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Baseline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43750" y="3911560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 rule: no secrets in appsettings. User Secrets for local development only.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5194221"/>
            <a:ext cx="11430000" cy="1285875"/>
          </a:xfrm>
          <a:custGeom>
            <a:avLst/>
            <a:gdLst/>
            <a:ahLst/>
            <a:cxnLst/>
            <a:rect l="l" t="t" r="r" b="b"/>
            <a:pathLst>
              <a:path w="11430000" h="1285875">
                <a:moveTo>
                  <a:pt x="114301" y="0"/>
                </a:moveTo>
                <a:lnTo>
                  <a:pt x="11315699" y="0"/>
                </a:lnTo>
                <a:cubicBezTo>
                  <a:pt x="11378826" y="0"/>
                  <a:pt x="11430000" y="51174"/>
                  <a:pt x="11430000" y="114301"/>
                </a:cubicBezTo>
                <a:lnTo>
                  <a:pt x="11430000" y="1171574"/>
                </a:lnTo>
                <a:cubicBezTo>
                  <a:pt x="11430000" y="1234701"/>
                  <a:pt x="11378826" y="1285875"/>
                  <a:pt x="11315699" y="1285875"/>
                </a:cubicBezTo>
                <a:lnTo>
                  <a:pt x="114301" y="1285875"/>
                </a:lnTo>
                <a:cubicBezTo>
                  <a:pt x="51174" y="1285875"/>
                  <a:pt x="0" y="1234701"/>
                  <a:pt x="0" y="11715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0F2D63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9600" y="544187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A2D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3425" y="559427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50165" y="105906"/>
                </a:moveTo>
                <a:cubicBezTo>
                  <a:pt x="254809" y="111175"/>
                  <a:pt x="262801" y="112335"/>
                  <a:pt x="268828" y="108362"/>
                </a:cubicBezTo>
                <a:cubicBezTo>
                  <a:pt x="275392" y="103986"/>
                  <a:pt x="277178" y="95101"/>
                  <a:pt x="272802" y="88538"/>
                </a:cubicBezTo>
                <a:lnTo>
                  <a:pt x="251371" y="56391"/>
                </a:lnTo>
                <a:cubicBezTo>
                  <a:pt x="250121" y="54516"/>
                  <a:pt x="248424" y="52953"/>
                  <a:pt x="246415" y="51837"/>
                </a:cubicBezTo>
                <a:lnTo>
                  <a:pt x="156895" y="2098"/>
                </a:lnTo>
                <a:cubicBezTo>
                  <a:pt x="148277" y="-2679"/>
                  <a:pt x="137785" y="-2679"/>
                  <a:pt x="129123" y="2098"/>
                </a:cubicBezTo>
                <a:lnTo>
                  <a:pt x="39648" y="51792"/>
                </a:lnTo>
                <a:cubicBezTo>
                  <a:pt x="37237" y="53132"/>
                  <a:pt x="35317" y="55096"/>
                  <a:pt x="34022" y="57507"/>
                </a:cubicBezTo>
                <a:lnTo>
                  <a:pt x="12368" y="97646"/>
                </a:lnTo>
                <a:cubicBezTo>
                  <a:pt x="6742" y="108094"/>
                  <a:pt x="10671" y="121087"/>
                  <a:pt x="21119" y="126712"/>
                </a:cubicBezTo>
                <a:lnTo>
                  <a:pt x="35853" y="134615"/>
                </a:lnTo>
                <a:lnTo>
                  <a:pt x="35853" y="158413"/>
                </a:lnTo>
                <a:cubicBezTo>
                  <a:pt x="35853" y="168682"/>
                  <a:pt x="41389" y="178192"/>
                  <a:pt x="50319" y="183282"/>
                </a:cubicBezTo>
                <a:lnTo>
                  <a:pt x="128900" y="227796"/>
                </a:lnTo>
                <a:cubicBezTo>
                  <a:pt x="137651" y="232752"/>
                  <a:pt x="148322" y="232752"/>
                  <a:pt x="157073" y="227796"/>
                </a:cubicBezTo>
                <a:lnTo>
                  <a:pt x="235654" y="183282"/>
                </a:lnTo>
                <a:cubicBezTo>
                  <a:pt x="244629" y="178192"/>
                  <a:pt x="250121" y="168726"/>
                  <a:pt x="250121" y="158413"/>
                </a:cubicBezTo>
                <a:lnTo>
                  <a:pt x="250121" y="105951"/>
                </a:lnTo>
                <a:close/>
                <a:moveTo>
                  <a:pt x="143009" y="101531"/>
                </a:moveTo>
                <a:lnTo>
                  <a:pt x="75992" y="64294"/>
                </a:lnTo>
                <a:lnTo>
                  <a:pt x="143009" y="27057"/>
                </a:lnTo>
                <a:lnTo>
                  <a:pt x="210026" y="64294"/>
                </a:lnTo>
                <a:lnTo>
                  <a:pt x="143009" y="101531"/>
                </a:lnTo>
                <a:close/>
                <a:moveTo>
                  <a:pt x="124480" y="123944"/>
                </a:moveTo>
                <a:lnTo>
                  <a:pt x="114970" y="144572"/>
                </a:lnTo>
                <a:lnTo>
                  <a:pt x="40943" y="104924"/>
                </a:lnTo>
                <a:lnTo>
                  <a:pt x="52283" y="83850"/>
                </a:lnTo>
                <a:lnTo>
                  <a:pt x="124480" y="123944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95400" y="5441871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Dependency Governance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5400" y="5746671"/>
            <a:ext cx="508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version pinning for deterministic builds and controlled upgrades.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488931" y="5422821"/>
            <a:ext cx="1095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593706" y="5803821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Pinned Versions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946434" y="1327435"/>
            <a:ext cx="5125618" cy="5075024"/>
          </a:xfrm>
          <a:custGeom>
            <a:avLst/>
            <a:gdLst/>
            <a:ahLst/>
            <a:cxnLst/>
            <a:rect l="l" t="t" r="r" b="b"/>
            <a:pathLst>
              <a:path w="6402873" h="6195527">
                <a:moveTo>
                  <a:pt x="99500" y="0"/>
                </a:moveTo>
                <a:lnTo>
                  <a:pt x="6303373" y="0"/>
                </a:lnTo>
                <a:cubicBezTo>
                  <a:pt x="6358326" y="0"/>
                  <a:pt x="6402873" y="44548"/>
                  <a:pt x="6402873" y="99500"/>
                </a:cubicBezTo>
                <a:lnTo>
                  <a:pt x="6402873" y="6096026"/>
                </a:lnTo>
                <a:cubicBezTo>
                  <a:pt x="6402873" y="6150979"/>
                  <a:pt x="6358326" y="6195527"/>
                  <a:pt x="6303373" y="6195527"/>
                </a:cubicBezTo>
                <a:lnTo>
                  <a:pt x="99500" y="6195527"/>
                </a:lnTo>
                <a:cubicBezTo>
                  <a:pt x="44548" y="6195527"/>
                  <a:pt x="0" y="6150979"/>
                  <a:pt x="0" y="6096026"/>
                </a:cubicBezTo>
                <a:lnTo>
                  <a:pt x="0" y="99500"/>
                </a:lnTo>
                <a:cubicBezTo>
                  <a:pt x="0" y="44585"/>
                  <a:pt x="44585" y="0"/>
                  <a:pt x="995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4408" dist="8293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331755" y="331755"/>
            <a:ext cx="33176" cy="265404"/>
          </a:xfrm>
          <a:custGeom>
            <a:avLst/>
            <a:gdLst/>
            <a:ahLst/>
            <a:cxnLst/>
            <a:rect l="l" t="t" r="r" b="b"/>
            <a:pathLst>
              <a:path w="33176" h="265404">
                <a:moveTo>
                  <a:pt x="0" y="0"/>
                </a:moveTo>
                <a:lnTo>
                  <a:pt x="33176" y="0"/>
                </a:lnTo>
                <a:lnTo>
                  <a:pt x="33176" y="265404"/>
                </a:lnTo>
                <a:lnTo>
                  <a:pt x="0" y="265404"/>
                </a:lnTo>
                <a:lnTo>
                  <a:pt x="0" y="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4457" y="381518"/>
            <a:ext cx="779624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kern="0" spc="46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1755" y="663510"/>
            <a:ext cx="11677780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1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Standard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1755" y="1028441"/>
            <a:ext cx="11603135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Onion-style layered architecture with strict dependency direction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9345" y="1479356"/>
            <a:ext cx="4919796" cy="190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6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Layered Architecture Diagram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9" r="129"/>
          <a:stretch/>
        </p:blipFill>
        <p:spPr>
          <a:xfrm>
            <a:off x="1022686" y="1726068"/>
            <a:ext cx="4973114" cy="4178232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1079222" y="6461170"/>
            <a:ext cx="4860042" cy="298932"/>
          </a:xfrm>
          <a:custGeom>
            <a:avLst/>
            <a:gdLst/>
            <a:ahLst/>
            <a:cxnLst/>
            <a:rect l="l" t="t" r="r" b="b"/>
            <a:pathLst>
              <a:path w="6071118" h="364931">
                <a:moveTo>
                  <a:pt x="66352" y="0"/>
                </a:moveTo>
                <a:lnTo>
                  <a:pt x="6004767" y="0"/>
                </a:lnTo>
                <a:cubicBezTo>
                  <a:pt x="6041412" y="0"/>
                  <a:pt x="6071118" y="29707"/>
                  <a:pt x="6071118" y="66352"/>
                </a:cubicBezTo>
                <a:lnTo>
                  <a:pt x="6071118" y="298579"/>
                </a:lnTo>
                <a:cubicBezTo>
                  <a:pt x="6071118" y="335224"/>
                  <a:pt x="6041412" y="364931"/>
                  <a:pt x="6004767" y="364931"/>
                </a:cubicBezTo>
                <a:lnTo>
                  <a:pt x="66352" y="364931"/>
                </a:lnTo>
                <a:cubicBezTo>
                  <a:pt x="29707" y="364931"/>
                  <a:pt x="0" y="335224"/>
                  <a:pt x="0" y="298579"/>
                </a:cubicBezTo>
                <a:lnTo>
                  <a:pt x="0" y="66352"/>
                </a:lnTo>
                <a:cubicBezTo>
                  <a:pt x="0" y="29707"/>
                  <a:pt x="29707" y="0"/>
                  <a:pt x="66352" y="0"/>
                </a:cubicBezTo>
                <a:close/>
              </a:path>
            </a:pathLst>
          </a:custGeom>
          <a:solidFill>
            <a:srgbClr val="0F2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82666" y="6564736"/>
            <a:ext cx="92952" cy="95114"/>
          </a:xfrm>
          <a:custGeom>
            <a:avLst/>
            <a:gdLst/>
            <a:ahLst/>
            <a:cxnLst/>
            <a:rect l="l" t="t" r="r" b="b"/>
            <a:pathLst>
              <a:path w="116114" h="116114">
                <a:moveTo>
                  <a:pt x="113983" y="63183"/>
                </a:moveTo>
                <a:cubicBezTo>
                  <a:pt x="116817" y="60348"/>
                  <a:pt x="116817" y="55744"/>
                  <a:pt x="113983" y="52909"/>
                </a:cubicBezTo>
                <a:lnTo>
                  <a:pt x="77697" y="16623"/>
                </a:lnTo>
                <a:cubicBezTo>
                  <a:pt x="74862" y="13789"/>
                  <a:pt x="70258" y="13789"/>
                  <a:pt x="67423" y="16623"/>
                </a:cubicBezTo>
                <a:cubicBezTo>
                  <a:pt x="64589" y="19458"/>
                  <a:pt x="64589" y="24062"/>
                  <a:pt x="67423" y="26897"/>
                </a:cubicBezTo>
                <a:lnTo>
                  <a:pt x="91327" y="50800"/>
                </a:lnTo>
                <a:lnTo>
                  <a:pt x="7257" y="50800"/>
                </a:lnTo>
                <a:cubicBezTo>
                  <a:pt x="3243" y="50800"/>
                  <a:pt x="0" y="54043"/>
                  <a:pt x="0" y="58057"/>
                </a:cubicBezTo>
                <a:cubicBezTo>
                  <a:pt x="0" y="62071"/>
                  <a:pt x="3243" y="65314"/>
                  <a:pt x="7257" y="65314"/>
                </a:cubicBezTo>
                <a:lnTo>
                  <a:pt x="91327" y="65314"/>
                </a:lnTo>
                <a:lnTo>
                  <a:pt x="67423" y="89217"/>
                </a:lnTo>
                <a:cubicBezTo>
                  <a:pt x="64589" y="92052"/>
                  <a:pt x="64589" y="96656"/>
                  <a:pt x="67423" y="99491"/>
                </a:cubicBezTo>
                <a:cubicBezTo>
                  <a:pt x="70258" y="102326"/>
                  <a:pt x="74862" y="102326"/>
                  <a:pt x="77697" y="99491"/>
                </a:cubicBezTo>
                <a:lnTo>
                  <a:pt x="113982" y="63205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309066" y="6542696"/>
            <a:ext cx="4592976" cy="13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4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Api/Function/Infrastructure → Application → Domain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13880" y="1393371"/>
            <a:ext cx="4951445" cy="978678"/>
          </a:xfrm>
          <a:custGeom>
            <a:avLst/>
            <a:gdLst/>
            <a:ahLst/>
            <a:cxnLst/>
            <a:rect l="l" t="t" r="r" b="b"/>
            <a:pathLst>
              <a:path w="4951445" h="978678">
                <a:moveTo>
                  <a:pt x="33176" y="0"/>
                </a:moveTo>
                <a:lnTo>
                  <a:pt x="4851923" y="0"/>
                </a:lnTo>
                <a:cubicBezTo>
                  <a:pt x="4906888" y="0"/>
                  <a:pt x="4951445" y="44557"/>
                  <a:pt x="4951445" y="99522"/>
                </a:cubicBezTo>
                <a:lnTo>
                  <a:pt x="4951445" y="879156"/>
                </a:lnTo>
                <a:cubicBezTo>
                  <a:pt x="4951445" y="934120"/>
                  <a:pt x="4906888" y="978678"/>
                  <a:pt x="4851923" y="978678"/>
                </a:cubicBezTo>
                <a:lnTo>
                  <a:pt x="33176" y="978678"/>
                </a:lnTo>
                <a:cubicBezTo>
                  <a:pt x="14853" y="978678"/>
                  <a:pt x="0" y="963824"/>
                  <a:pt x="0" y="945502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763" dist="3317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913880" y="1393371"/>
            <a:ext cx="33176" cy="978678"/>
          </a:xfrm>
          <a:custGeom>
            <a:avLst/>
            <a:gdLst/>
            <a:ahLst/>
            <a:cxnLst/>
            <a:rect l="l" t="t" r="r" b="b"/>
            <a:pathLst>
              <a:path w="33176" h="978678">
                <a:moveTo>
                  <a:pt x="33176" y="0"/>
                </a:moveTo>
                <a:lnTo>
                  <a:pt x="33176" y="0"/>
                </a:lnTo>
                <a:lnTo>
                  <a:pt x="33176" y="978678"/>
                </a:lnTo>
                <a:lnTo>
                  <a:pt x="33176" y="978678"/>
                </a:lnTo>
                <a:cubicBezTo>
                  <a:pt x="14853" y="978678"/>
                  <a:pt x="0" y="963824"/>
                  <a:pt x="0" y="945502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063170" y="1526073"/>
            <a:ext cx="265404" cy="265404"/>
          </a:xfrm>
          <a:custGeom>
            <a:avLst/>
            <a:gdLst/>
            <a:ahLst/>
            <a:cxnLst/>
            <a:rect l="l" t="t" r="r" b="b"/>
            <a:pathLst>
              <a:path w="265404" h="265404">
                <a:moveTo>
                  <a:pt x="66351" y="0"/>
                </a:moveTo>
                <a:lnTo>
                  <a:pt x="199053" y="0"/>
                </a:lnTo>
                <a:cubicBezTo>
                  <a:pt x="235673" y="0"/>
                  <a:pt x="265404" y="29731"/>
                  <a:pt x="265404" y="66351"/>
                </a:cubicBezTo>
                <a:lnTo>
                  <a:pt x="265404" y="199053"/>
                </a:lnTo>
                <a:cubicBezTo>
                  <a:pt x="265404" y="235673"/>
                  <a:pt x="235673" y="265404"/>
                  <a:pt x="199053" y="265404"/>
                </a:cubicBezTo>
                <a:lnTo>
                  <a:pt x="66351" y="265404"/>
                </a:lnTo>
                <a:cubicBezTo>
                  <a:pt x="29731" y="265404"/>
                  <a:pt x="0" y="235673"/>
                  <a:pt x="0" y="199053"/>
                </a:cubicBezTo>
                <a:lnTo>
                  <a:pt x="0" y="66351"/>
                </a:lnTo>
                <a:cubicBezTo>
                  <a:pt x="0" y="29706"/>
                  <a:pt x="29706" y="0"/>
                  <a:pt x="66351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139888" y="1600718"/>
            <a:ext cx="116114" cy="116114"/>
          </a:xfrm>
          <a:custGeom>
            <a:avLst/>
            <a:gdLst/>
            <a:ahLst/>
            <a:cxnLst/>
            <a:rect l="l" t="t" r="r" b="b"/>
            <a:pathLst>
              <a:path w="116114" h="116114">
                <a:moveTo>
                  <a:pt x="79806" y="63500"/>
                </a:moveTo>
                <a:lnTo>
                  <a:pt x="36512" y="63500"/>
                </a:lnTo>
                <a:cubicBezTo>
                  <a:pt x="37170" y="78128"/>
                  <a:pt x="40413" y="91599"/>
                  <a:pt x="45017" y="101464"/>
                </a:cubicBezTo>
                <a:cubicBezTo>
                  <a:pt x="47602" y="107020"/>
                  <a:pt x="50392" y="110944"/>
                  <a:pt x="52977" y="113347"/>
                </a:cubicBezTo>
                <a:cubicBezTo>
                  <a:pt x="55517" y="115729"/>
                  <a:pt x="57263" y="116114"/>
                  <a:pt x="58171" y="116114"/>
                </a:cubicBezTo>
                <a:cubicBezTo>
                  <a:pt x="59078" y="116114"/>
                  <a:pt x="60824" y="115729"/>
                  <a:pt x="63364" y="113347"/>
                </a:cubicBezTo>
                <a:cubicBezTo>
                  <a:pt x="65949" y="110944"/>
                  <a:pt x="68739" y="106997"/>
                  <a:pt x="71324" y="101464"/>
                </a:cubicBezTo>
                <a:cubicBezTo>
                  <a:pt x="75928" y="91599"/>
                  <a:pt x="79171" y="78128"/>
                  <a:pt x="79829" y="63500"/>
                </a:cubicBezTo>
                <a:close/>
                <a:moveTo>
                  <a:pt x="36490" y="52614"/>
                </a:moveTo>
                <a:lnTo>
                  <a:pt x="79783" y="52614"/>
                </a:lnTo>
                <a:cubicBezTo>
                  <a:pt x="79148" y="37987"/>
                  <a:pt x="75905" y="24516"/>
                  <a:pt x="71301" y="14650"/>
                </a:cubicBezTo>
                <a:cubicBezTo>
                  <a:pt x="68716" y="9117"/>
                  <a:pt x="65927" y="5171"/>
                  <a:pt x="63341" y="2767"/>
                </a:cubicBezTo>
                <a:cubicBezTo>
                  <a:pt x="60801" y="386"/>
                  <a:pt x="59055" y="0"/>
                  <a:pt x="58148" y="0"/>
                </a:cubicBezTo>
                <a:cubicBezTo>
                  <a:pt x="57241" y="0"/>
                  <a:pt x="55494" y="386"/>
                  <a:pt x="52954" y="2767"/>
                </a:cubicBezTo>
                <a:cubicBezTo>
                  <a:pt x="50369" y="5171"/>
                  <a:pt x="47580" y="9117"/>
                  <a:pt x="44994" y="14650"/>
                </a:cubicBezTo>
                <a:cubicBezTo>
                  <a:pt x="40391" y="24516"/>
                  <a:pt x="37147" y="37987"/>
                  <a:pt x="36490" y="52614"/>
                </a:cubicBezTo>
                <a:close/>
                <a:moveTo>
                  <a:pt x="25604" y="52614"/>
                </a:moveTo>
                <a:cubicBezTo>
                  <a:pt x="26398" y="33201"/>
                  <a:pt x="31410" y="15172"/>
                  <a:pt x="38735" y="3334"/>
                </a:cubicBezTo>
                <a:cubicBezTo>
                  <a:pt x="17848" y="10727"/>
                  <a:pt x="2472" y="29754"/>
                  <a:pt x="340" y="52614"/>
                </a:cubicBezTo>
                <a:lnTo>
                  <a:pt x="25604" y="52614"/>
                </a:lnTo>
                <a:close/>
                <a:moveTo>
                  <a:pt x="340" y="63500"/>
                </a:moveTo>
                <a:cubicBezTo>
                  <a:pt x="2472" y="86360"/>
                  <a:pt x="17848" y="105387"/>
                  <a:pt x="38735" y="112781"/>
                </a:cubicBezTo>
                <a:cubicBezTo>
                  <a:pt x="31410" y="100942"/>
                  <a:pt x="26398" y="82913"/>
                  <a:pt x="25604" y="63500"/>
                </a:cubicBezTo>
                <a:lnTo>
                  <a:pt x="340" y="63500"/>
                </a:lnTo>
                <a:close/>
                <a:moveTo>
                  <a:pt x="90692" y="63500"/>
                </a:moveTo>
                <a:cubicBezTo>
                  <a:pt x="89898" y="82913"/>
                  <a:pt x="84886" y="100942"/>
                  <a:pt x="77561" y="112781"/>
                </a:cubicBezTo>
                <a:cubicBezTo>
                  <a:pt x="98448" y="105365"/>
                  <a:pt x="113824" y="86360"/>
                  <a:pt x="115956" y="63500"/>
                </a:cubicBezTo>
                <a:lnTo>
                  <a:pt x="90692" y="63500"/>
                </a:lnTo>
                <a:close/>
                <a:moveTo>
                  <a:pt x="115956" y="52614"/>
                </a:moveTo>
                <a:cubicBezTo>
                  <a:pt x="113824" y="29754"/>
                  <a:pt x="98448" y="10727"/>
                  <a:pt x="77561" y="3334"/>
                </a:cubicBezTo>
                <a:cubicBezTo>
                  <a:pt x="84886" y="15172"/>
                  <a:pt x="89898" y="33201"/>
                  <a:pt x="90692" y="52614"/>
                </a:cubicBezTo>
                <a:lnTo>
                  <a:pt x="115956" y="52614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28100" y="1559249"/>
            <a:ext cx="754743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Outer Layer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63170" y="1857829"/>
            <a:ext cx="4727510" cy="38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14" b="1" dirty="0">
                <a:solidFill>
                  <a:srgbClr val="26A2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/ Function / Infrastructure</a:t>
            </a:r>
            <a:r>
              <a:rPr lang="en-US" sz="914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Entry points, controllers, function triggers, and infrastructure implementations. Remains thin and orchestration-focused.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913880" y="2467429"/>
            <a:ext cx="4951445" cy="978678"/>
          </a:xfrm>
          <a:custGeom>
            <a:avLst/>
            <a:gdLst/>
            <a:ahLst/>
            <a:cxnLst/>
            <a:rect l="l" t="t" r="r" b="b"/>
            <a:pathLst>
              <a:path w="4951445" h="978678">
                <a:moveTo>
                  <a:pt x="33176" y="0"/>
                </a:moveTo>
                <a:lnTo>
                  <a:pt x="4851923" y="0"/>
                </a:lnTo>
                <a:cubicBezTo>
                  <a:pt x="4906888" y="0"/>
                  <a:pt x="4951445" y="44557"/>
                  <a:pt x="4951445" y="99522"/>
                </a:cubicBezTo>
                <a:lnTo>
                  <a:pt x="4951445" y="879156"/>
                </a:lnTo>
                <a:cubicBezTo>
                  <a:pt x="4951445" y="934120"/>
                  <a:pt x="4906888" y="978678"/>
                  <a:pt x="4851923" y="978678"/>
                </a:cubicBezTo>
                <a:lnTo>
                  <a:pt x="33176" y="978678"/>
                </a:lnTo>
                <a:cubicBezTo>
                  <a:pt x="14853" y="978678"/>
                  <a:pt x="0" y="963824"/>
                  <a:pt x="0" y="945502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763" dist="3317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913880" y="2467429"/>
            <a:ext cx="33176" cy="978678"/>
          </a:xfrm>
          <a:custGeom>
            <a:avLst/>
            <a:gdLst/>
            <a:ahLst/>
            <a:cxnLst/>
            <a:rect l="l" t="t" r="r" b="b"/>
            <a:pathLst>
              <a:path w="33176" h="978678">
                <a:moveTo>
                  <a:pt x="33176" y="0"/>
                </a:moveTo>
                <a:lnTo>
                  <a:pt x="33176" y="0"/>
                </a:lnTo>
                <a:lnTo>
                  <a:pt x="33176" y="978678"/>
                </a:lnTo>
                <a:lnTo>
                  <a:pt x="33176" y="978678"/>
                </a:lnTo>
                <a:cubicBezTo>
                  <a:pt x="14853" y="978678"/>
                  <a:pt x="0" y="963824"/>
                  <a:pt x="0" y="945502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063170" y="2600131"/>
            <a:ext cx="265404" cy="265404"/>
          </a:xfrm>
          <a:custGeom>
            <a:avLst/>
            <a:gdLst/>
            <a:ahLst/>
            <a:cxnLst/>
            <a:rect l="l" t="t" r="r" b="b"/>
            <a:pathLst>
              <a:path w="265404" h="265404">
                <a:moveTo>
                  <a:pt x="66351" y="0"/>
                </a:moveTo>
                <a:lnTo>
                  <a:pt x="199053" y="0"/>
                </a:lnTo>
                <a:cubicBezTo>
                  <a:pt x="235673" y="0"/>
                  <a:pt x="265404" y="29731"/>
                  <a:pt x="265404" y="66351"/>
                </a:cubicBezTo>
                <a:lnTo>
                  <a:pt x="265404" y="199053"/>
                </a:lnTo>
                <a:cubicBezTo>
                  <a:pt x="265404" y="235673"/>
                  <a:pt x="235673" y="265404"/>
                  <a:pt x="199053" y="265404"/>
                </a:cubicBezTo>
                <a:lnTo>
                  <a:pt x="66351" y="265404"/>
                </a:lnTo>
                <a:cubicBezTo>
                  <a:pt x="29731" y="265404"/>
                  <a:pt x="0" y="235673"/>
                  <a:pt x="0" y="199053"/>
                </a:cubicBezTo>
                <a:lnTo>
                  <a:pt x="0" y="66351"/>
                </a:lnTo>
                <a:cubicBezTo>
                  <a:pt x="0" y="29706"/>
                  <a:pt x="29706" y="0"/>
                  <a:pt x="6635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125374" y="2674776"/>
            <a:ext cx="145143" cy="116114"/>
          </a:xfrm>
          <a:custGeom>
            <a:avLst/>
            <a:gdLst/>
            <a:ahLst/>
            <a:cxnLst/>
            <a:rect l="l" t="t" r="r" b="b"/>
            <a:pathLst>
              <a:path w="145143" h="116114">
                <a:moveTo>
                  <a:pt x="94320" y="47738"/>
                </a:moveTo>
                <a:cubicBezTo>
                  <a:pt x="97087" y="46990"/>
                  <a:pt x="99990" y="48305"/>
                  <a:pt x="101237" y="50868"/>
                </a:cubicBezTo>
                <a:lnTo>
                  <a:pt x="105455" y="59395"/>
                </a:lnTo>
                <a:cubicBezTo>
                  <a:pt x="107791" y="59713"/>
                  <a:pt x="110082" y="60348"/>
                  <a:pt x="112236" y="61232"/>
                </a:cubicBezTo>
                <a:lnTo>
                  <a:pt x="120174" y="55948"/>
                </a:lnTo>
                <a:cubicBezTo>
                  <a:pt x="122555" y="54361"/>
                  <a:pt x="125707" y="54678"/>
                  <a:pt x="127726" y="56696"/>
                </a:cubicBezTo>
                <a:lnTo>
                  <a:pt x="132080" y="61051"/>
                </a:lnTo>
                <a:cubicBezTo>
                  <a:pt x="134098" y="63069"/>
                  <a:pt x="134416" y="66244"/>
                  <a:pt x="132828" y="68603"/>
                </a:cubicBezTo>
                <a:lnTo>
                  <a:pt x="127544" y="76518"/>
                </a:lnTo>
                <a:cubicBezTo>
                  <a:pt x="127975" y="77583"/>
                  <a:pt x="128361" y="78695"/>
                  <a:pt x="128678" y="79851"/>
                </a:cubicBezTo>
                <a:cubicBezTo>
                  <a:pt x="128996" y="81008"/>
                  <a:pt x="129200" y="82142"/>
                  <a:pt x="129359" y="83298"/>
                </a:cubicBezTo>
                <a:lnTo>
                  <a:pt x="137908" y="87517"/>
                </a:lnTo>
                <a:cubicBezTo>
                  <a:pt x="140471" y="88787"/>
                  <a:pt x="141786" y="91689"/>
                  <a:pt x="141038" y="94434"/>
                </a:cubicBezTo>
                <a:lnTo>
                  <a:pt x="139451" y="100375"/>
                </a:lnTo>
                <a:cubicBezTo>
                  <a:pt x="138702" y="103119"/>
                  <a:pt x="136139" y="104979"/>
                  <a:pt x="133282" y="104798"/>
                </a:cubicBezTo>
                <a:lnTo>
                  <a:pt x="123757" y="104185"/>
                </a:lnTo>
                <a:cubicBezTo>
                  <a:pt x="122328" y="106022"/>
                  <a:pt x="120673" y="107723"/>
                  <a:pt x="118790" y="109175"/>
                </a:cubicBezTo>
                <a:lnTo>
                  <a:pt x="119403" y="118677"/>
                </a:lnTo>
                <a:cubicBezTo>
                  <a:pt x="119584" y="121534"/>
                  <a:pt x="117724" y="124120"/>
                  <a:pt x="114980" y="124846"/>
                </a:cubicBezTo>
                <a:lnTo>
                  <a:pt x="109039" y="126433"/>
                </a:lnTo>
                <a:cubicBezTo>
                  <a:pt x="106272" y="127181"/>
                  <a:pt x="103392" y="125866"/>
                  <a:pt x="102122" y="123303"/>
                </a:cubicBezTo>
                <a:lnTo>
                  <a:pt x="97903" y="114776"/>
                </a:lnTo>
                <a:cubicBezTo>
                  <a:pt x="95567" y="114459"/>
                  <a:pt x="93277" y="113824"/>
                  <a:pt x="91123" y="112939"/>
                </a:cubicBezTo>
                <a:lnTo>
                  <a:pt x="83185" y="118223"/>
                </a:lnTo>
                <a:cubicBezTo>
                  <a:pt x="80804" y="119811"/>
                  <a:pt x="77651" y="119493"/>
                  <a:pt x="75633" y="117475"/>
                </a:cubicBezTo>
                <a:lnTo>
                  <a:pt x="71279" y="113121"/>
                </a:lnTo>
                <a:cubicBezTo>
                  <a:pt x="69260" y="111102"/>
                  <a:pt x="68943" y="107950"/>
                  <a:pt x="70530" y="105569"/>
                </a:cubicBezTo>
                <a:lnTo>
                  <a:pt x="75814" y="97631"/>
                </a:lnTo>
                <a:cubicBezTo>
                  <a:pt x="75384" y="96565"/>
                  <a:pt x="74998" y="95454"/>
                  <a:pt x="74681" y="94298"/>
                </a:cubicBezTo>
                <a:cubicBezTo>
                  <a:pt x="74363" y="93141"/>
                  <a:pt x="74159" y="91984"/>
                  <a:pt x="74000" y="90850"/>
                </a:cubicBezTo>
                <a:lnTo>
                  <a:pt x="65450" y="86632"/>
                </a:lnTo>
                <a:cubicBezTo>
                  <a:pt x="62888" y="85362"/>
                  <a:pt x="61595" y="82459"/>
                  <a:pt x="62321" y="79715"/>
                </a:cubicBezTo>
                <a:lnTo>
                  <a:pt x="63908" y="73773"/>
                </a:lnTo>
                <a:cubicBezTo>
                  <a:pt x="64657" y="71029"/>
                  <a:pt x="67219" y="69170"/>
                  <a:pt x="70077" y="69351"/>
                </a:cubicBezTo>
                <a:lnTo>
                  <a:pt x="79579" y="69963"/>
                </a:lnTo>
                <a:cubicBezTo>
                  <a:pt x="81008" y="68126"/>
                  <a:pt x="82663" y="66426"/>
                  <a:pt x="84546" y="64974"/>
                </a:cubicBezTo>
                <a:lnTo>
                  <a:pt x="83933" y="55494"/>
                </a:lnTo>
                <a:cubicBezTo>
                  <a:pt x="83752" y="52637"/>
                  <a:pt x="85612" y="50052"/>
                  <a:pt x="88356" y="49326"/>
                </a:cubicBezTo>
                <a:lnTo>
                  <a:pt x="94297" y="47738"/>
                </a:lnTo>
                <a:close/>
                <a:moveTo>
                  <a:pt x="101691" y="77107"/>
                </a:moveTo>
                <a:cubicBezTo>
                  <a:pt x="96183" y="77113"/>
                  <a:pt x="91717" y="81590"/>
                  <a:pt x="91723" y="87097"/>
                </a:cubicBezTo>
                <a:cubicBezTo>
                  <a:pt x="91730" y="92604"/>
                  <a:pt x="96206" y="97071"/>
                  <a:pt x="101713" y="97064"/>
                </a:cubicBezTo>
                <a:cubicBezTo>
                  <a:pt x="107221" y="97058"/>
                  <a:pt x="111687" y="92582"/>
                  <a:pt x="111681" y="87074"/>
                </a:cubicBezTo>
                <a:cubicBezTo>
                  <a:pt x="111674" y="81567"/>
                  <a:pt x="107198" y="77101"/>
                  <a:pt x="101691" y="77107"/>
                </a:cubicBezTo>
                <a:close/>
                <a:moveTo>
                  <a:pt x="51004" y="-10319"/>
                </a:moveTo>
                <a:lnTo>
                  <a:pt x="56946" y="-8731"/>
                </a:lnTo>
                <a:cubicBezTo>
                  <a:pt x="59690" y="-7983"/>
                  <a:pt x="61550" y="-5397"/>
                  <a:pt x="61368" y="-2563"/>
                </a:cubicBezTo>
                <a:lnTo>
                  <a:pt x="60756" y="6917"/>
                </a:lnTo>
                <a:cubicBezTo>
                  <a:pt x="62638" y="8368"/>
                  <a:pt x="64294" y="10047"/>
                  <a:pt x="65723" y="11906"/>
                </a:cubicBezTo>
                <a:lnTo>
                  <a:pt x="75248" y="11294"/>
                </a:lnTo>
                <a:cubicBezTo>
                  <a:pt x="78082" y="11113"/>
                  <a:pt x="80668" y="12972"/>
                  <a:pt x="81416" y="15716"/>
                </a:cubicBezTo>
                <a:lnTo>
                  <a:pt x="83004" y="21658"/>
                </a:lnTo>
                <a:cubicBezTo>
                  <a:pt x="83729" y="24402"/>
                  <a:pt x="82437" y="27305"/>
                  <a:pt x="79874" y="28575"/>
                </a:cubicBezTo>
                <a:lnTo>
                  <a:pt x="71324" y="32793"/>
                </a:lnTo>
                <a:cubicBezTo>
                  <a:pt x="71165" y="33950"/>
                  <a:pt x="70939" y="35106"/>
                  <a:pt x="70644" y="36240"/>
                </a:cubicBezTo>
                <a:cubicBezTo>
                  <a:pt x="70349" y="37374"/>
                  <a:pt x="69941" y="38508"/>
                  <a:pt x="69510" y="39574"/>
                </a:cubicBezTo>
                <a:lnTo>
                  <a:pt x="74794" y="47512"/>
                </a:lnTo>
                <a:cubicBezTo>
                  <a:pt x="76381" y="49893"/>
                  <a:pt x="76064" y="53045"/>
                  <a:pt x="74046" y="55064"/>
                </a:cubicBezTo>
                <a:lnTo>
                  <a:pt x="69691" y="59418"/>
                </a:lnTo>
                <a:cubicBezTo>
                  <a:pt x="67673" y="61436"/>
                  <a:pt x="64521" y="61754"/>
                  <a:pt x="62139" y="60166"/>
                </a:cubicBezTo>
                <a:lnTo>
                  <a:pt x="54202" y="54882"/>
                </a:lnTo>
                <a:cubicBezTo>
                  <a:pt x="52047" y="55767"/>
                  <a:pt x="49757" y="56402"/>
                  <a:pt x="47421" y="56719"/>
                </a:cubicBezTo>
                <a:lnTo>
                  <a:pt x="43203" y="65246"/>
                </a:lnTo>
                <a:cubicBezTo>
                  <a:pt x="41933" y="67809"/>
                  <a:pt x="39030" y="69102"/>
                  <a:pt x="36286" y="68376"/>
                </a:cubicBezTo>
                <a:lnTo>
                  <a:pt x="30344" y="66788"/>
                </a:lnTo>
                <a:cubicBezTo>
                  <a:pt x="27577" y="66040"/>
                  <a:pt x="25740" y="63455"/>
                  <a:pt x="25922" y="60620"/>
                </a:cubicBezTo>
                <a:lnTo>
                  <a:pt x="26534" y="51117"/>
                </a:lnTo>
                <a:cubicBezTo>
                  <a:pt x="24652" y="49666"/>
                  <a:pt x="22996" y="47988"/>
                  <a:pt x="21567" y="46128"/>
                </a:cubicBezTo>
                <a:lnTo>
                  <a:pt x="12042" y="46741"/>
                </a:lnTo>
                <a:cubicBezTo>
                  <a:pt x="9208" y="46922"/>
                  <a:pt x="6622" y="45062"/>
                  <a:pt x="5874" y="42318"/>
                </a:cubicBezTo>
                <a:lnTo>
                  <a:pt x="4286" y="36376"/>
                </a:lnTo>
                <a:cubicBezTo>
                  <a:pt x="3561" y="33632"/>
                  <a:pt x="4853" y="30729"/>
                  <a:pt x="7416" y="29459"/>
                </a:cubicBezTo>
                <a:lnTo>
                  <a:pt x="15966" y="25241"/>
                </a:lnTo>
                <a:cubicBezTo>
                  <a:pt x="16124" y="24085"/>
                  <a:pt x="16351" y="22951"/>
                  <a:pt x="16646" y="21794"/>
                </a:cubicBezTo>
                <a:cubicBezTo>
                  <a:pt x="16964" y="20638"/>
                  <a:pt x="17326" y="19526"/>
                  <a:pt x="17780" y="18460"/>
                </a:cubicBezTo>
                <a:lnTo>
                  <a:pt x="12496" y="10546"/>
                </a:lnTo>
                <a:cubicBezTo>
                  <a:pt x="10908" y="8164"/>
                  <a:pt x="11226" y="5012"/>
                  <a:pt x="13244" y="2994"/>
                </a:cubicBezTo>
                <a:lnTo>
                  <a:pt x="17599" y="-1361"/>
                </a:lnTo>
                <a:cubicBezTo>
                  <a:pt x="19617" y="-3379"/>
                  <a:pt x="22769" y="-3697"/>
                  <a:pt x="25151" y="-2109"/>
                </a:cubicBezTo>
                <a:lnTo>
                  <a:pt x="33088" y="3175"/>
                </a:lnTo>
                <a:cubicBezTo>
                  <a:pt x="35242" y="2291"/>
                  <a:pt x="37533" y="1656"/>
                  <a:pt x="39869" y="1338"/>
                </a:cubicBezTo>
                <a:lnTo>
                  <a:pt x="44087" y="-7189"/>
                </a:lnTo>
                <a:cubicBezTo>
                  <a:pt x="45357" y="-9752"/>
                  <a:pt x="48237" y="-11044"/>
                  <a:pt x="51004" y="-10319"/>
                </a:cubicBezTo>
                <a:close/>
                <a:moveTo>
                  <a:pt x="43634" y="19050"/>
                </a:moveTo>
                <a:cubicBezTo>
                  <a:pt x="38126" y="19050"/>
                  <a:pt x="33655" y="23521"/>
                  <a:pt x="33655" y="29029"/>
                </a:cubicBezTo>
                <a:cubicBezTo>
                  <a:pt x="33655" y="34536"/>
                  <a:pt x="38126" y="39007"/>
                  <a:pt x="43634" y="39007"/>
                </a:cubicBezTo>
                <a:cubicBezTo>
                  <a:pt x="49141" y="39007"/>
                  <a:pt x="53612" y="34536"/>
                  <a:pt x="53612" y="29029"/>
                </a:cubicBezTo>
                <a:cubicBezTo>
                  <a:pt x="53612" y="23521"/>
                  <a:pt x="49141" y="19050"/>
                  <a:pt x="43634" y="1905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428100" y="2633306"/>
            <a:ext cx="821094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Middle Layer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063170" y="2931886"/>
            <a:ext cx="4727510" cy="38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1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</a:t>
            </a:r>
            <a:r>
              <a:rPr lang="en-US" sz="914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Orchestration layer coordinating use cases, applying business rules, and mediating between outer and core layers.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913880" y="3541486"/>
            <a:ext cx="4951445" cy="978678"/>
          </a:xfrm>
          <a:custGeom>
            <a:avLst/>
            <a:gdLst/>
            <a:ahLst/>
            <a:cxnLst/>
            <a:rect l="l" t="t" r="r" b="b"/>
            <a:pathLst>
              <a:path w="4951445" h="978678">
                <a:moveTo>
                  <a:pt x="33176" y="0"/>
                </a:moveTo>
                <a:lnTo>
                  <a:pt x="4851923" y="0"/>
                </a:lnTo>
                <a:cubicBezTo>
                  <a:pt x="4906888" y="0"/>
                  <a:pt x="4951445" y="44557"/>
                  <a:pt x="4951445" y="99522"/>
                </a:cubicBezTo>
                <a:lnTo>
                  <a:pt x="4951445" y="879156"/>
                </a:lnTo>
                <a:cubicBezTo>
                  <a:pt x="4951445" y="934120"/>
                  <a:pt x="4906888" y="978678"/>
                  <a:pt x="4851923" y="978678"/>
                </a:cubicBezTo>
                <a:lnTo>
                  <a:pt x="33176" y="978678"/>
                </a:lnTo>
                <a:cubicBezTo>
                  <a:pt x="14853" y="978678"/>
                  <a:pt x="0" y="963824"/>
                  <a:pt x="0" y="945502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763" dist="3317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913880" y="3541486"/>
            <a:ext cx="33176" cy="978678"/>
          </a:xfrm>
          <a:custGeom>
            <a:avLst/>
            <a:gdLst/>
            <a:ahLst/>
            <a:cxnLst/>
            <a:rect l="l" t="t" r="r" b="b"/>
            <a:pathLst>
              <a:path w="33176" h="978678">
                <a:moveTo>
                  <a:pt x="33176" y="0"/>
                </a:moveTo>
                <a:lnTo>
                  <a:pt x="33176" y="0"/>
                </a:lnTo>
                <a:lnTo>
                  <a:pt x="33176" y="978678"/>
                </a:lnTo>
                <a:lnTo>
                  <a:pt x="33176" y="978678"/>
                </a:lnTo>
                <a:cubicBezTo>
                  <a:pt x="14853" y="978678"/>
                  <a:pt x="0" y="963824"/>
                  <a:pt x="0" y="945502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0F2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063170" y="3674188"/>
            <a:ext cx="265404" cy="265404"/>
          </a:xfrm>
          <a:custGeom>
            <a:avLst/>
            <a:gdLst/>
            <a:ahLst/>
            <a:cxnLst/>
            <a:rect l="l" t="t" r="r" b="b"/>
            <a:pathLst>
              <a:path w="265404" h="265404">
                <a:moveTo>
                  <a:pt x="66351" y="0"/>
                </a:moveTo>
                <a:lnTo>
                  <a:pt x="199053" y="0"/>
                </a:lnTo>
                <a:cubicBezTo>
                  <a:pt x="235673" y="0"/>
                  <a:pt x="265404" y="29731"/>
                  <a:pt x="265404" y="66351"/>
                </a:cubicBezTo>
                <a:lnTo>
                  <a:pt x="265404" y="199053"/>
                </a:lnTo>
                <a:cubicBezTo>
                  <a:pt x="265404" y="235673"/>
                  <a:pt x="235673" y="265404"/>
                  <a:pt x="199053" y="265404"/>
                </a:cubicBezTo>
                <a:lnTo>
                  <a:pt x="66351" y="265404"/>
                </a:lnTo>
                <a:cubicBezTo>
                  <a:pt x="29731" y="265404"/>
                  <a:pt x="0" y="235673"/>
                  <a:pt x="0" y="199053"/>
                </a:cubicBezTo>
                <a:lnTo>
                  <a:pt x="0" y="66351"/>
                </a:lnTo>
                <a:cubicBezTo>
                  <a:pt x="0" y="29706"/>
                  <a:pt x="29706" y="0"/>
                  <a:pt x="66351" y="0"/>
                </a:cubicBezTo>
                <a:close/>
              </a:path>
            </a:pathLst>
          </a:custGeom>
          <a:solidFill>
            <a:srgbClr val="0F2D6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139888" y="3748833"/>
            <a:ext cx="116114" cy="116114"/>
          </a:xfrm>
          <a:custGeom>
            <a:avLst/>
            <a:gdLst/>
            <a:ahLst/>
            <a:cxnLst/>
            <a:rect l="l" t="t" r="r" b="b"/>
            <a:pathLst>
              <a:path w="116114" h="116114">
                <a:moveTo>
                  <a:pt x="26466" y="7665"/>
                </a:moveTo>
                <a:cubicBezTo>
                  <a:pt x="27486" y="6282"/>
                  <a:pt x="29119" y="5443"/>
                  <a:pt x="30843" y="5443"/>
                </a:cubicBezTo>
                <a:lnTo>
                  <a:pt x="85271" y="5443"/>
                </a:lnTo>
                <a:cubicBezTo>
                  <a:pt x="86995" y="5443"/>
                  <a:pt x="88628" y="6259"/>
                  <a:pt x="89648" y="7665"/>
                </a:cubicBezTo>
                <a:lnTo>
                  <a:pt x="115048" y="42137"/>
                </a:lnTo>
                <a:cubicBezTo>
                  <a:pt x="116591" y="44223"/>
                  <a:pt x="116432" y="47103"/>
                  <a:pt x="114708" y="49031"/>
                </a:cubicBezTo>
                <a:lnTo>
                  <a:pt x="62094" y="107088"/>
                </a:lnTo>
                <a:cubicBezTo>
                  <a:pt x="61073" y="108222"/>
                  <a:pt x="59599" y="108880"/>
                  <a:pt x="58057" y="108880"/>
                </a:cubicBezTo>
                <a:cubicBezTo>
                  <a:pt x="56515" y="108880"/>
                  <a:pt x="55064" y="108222"/>
                  <a:pt x="54020" y="107088"/>
                </a:cubicBezTo>
                <a:lnTo>
                  <a:pt x="1406" y="49031"/>
                </a:lnTo>
                <a:cubicBezTo>
                  <a:pt x="-340" y="47103"/>
                  <a:pt x="-476" y="44223"/>
                  <a:pt x="1066" y="42137"/>
                </a:cubicBezTo>
                <a:lnTo>
                  <a:pt x="26466" y="7665"/>
                </a:lnTo>
                <a:close/>
                <a:moveTo>
                  <a:pt x="35197" y="16691"/>
                </a:moveTo>
                <a:cubicBezTo>
                  <a:pt x="34449" y="17258"/>
                  <a:pt x="34245" y="18279"/>
                  <a:pt x="34721" y="19073"/>
                </a:cubicBezTo>
                <a:lnTo>
                  <a:pt x="47738" y="40776"/>
                </a:lnTo>
                <a:lnTo>
                  <a:pt x="14356" y="43543"/>
                </a:lnTo>
                <a:cubicBezTo>
                  <a:pt x="13426" y="43611"/>
                  <a:pt x="12700" y="44405"/>
                  <a:pt x="12700" y="45357"/>
                </a:cubicBezTo>
                <a:cubicBezTo>
                  <a:pt x="12700" y="46310"/>
                  <a:pt x="13426" y="47081"/>
                  <a:pt x="14356" y="47171"/>
                </a:cubicBezTo>
                <a:lnTo>
                  <a:pt x="57898" y="50800"/>
                </a:lnTo>
                <a:cubicBezTo>
                  <a:pt x="57989" y="50800"/>
                  <a:pt x="58103" y="50800"/>
                  <a:pt x="58193" y="50800"/>
                </a:cubicBezTo>
                <a:lnTo>
                  <a:pt x="101736" y="47171"/>
                </a:lnTo>
                <a:cubicBezTo>
                  <a:pt x="102666" y="47103"/>
                  <a:pt x="103392" y="46310"/>
                  <a:pt x="103392" y="45357"/>
                </a:cubicBezTo>
                <a:cubicBezTo>
                  <a:pt x="103392" y="44405"/>
                  <a:pt x="102666" y="43634"/>
                  <a:pt x="101736" y="43543"/>
                </a:cubicBezTo>
                <a:lnTo>
                  <a:pt x="68353" y="40753"/>
                </a:lnTo>
                <a:lnTo>
                  <a:pt x="81371" y="19073"/>
                </a:lnTo>
                <a:cubicBezTo>
                  <a:pt x="81847" y="18279"/>
                  <a:pt x="81643" y="17236"/>
                  <a:pt x="80894" y="16691"/>
                </a:cubicBezTo>
                <a:cubicBezTo>
                  <a:pt x="80146" y="16147"/>
                  <a:pt x="79103" y="16238"/>
                  <a:pt x="78468" y="16918"/>
                </a:cubicBezTo>
                <a:lnTo>
                  <a:pt x="58057" y="39052"/>
                </a:lnTo>
                <a:lnTo>
                  <a:pt x="37624" y="16918"/>
                </a:lnTo>
                <a:cubicBezTo>
                  <a:pt x="36989" y="16238"/>
                  <a:pt x="35946" y="16147"/>
                  <a:pt x="35197" y="16691"/>
                </a:cubicBezTo>
                <a:close/>
              </a:path>
            </a:pathLst>
          </a:custGeom>
          <a:solidFill>
            <a:srgbClr val="0F2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428100" y="3707363"/>
            <a:ext cx="704980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Layer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063170" y="4005943"/>
            <a:ext cx="4727510" cy="38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14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</a:t>
            </a:r>
            <a:r>
              <a:rPr lang="en-US" sz="914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Pure business logic, entities, and domain services. Framework-agnostic and isolated from external dependencies.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900610" y="4618860"/>
            <a:ext cx="4958080" cy="653558"/>
          </a:xfrm>
          <a:custGeom>
            <a:avLst/>
            <a:gdLst/>
            <a:ahLst/>
            <a:cxnLst/>
            <a:rect l="l" t="t" r="r" b="b"/>
            <a:pathLst>
              <a:path w="4958080" h="653558">
                <a:moveTo>
                  <a:pt x="99524" y="0"/>
                </a:moveTo>
                <a:lnTo>
                  <a:pt x="4858556" y="0"/>
                </a:lnTo>
                <a:cubicBezTo>
                  <a:pt x="4913522" y="0"/>
                  <a:pt x="4958080" y="44558"/>
                  <a:pt x="4958080" y="99524"/>
                </a:cubicBezTo>
                <a:lnTo>
                  <a:pt x="4958080" y="554034"/>
                </a:lnTo>
                <a:cubicBezTo>
                  <a:pt x="4958080" y="608999"/>
                  <a:pt x="4913522" y="653558"/>
                  <a:pt x="4858556" y="653558"/>
                </a:cubicBezTo>
                <a:lnTo>
                  <a:pt x="99524" y="653558"/>
                </a:lnTo>
                <a:cubicBezTo>
                  <a:pt x="44558" y="653558"/>
                  <a:pt x="0" y="608999"/>
                  <a:pt x="0" y="554034"/>
                </a:cubicBezTo>
                <a:lnTo>
                  <a:pt x="0" y="99524"/>
                </a:lnTo>
                <a:cubicBezTo>
                  <a:pt x="0" y="44558"/>
                  <a:pt x="44558" y="0"/>
                  <a:pt x="99524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 w="10160">
            <a:solidFill>
              <a:srgbClr val="26A2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053217" y="4794691"/>
            <a:ext cx="116114" cy="116114"/>
          </a:xfrm>
          <a:custGeom>
            <a:avLst/>
            <a:gdLst/>
            <a:ahLst/>
            <a:cxnLst/>
            <a:rect l="l" t="t" r="r" b="b"/>
            <a:pathLst>
              <a:path w="116114" h="116114">
                <a:moveTo>
                  <a:pt x="58057" y="116114"/>
                </a:moveTo>
                <a:cubicBezTo>
                  <a:pt x="90100" y="116114"/>
                  <a:pt x="116114" y="90100"/>
                  <a:pt x="116114" y="58057"/>
                </a:cubicBezTo>
                <a:cubicBezTo>
                  <a:pt x="116114" y="26015"/>
                  <a:pt x="90100" y="0"/>
                  <a:pt x="58057" y="0"/>
                </a:cubicBezTo>
                <a:cubicBezTo>
                  <a:pt x="26015" y="0"/>
                  <a:pt x="0" y="26015"/>
                  <a:pt x="0" y="58057"/>
                </a:cubicBezTo>
                <a:cubicBezTo>
                  <a:pt x="0" y="90100"/>
                  <a:pt x="26015" y="116114"/>
                  <a:pt x="58057" y="116114"/>
                </a:cubicBezTo>
                <a:close/>
                <a:moveTo>
                  <a:pt x="50800" y="36286"/>
                </a:moveTo>
                <a:cubicBezTo>
                  <a:pt x="50800" y="32280"/>
                  <a:pt x="54052" y="29029"/>
                  <a:pt x="58057" y="29029"/>
                </a:cubicBezTo>
                <a:cubicBezTo>
                  <a:pt x="62062" y="29029"/>
                  <a:pt x="65314" y="32280"/>
                  <a:pt x="65314" y="36286"/>
                </a:cubicBezTo>
                <a:cubicBezTo>
                  <a:pt x="65314" y="40291"/>
                  <a:pt x="62062" y="43543"/>
                  <a:pt x="58057" y="43543"/>
                </a:cubicBezTo>
                <a:cubicBezTo>
                  <a:pt x="54052" y="43543"/>
                  <a:pt x="50800" y="40291"/>
                  <a:pt x="50800" y="36286"/>
                </a:cubicBezTo>
                <a:close/>
                <a:moveTo>
                  <a:pt x="48986" y="50800"/>
                </a:moveTo>
                <a:lnTo>
                  <a:pt x="59871" y="50800"/>
                </a:lnTo>
                <a:cubicBezTo>
                  <a:pt x="62888" y="50800"/>
                  <a:pt x="65314" y="53227"/>
                  <a:pt x="65314" y="56243"/>
                </a:cubicBezTo>
                <a:lnTo>
                  <a:pt x="65314" y="76200"/>
                </a:lnTo>
                <a:lnTo>
                  <a:pt x="67129" y="76200"/>
                </a:lnTo>
                <a:cubicBezTo>
                  <a:pt x="70145" y="76200"/>
                  <a:pt x="72571" y="78627"/>
                  <a:pt x="72571" y="81643"/>
                </a:cubicBezTo>
                <a:cubicBezTo>
                  <a:pt x="72571" y="84659"/>
                  <a:pt x="70145" y="87086"/>
                  <a:pt x="67129" y="87086"/>
                </a:cubicBezTo>
                <a:lnTo>
                  <a:pt x="48986" y="87086"/>
                </a:lnTo>
                <a:cubicBezTo>
                  <a:pt x="45969" y="87086"/>
                  <a:pt x="43543" y="84659"/>
                  <a:pt x="43543" y="81643"/>
                </a:cubicBezTo>
                <a:cubicBezTo>
                  <a:pt x="43543" y="78627"/>
                  <a:pt x="45969" y="76200"/>
                  <a:pt x="48986" y="76200"/>
                </a:cubicBezTo>
                <a:lnTo>
                  <a:pt x="54429" y="76200"/>
                </a:lnTo>
                <a:lnTo>
                  <a:pt x="54429" y="61686"/>
                </a:lnTo>
                <a:lnTo>
                  <a:pt x="48986" y="61686"/>
                </a:lnTo>
                <a:cubicBezTo>
                  <a:pt x="45969" y="61686"/>
                  <a:pt x="43543" y="59259"/>
                  <a:pt x="43543" y="56243"/>
                </a:cubicBezTo>
                <a:cubicBezTo>
                  <a:pt x="43543" y="53227"/>
                  <a:pt x="45969" y="50800"/>
                  <a:pt x="48986" y="5080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229251" y="4754880"/>
            <a:ext cx="4551477" cy="38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14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r>
              <a:rPr lang="en-US" sz="914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Infrastructure remains replaceable through interfaces and extension-based composition.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0" y="0"/>
                </a:moveTo>
                <a:lnTo>
                  <a:pt x="31750" y="0"/>
                </a:lnTo>
                <a:lnTo>
                  <a:pt x="317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44500" y="365125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PATTERNS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350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Pattern Standard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9842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Encouraged patterns for maintainable, testable, and reliable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1242367"/>
            <a:ext cx="5715000" cy="1381125"/>
          </a:xfrm>
          <a:custGeom>
            <a:avLst/>
            <a:gdLst/>
            <a:ahLst/>
            <a:cxnLst/>
            <a:rect l="l" t="t" r="r" b="b"/>
            <a:pathLst>
              <a:path w="5715000" h="138112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1285869"/>
                </a:lnTo>
                <a:cubicBezTo>
                  <a:pt x="5715000" y="1338477"/>
                  <a:pt x="5672352" y="1381125"/>
                  <a:pt x="5619744" y="1381125"/>
                </a:cubicBezTo>
                <a:lnTo>
                  <a:pt x="95256" y="1381125"/>
                </a:lnTo>
                <a:cubicBezTo>
                  <a:pt x="42648" y="1381125"/>
                  <a:pt x="0" y="1338477"/>
                  <a:pt x="0" y="128586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7500" y="1242367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44500" y="138524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7688" y="148049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7250" y="1385242"/>
            <a:ext cx="1270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Repository Pattern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7250" y="1639242"/>
            <a:ext cx="124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6A2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PERSISTENCE ABSTRACTION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4500" y="1829643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Abstracts data access operations behind interfaces, decoupling business logic from persistence details.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500" y="2073721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database access in Infrastructure layer.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500" y="2317799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Enables testing with mocks, supports provider switching without service changes.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59500" y="1242367"/>
            <a:ext cx="5715000" cy="1381125"/>
          </a:xfrm>
          <a:custGeom>
            <a:avLst/>
            <a:gdLst/>
            <a:ahLst/>
            <a:cxnLst/>
            <a:rect l="l" t="t" r="r" b="b"/>
            <a:pathLst>
              <a:path w="5715000" h="138112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1285869"/>
                </a:lnTo>
                <a:cubicBezTo>
                  <a:pt x="5715000" y="1338477"/>
                  <a:pt x="5672352" y="1381125"/>
                  <a:pt x="5619744" y="1381125"/>
                </a:cubicBezTo>
                <a:lnTo>
                  <a:pt x="95256" y="1381125"/>
                </a:lnTo>
                <a:cubicBezTo>
                  <a:pt x="42648" y="1381125"/>
                  <a:pt x="0" y="1338477"/>
                  <a:pt x="0" y="128586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59500" y="1242367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86500" y="138524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81750" y="148049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3189" y="9004"/>
                </a:moveTo>
                <a:cubicBezTo>
                  <a:pt x="35892" y="10889"/>
                  <a:pt x="36537" y="14610"/>
                  <a:pt x="34652" y="17289"/>
                </a:cubicBezTo>
                <a:lnTo>
                  <a:pt x="20762" y="37133"/>
                </a:lnTo>
                <a:cubicBezTo>
                  <a:pt x="19745" y="38571"/>
                  <a:pt x="18157" y="39489"/>
                  <a:pt x="16396" y="39638"/>
                </a:cubicBezTo>
                <a:cubicBezTo>
                  <a:pt x="14635" y="39787"/>
                  <a:pt x="12898" y="39191"/>
                  <a:pt x="11658" y="37951"/>
                </a:cubicBezTo>
                <a:lnTo>
                  <a:pt x="1736" y="28029"/>
                </a:lnTo>
                <a:cubicBezTo>
                  <a:pt x="-571" y="25698"/>
                  <a:pt x="-571" y="21927"/>
                  <a:pt x="1736" y="19596"/>
                </a:cubicBezTo>
                <a:cubicBezTo>
                  <a:pt x="4043" y="17264"/>
                  <a:pt x="7838" y="17289"/>
                  <a:pt x="10170" y="19596"/>
                </a:cubicBezTo>
                <a:lnTo>
                  <a:pt x="15081" y="24507"/>
                </a:lnTo>
                <a:lnTo>
                  <a:pt x="24904" y="10468"/>
                </a:lnTo>
                <a:cubicBezTo>
                  <a:pt x="26789" y="7764"/>
                  <a:pt x="30510" y="7119"/>
                  <a:pt x="33189" y="9004"/>
                </a:cubicBezTo>
                <a:close/>
                <a:moveTo>
                  <a:pt x="33189" y="48692"/>
                </a:moveTo>
                <a:cubicBezTo>
                  <a:pt x="35892" y="50577"/>
                  <a:pt x="36537" y="54297"/>
                  <a:pt x="34652" y="56976"/>
                </a:cubicBezTo>
                <a:lnTo>
                  <a:pt x="20762" y="76820"/>
                </a:lnTo>
                <a:cubicBezTo>
                  <a:pt x="19745" y="78259"/>
                  <a:pt x="18157" y="79177"/>
                  <a:pt x="16396" y="79325"/>
                </a:cubicBezTo>
                <a:cubicBezTo>
                  <a:pt x="14635" y="79474"/>
                  <a:pt x="12898" y="78879"/>
                  <a:pt x="11658" y="77639"/>
                </a:cubicBezTo>
                <a:lnTo>
                  <a:pt x="1736" y="67717"/>
                </a:lnTo>
                <a:cubicBezTo>
                  <a:pt x="-595" y="65385"/>
                  <a:pt x="-595" y="61615"/>
                  <a:pt x="1736" y="59308"/>
                </a:cubicBezTo>
                <a:cubicBezTo>
                  <a:pt x="4068" y="57001"/>
                  <a:pt x="7838" y="56976"/>
                  <a:pt x="10145" y="59308"/>
                </a:cubicBezTo>
                <a:lnTo>
                  <a:pt x="15056" y="64219"/>
                </a:lnTo>
                <a:lnTo>
                  <a:pt x="24879" y="50180"/>
                </a:lnTo>
                <a:cubicBezTo>
                  <a:pt x="26764" y="47476"/>
                  <a:pt x="30485" y="46831"/>
                  <a:pt x="33164" y="48716"/>
                </a:cubicBezTo>
                <a:close/>
                <a:moveTo>
                  <a:pt x="55563" y="23812"/>
                </a:moveTo>
                <a:cubicBezTo>
                  <a:pt x="55563" y="19422"/>
                  <a:pt x="59110" y="15875"/>
                  <a:pt x="63500" y="15875"/>
                </a:cubicBezTo>
                <a:lnTo>
                  <a:pt x="119063" y="15875"/>
                </a:lnTo>
                <a:cubicBezTo>
                  <a:pt x="123453" y="15875"/>
                  <a:pt x="127000" y="19422"/>
                  <a:pt x="127000" y="23812"/>
                </a:cubicBezTo>
                <a:cubicBezTo>
                  <a:pt x="127000" y="28203"/>
                  <a:pt x="123453" y="31750"/>
                  <a:pt x="119063" y="31750"/>
                </a:cubicBezTo>
                <a:lnTo>
                  <a:pt x="63500" y="31750"/>
                </a:lnTo>
                <a:cubicBezTo>
                  <a:pt x="59110" y="31750"/>
                  <a:pt x="55563" y="28203"/>
                  <a:pt x="55563" y="23812"/>
                </a:cubicBezTo>
                <a:close/>
                <a:moveTo>
                  <a:pt x="55563" y="63500"/>
                </a:moveTo>
                <a:cubicBezTo>
                  <a:pt x="55563" y="59110"/>
                  <a:pt x="59110" y="55563"/>
                  <a:pt x="63500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63500" y="71438"/>
                </a:lnTo>
                <a:cubicBezTo>
                  <a:pt x="59110" y="71438"/>
                  <a:pt x="55563" y="67890"/>
                  <a:pt x="55563" y="63500"/>
                </a:cubicBezTo>
                <a:close/>
                <a:moveTo>
                  <a:pt x="39688" y="103188"/>
                </a:moveTo>
                <a:cubicBezTo>
                  <a:pt x="39688" y="98797"/>
                  <a:pt x="43235" y="95250"/>
                  <a:pt x="47625" y="95250"/>
                </a:cubicBezTo>
                <a:lnTo>
                  <a:pt x="119063" y="95250"/>
                </a:lnTo>
                <a:cubicBezTo>
                  <a:pt x="123453" y="95250"/>
                  <a:pt x="127000" y="98797"/>
                  <a:pt x="127000" y="103188"/>
                </a:cubicBezTo>
                <a:cubicBezTo>
                  <a:pt x="127000" y="107578"/>
                  <a:pt x="123453" y="111125"/>
                  <a:pt x="119063" y="111125"/>
                </a:cubicBezTo>
                <a:lnTo>
                  <a:pt x="47625" y="111125"/>
                </a:lnTo>
                <a:cubicBezTo>
                  <a:pt x="43235" y="111125"/>
                  <a:pt x="39688" y="107578"/>
                  <a:pt x="39688" y="103188"/>
                </a:cubicBezTo>
                <a:close/>
                <a:moveTo>
                  <a:pt x="15875" y="93266"/>
                </a:moveTo>
                <a:cubicBezTo>
                  <a:pt x="21351" y="93266"/>
                  <a:pt x="25797" y="97711"/>
                  <a:pt x="25797" y="103188"/>
                </a:cubicBezTo>
                <a:cubicBezTo>
                  <a:pt x="25797" y="108664"/>
                  <a:pt x="21351" y="113109"/>
                  <a:pt x="15875" y="113109"/>
                </a:cubicBezTo>
                <a:cubicBezTo>
                  <a:pt x="10399" y="113109"/>
                  <a:pt x="5953" y="108664"/>
                  <a:pt x="5953" y="103188"/>
                </a:cubicBezTo>
                <a:cubicBezTo>
                  <a:pt x="5953" y="97711"/>
                  <a:pt x="10399" y="93266"/>
                  <a:pt x="15875" y="93266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99250" y="1385242"/>
            <a:ext cx="142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of Work Pattern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99250" y="1639242"/>
            <a:ext cx="139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COORDINATION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6500" y="1829643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Coordinates multiple repository operations within a single atomic transaction.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6500" y="2073721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Multi-entity operations requiring consistency.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86500" y="2317799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Ensures data integrity, simplifies transaction management across services.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7500" y="2768253"/>
            <a:ext cx="5715000" cy="1381125"/>
          </a:xfrm>
          <a:custGeom>
            <a:avLst/>
            <a:gdLst/>
            <a:ahLst/>
            <a:cxnLst/>
            <a:rect l="l" t="t" r="r" b="b"/>
            <a:pathLst>
              <a:path w="5715000" h="138112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1285869"/>
                </a:lnTo>
                <a:cubicBezTo>
                  <a:pt x="5715000" y="1338477"/>
                  <a:pt x="5672352" y="1381125"/>
                  <a:pt x="5619744" y="1381125"/>
                </a:cubicBezTo>
                <a:lnTo>
                  <a:pt x="95256" y="1381125"/>
                </a:lnTo>
                <a:cubicBezTo>
                  <a:pt x="42648" y="1381125"/>
                  <a:pt x="0" y="1338477"/>
                  <a:pt x="0" y="128586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7500" y="2768253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4500" y="291112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9750" y="300637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15875"/>
                </a:moveTo>
                <a:cubicBezTo>
                  <a:pt x="4738" y="15875"/>
                  <a:pt x="1836" y="17810"/>
                  <a:pt x="595" y="20786"/>
                </a:cubicBezTo>
                <a:cubicBezTo>
                  <a:pt x="-645" y="23763"/>
                  <a:pt x="50" y="27161"/>
                  <a:pt x="2332" y="29418"/>
                </a:cubicBezTo>
                <a:lnTo>
                  <a:pt x="47625" y="74737"/>
                </a:lnTo>
                <a:lnTo>
                  <a:pt x="47625" y="103188"/>
                </a:lnTo>
                <a:cubicBezTo>
                  <a:pt x="47625" y="105296"/>
                  <a:pt x="48468" y="107305"/>
                  <a:pt x="49957" y="108793"/>
                </a:cubicBezTo>
                <a:lnTo>
                  <a:pt x="65832" y="124668"/>
                </a:lnTo>
                <a:cubicBezTo>
                  <a:pt x="68114" y="126950"/>
                  <a:pt x="71512" y="127620"/>
                  <a:pt x="74488" y="126380"/>
                </a:cubicBezTo>
                <a:cubicBezTo>
                  <a:pt x="77465" y="125140"/>
                  <a:pt x="79375" y="122262"/>
                  <a:pt x="79375" y="119063"/>
                </a:cubicBezTo>
                <a:lnTo>
                  <a:pt x="79375" y="74737"/>
                </a:lnTo>
                <a:lnTo>
                  <a:pt x="124668" y="29443"/>
                </a:lnTo>
                <a:cubicBezTo>
                  <a:pt x="126950" y="27161"/>
                  <a:pt x="127620" y="23763"/>
                  <a:pt x="126380" y="20786"/>
                </a:cubicBezTo>
                <a:cubicBezTo>
                  <a:pt x="125140" y="17810"/>
                  <a:pt x="122262" y="15875"/>
                  <a:pt x="119063" y="15875"/>
                </a:cubicBezTo>
                <a:lnTo>
                  <a:pt x="7938" y="15875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7250" y="2911128"/>
            <a:ext cx="1389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 Pattern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7250" y="3165128"/>
            <a:ext cx="1365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6A2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ENCAPSULATION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4500" y="3355529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Encapsulates query criteria into reusable, composable objects.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4500" y="3599607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Complex filtering, search, and business rule queries.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4500" y="3843685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Eliminates query duplication, centralizes filtering logic, improves readability.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59500" y="2768253"/>
            <a:ext cx="5715000" cy="1381125"/>
          </a:xfrm>
          <a:custGeom>
            <a:avLst/>
            <a:gdLst/>
            <a:ahLst/>
            <a:cxnLst/>
            <a:rect l="l" t="t" r="r" b="b"/>
            <a:pathLst>
              <a:path w="5715000" h="138112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1285869"/>
                </a:lnTo>
                <a:cubicBezTo>
                  <a:pt x="5715000" y="1338477"/>
                  <a:pt x="5672352" y="1381125"/>
                  <a:pt x="5619744" y="1381125"/>
                </a:cubicBezTo>
                <a:lnTo>
                  <a:pt x="95256" y="1381125"/>
                </a:lnTo>
                <a:cubicBezTo>
                  <a:pt x="42648" y="1381125"/>
                  <a:pt x="0" y="1338477"/>
                  <a:pt x="0" y="128586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59500" y="2768253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86500" y="291112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81750" y="300637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37356"/>
                </a:moveTo>
                <a:lnTo>
                  <a:pt x="100856" y="61168"/>
                </a:lnTo>
                <a:cubicBezTo>
                  <a:pt x="98574" y="63450"/>
                  <a:pt x="95176" y="64120"/>
                  <a:pt x="92199" y="62880"/>
                </a:cubicBezTo>
                <a:cubicBezTo>
                  <a:pt x="89222" y="61640"/>
                  <a:pt x="87313" y="58762"/>
                  <a:pt x="87313" y="55563"/>
                </a:cubicBezTo>
                <a:lnTo>
                  <a:pt x="87313" y="39688"/>
                </a:ln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87313" y="23812"/>
                </a:lnTo>
                <a:lnTo>
                  <a:pt x="87313" y="7938"/>
                </a:lnTo>
                <a:cubicBezTo>
                  <a:pt x="87313" y="4738"/>
                  <a:pt x="89247" y="1836"/>
                  <a:pt x="92224" y="595"/>
                </a:cubicBezTo>
                <a:cubicBezTo>
                  <a:pt x="95200" y="-645"/>
                  <a:pt x="98599" y="50"/>
                  <a:pt x="100881" y="2307"/>
                </a:cubicBezTo>
                <a:lnTo>
                  <a:pt x="124693" y="26119"/>
                </a:lnTo>
                <a:cubicBezTo>
                  <a:pt x="127794" y="29220"/>
                  <a:pt x="127794" y="34255"/>
                  <a:pt x="124693" y="37356"/>
                </a:cubicBezTo>
                <a:close/>
                <a:moveTo>
                  <a:pt x="26119" y="124668"/>
                </a:moveTo>
                <a:lnTo>
                  <a:pt x="2307" y="100856"/>
                </a:lnTo>
                <a:cubicBezTo>
                  <a:pt x="-794" y="97755"/>
                  <a:pt x="-794" y="92720"/>
                  <a:pt x="2307" y="89619"/>
                </a:cubicBezTo>
                <a:lnTo>
                  <a:pt x="26119" y="65807"/>
                </a:lnTo>
                <a:cubicBezTo>
                  <a:pt x="28401" y="63525"/>
                  <a:pt x="31800" y="62855"/>
                  <a:pt x="34776" y="64095"/>
                </a:cubicBezTo>
                <a:cubicBezTo>
                  <a:pt x="37753" y="65336"/>
                  <a:pt x="39688" y="68238"/>
                  <a:pt x="39688" y="71438"/>
                </a:cubicBezTo>
                <a:lnTo>
                  <a:pt x="39688" y="87313"/>
                </a:lnTo>
                <a:lnTo>
                  <a:pt x="119063" y="87313"/>
                </a:lnTo>
                <a:cubicBezTo>
                  <a:pt x="123453" y="87313"/>
                  <a:pt x="127000" y="90860"/>
                  <a:pt x="127000" y="95250"/>
                </a:cubicBezTo>
                <a:cubicBezTo>
                  <a:pt x="127000" y="99640"/>
                  <a:pt x="123453" y="103188"/>
                  <a:pt x="119063" y="103188"/>
                </a:cubicBezTo>
                <a:lnTo>
                  <a:pt x="39688" y="103188"/>
                </a:lnTo>
                <a:lnTo>
                  <a:pt x="39688" y="119063"/>
                </a:lnTo>
                <a:cubicBezTo>
                  <a:pt x="39688" y="122262"/>
                  <a:pt x="37753" y="125164"/>
                  <a:pt x="34776" y="126405"/>
                </a:cubicBezTo>
                <a:cubicBezTo>
                  <a:pt x="31800" y="127645"/>
                  <a:pt x="28401" y="126950"/>
                  <a:pt x="26119" y="124693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99250" y="2911128"/>
            <a:ext cx="144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Mapper Pattern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99250" y="3165128"/>
            <a:ext cx="1420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DTO TRANSFORMATION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86500" y="3355529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explicit static mapping methods for deterministic DTO transformations.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86500" y="3599607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entity-to-DTO and request-to-entity conversions.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86500" y="3843685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Compile-time safety, predictable behavior, easy to test and debug.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17500" y="4294138"/>
            <a:ext cx="5715000" cy="1381125"/>
          </a:xfrm>
          <a:custGeom>
            <a:avLst/>
            <a:gdLst/>
            <a:ahLst/>
            <a:cxnLst/>
            <a:rect l="l" t="t" r="r" b="b"/>
            <a:pathLst>
              <a:path w="5715000" h="138112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1285869"/>
                </a:lnTo>
                <a:cubicBezTo>
                  <a:pt x="5715000" y="1338477"/>
                  <a:pt x="5672352" y="1381125"/>
                  <a:pt x="5619744" y="1381125"/>
                </a:cubicBezTo>
                <a:lnTo>
                  <a:pt x="95256" y="1381125"/>
                </a:lnTo>
                <a:cubicBezTo>
                  <a:pt x="42648" y="1381125"/>
                  <a:pt x="0" y="1338477"/>
                  <a:pt x="0" y="128586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17500" y="4294138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44500" y="44370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39750" y="45322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57250" y="4437013"/>
            <a:ext cx="1785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Attribute Pattern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7250" y="4691013"/>
            <a:ext cx="1762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6A2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VALIDATION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44500" y="4881414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custom validation attributes for consistent request validation.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44500" y="5125492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API request models and input DTOs.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4500" y="5369571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Declarative validation, reusable rules, automatic model state checking.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59500" y="4294138"/>
            <a:ext cx="5715000" cy="1381125"/>
          </a:xfrm>
          <a:custGeom>
            <a:avLst/>
            <a:gdLst/>
            <a:ahLst/>
            <a:cxnLst/>
            <a:rect l="l" t="t" r="r" b="b"/>
            <a:pathLst>
              <a:path w="5715000" h="138112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1285869"/>
                </a:lnTo>
                <a:cubicBezTo>
                  <a:pt x="5715000" y="1338477"/>
                  <a:pt x="5672352" y="1381125"/>
                  <a:pt x="5619744" y="1381125"/>
                </a:cubicBezTo>
                <a:lnTo>
                  <a:pt x="95256" y="1381125"/>
                </a:lnTo>
                <a:cubicBezTo>
                  <a:pt x="42648" y="1381125"/>
                  <a:pt x="0" y="1338477"/>
                  <a:pt x="0" y="128586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159500" y="4294138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286500" y="44370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81750" y="45322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99250" y="4437013"/>
            <a:ext cx="139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Idempotency Pattern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699250" y="4691013"/>
            <a:ext cx="1373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DUPLICATE PROTECTION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86500" y="4881414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Protects state-changing operations from duplicate processing.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286500" y="5125492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non-safe endpoints requiring duplicate protection.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86500" y="5369571"/>
            <a:ext cx="55165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Benefit:</a:t>
            </a:r>
            <a:r>
              <a:rPr lang="en-US" sz="87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Prevents data corruption, supports safe retries, ensures consistency.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17500" y="5772399"/>
            <a:ext cx="5715000" cy="1047750"/>
          </a:xfrm>
          <a:custGeom>
            <a:avLst/>
            <a:gdLst/>
            <a:ahLst/>
            <a:cxnLst/>
            <a:rect l="l" t="t" r="r" b="b"/>
            <a:pathLst>
              <a:path w="5715000" h="1047750">
                <a:moveTo>
                  <a:pt x="95251" y="0"/>
                </a:moveTo>
                <a:lnTo>
                  <a:pt x="5619749" y="0"/>
                </a:lnTo>
                <a:cubicBezTo>
                  <a:pt x="5672355" y="0"/>
                  <a:pt x="5715000" y="42645"/>
                  <a:pt x="5715000" y="95251"/>
                </a:cubicBezTo>
                <a:lnTo>
                  <a:pt x="5715000" y="952499"/>
                </a:lnTo>
                <a:cubicBezTo>
                  <a:pt x="5715000" y="1005105"/>
                  <a:pt x="5672355" y="1047750"/>
                  <a:pt x="5619749" y="1047750"/>
                </a:cubicBezTo>
                <a:lnTo>
                  <a:pt x="95251" y="1047750"/>
                </a:lnTo>
                <a:cubicBezTo>
                  <a:pt x="42645" y="1047750"/>
                  <a:pt x="0" y="1005105"/>
                  <a:pt x="0" y="9524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0F2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44500" y="589939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6A2D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47688" y="599464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-7937"/>
                </a:moveTo>
                <a:cubicBezTo>
                  <a:pt x="36140" y="-7937"/>
                  <a:pt x="39688" y="-4390"/>
                  <a:pt x="39688" y="0"/>
                </a:cubicBezTo>
                <a:lnTo>
                  <a:pt x="39688" y="23812"/>
                </a:lnTo>
                <a:lnTo>
                  <a:pt x="71438" y="23812"/>
                </a:lnTo>
                <a:lnTo>
                  <a:pt x="71438" y="0"/>
                </a:lnTo>
                <a:cubicBezTo>
                  <a:pt x="71438" y="-4390"/>
                  <a:pt x="74985" y="-7937"/>
                  <a:pt x="79375" y="-7937"/>
                </a:cubicBezTo>
                <a:cubicBezTo>
                  <a:pt x="83765" y="-7937"/>
                  <a:pt x="87313" y="-4390"/>
                  <a:pt x="87313" y="0"/>
                </a:cubicBezTo>
                <a:lnTo>
                  <a:pt x="87313" y="23812"/>
                </a:lnTo>
                <a:lnTo>
                  <a:pt x="103188" y="23812"/>
                </a:lnTo>
                <a:cubicBezTo>
                  <a:pt x="107578" y="23812"/>
                  <a:pt x="111125" y="27360"/>
                  <a:pt x="111125" y="31750"/>
                </a:cubicBezTo>
                <a:cubicBezTo>
                  <a:pt x="111125" y="36140"/>
                  <a:pt x="107578" y="39688"/>
                  <a:pt x="103188" y="39688"/>
                </a:cubicBezTo>
                <a:lnTo>
                  <a:pt x="103188" y="55563"/>
                </a:lnTo>
                <a:cubicBezTo>
                  <a:pt x="103188" y="79152"/>
                  <a:pt x="86023" y="98747"/>
                  <a:pt x="63500" y="102518"/>
                </a:cubicBezTo>
                <a:lnTo>
                  <a:pt x="63500" y="119063"/>
                </a:lnTo>
                <a:cubicBezTo>
                  <a:pt x="63500" y="123453"/>
                  <a:pt x="59953" y="127000"/>
                  <a:pt x="55563" y="127000"/>
                </a:cubicBezTo>
                <a:cubicBezTo>
                  <a:pt x="51172" y="127000"/>
                  <a:pt x="47625" y="123453"/>
                  <a:pt x="47625" y="119063"/>
                </a:cubicBezTo>
                <a:lnTo>
                  <a:pt x="47625" y="102518"/>
                </a:lnTo>
                <a:cubicBezTo>
                  <a:pt x="25102" y="98747"/>
                  <a:pt x="7938" y="79152"/>
                  <a:pt x="7938" y="55563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lnTo>
                  <a:pt x="23812" y="0"/>
                </a:lnTo>
                <a:cubicBezTo>
                  <a:pt x="23812" y="-4390"/>
                  <a:pt x="27360" y="-7937"/>
                  <a:pt x="31750" y="-7937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57250" y="5899399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 Abstraction Pattern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57250" y="6121649"/>
            <a:ext cx="5103813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Allows selecting Redis/In-Memory/Azure Queue Storage transport without API contract changes.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57250" y="6514555"/>
            <a:ext cx="5103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Environment flexibility, testability, no vendor lock-in.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59500" y="5772399"/>
            <a:ext cx="5715000" cy="1047750"/>
          </a:xfrm>
          <a:custGeom>
            <a:avLst/>
            <a:gdLst/>
            <a:ahLst/>
            <a:cxnLst/>
            <a:rect l="l" t="t" r="r" b="b"/>
            <a:pathLst>
              <a:path w="5715000" h="1047750">
                <a:moveTo>
                  <a:pt x="95251" y="0"/>
                </a:moveTo>
                <a:lnTo>
                  <a:pt x="5619749" y="0"/>
                </a:lnTo>
                <a:cubicBezTo>
                  <a:pt x="5672355" y="0"/>
                  <a:pt x="5715000" y="42645"/>
                  <a:pt x="5715000" y="95251"/>
                </a:cubicBezTo>
                <a:lnTo>
                  <a:pt x="5715000" y="952499"/>
                </a:lnTo>
                <a:cubicBezTo>
                  <a:pt x="5715000" y="1005105"/>
                  <a:pt x="5672355" y="1047750"/>
                  <a:pt x="5619749" y="1047750"/>
                </a:cubicBezTo>
                <a:lnTo>
                  <a:pt x="95251" y="1047750"/>
                </a:lnTo>
                <a:cubicBezTo>
                  <a:pt x="42645" y="1047750"/>
                  <a:pt x="0" y="1005105"/>
                  <a:pt x="0" y="9524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286500" y="589939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381750" y="599464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5563" y="0"/>
                </a:moveTo>
                <a:cubicBezTo>
                  <a:pt x="64319" y="0"/>
                  <a:pt x="71438" y="5333"/>
                  <a:pt x="71438" y="11906"/>
                </a:cubicBezTo>
                <a:cubicBezTo>
                  <a:pt x="71438" y="14486"/>
                  <a:pt x="70346" y="16867"/>
                  <a:pt x="68461" y="18827"/>
                </a:cubicBezTo>
                <a:cubicBezTo>
                  <a:pt x="66824" y="20538"/>
                  <a:pt x="65484" y="22622"/>
                  <a:pt x="65484" y="25003"/>
                </a:cubicBezTo>
                <a:cubicBezTo>
                  <a:pt x="65484" y="28724"/>
                  <a:pt x="68511" y="31750"/>
                  <a:pt x="72231" y="31750"/>
                </a:cubicBezTo>
                <a:lnTo>
                  <a:pt x="83344" y="31750"/>
                </a:lnTo>
                <a:cubicBezTo>
                  <a:pt x="89917" y="31750"/>
                  <a:pt x="95250" y="37083"/>
                  <a:pt x="95250" y="43656"/>
                </a:cubicBezTo>
                <a:lnTo>
                  <a:pt x="95250" y="54769"/>
                </a:lnTo>
                <a:cubicBezTo>
                  <a:pt x="95250" y="58489"/>
                  <a:pt x="98276" y="61516"/>
                  <a:pt x="101997" y="61516"/>
                </a:cubicBezTo>
                <a:cubicBezTo>
                  <a:pt x="104353" y="61516"/>
                  <a:pt x="106462" y="60176"/>
                  <a:pt x="108173" y="58539"/>
                </a:cubicBezTo>
                <a:cubicBezTo>
                  <a:pt x="110133" y="56679"/>
                  <a:pt x="112514" y="55563"/>
                  <a:pt x="115094" y="55563"/>
                </a:cubicBezTo>
                <a:cubicBezTo>
                  <a:pt x="121667" y="55563"/>
                  <a:pt x="127000" y="62681"/>
                  <a:pt x="127000" y="71438"/>
                </a:cubicBezTo>
                <a:cubicBezTo>
                  <a:pt x="127000" y="80194"/>
                  <a:pt x="121667" y="87313"/>
                  <a:pt x="115094" y="87313"/>
                </a:cubicBezTo>
                <a:cubicBezTo>
                  <a:pt x="112514" y="87313"/>
                  <a:pt x="110108" y="86221"/>
                  <a:pt x="108173" y="84336"/>
                </a:cubicBezTo>
                <a:cubicBezTo>
                  <a:pt x="106462" y="82699"/>
                  <a:pt x="104378" y="81359"/>
                  <a:pt x="101997" y="81359"/>
                </a:cubicBezTo>
                <a:cubicBezTo>
                  <a:pt x="98276" y="81359"/>
                  <a:pt x="95250" y="84386"/>
                  <a:pt x="95250" y="88106"/>
                </a:cubicBezTo>
                <a:lnTo>
                  <a:pt x="95250" y="115094"/>
                </a:lnTo>
                <a:cubicBezTo>
                  <a:pt x="95250" y="121667"/>
                  <a:pt x="89917" y="127000"/>
                  <a:pt x="83344" y="127000"/>
                </a:cubicBezTo>
                <a:lnTo>
                  <a:pt x="69255" y="127000"/>
                </a:lnTo>
                <a:cubicBezTo>
                  <a:pt x="66080" y="127000"/>
                  <a:pt x="63500" y="124420"/>
                  <a:pt x="63500" y="121245"/>
                </a:cubicBezTo>
                <a:cubicBezTo>
                  <a:pt x="63500" y="118963"/>
                  <a:pt x="64939" y="116954"/>
                  <a:pt x="66774" y="115590"/>
                </a:cubicBezTo>
                <a:cubicBezTo>
                  <a:pt x="69652" y="113432"/>
                  <a:pt x="71438" y="110455"/>
                  <a:pt x="71438" y="107156"/>
                </a:cubicBezTo>
                <a:cubicBezTo>
                  <a:pt x="71438" y="100583"/>
                  <a:pt x="64319" y="95250"/>
                  <a:pt x="55563" y="95250"/>
                </a:cubicBezTo>
                <a:cubicBezTo>
                  <a:pt x="46806" y="95250"/>
                  <a:pt x="39688" y="100583"/>
                  <a:pt x="39688" y="107156"/>
                </a:cubicBezTo>
                <a:cubicBezTo>
                  <a:pt x="39688" y="110455"/>
                  <a:pt x="41473" y="113432"/>
                  <a:pt x="44351" y="115590"/>
                </a:cubicBezTo>
                <a:cubicBezTo>
                  <a:pt x="46186" y="116954"/>
                  <a:pt x="47625" y="118938"/>
                  <a:pt x="47625" y="121245"/>
                </a:cubicBezTo>
                <a:cubicBezTo>
                  <a:pt x="47625" y="124420"/>
                  <a:pt x="45045" y="127000"/>
                  <a:pt x="41870" y="127000"/>
                </a:cubicBezTo>
                <a:lnTo>
                  <a:pt x="11906" y="127000"/>
                </a:lnTo>
                <a:cubicBezTo>
                  <a:pt x="5333" y="127000"/>
                  <a:pt x="0" y="121667"/>
                  <a:pt x="0" y="115094"/>
                </a:cubicBezTo>
                <a:lnTo>
                  <a:pt x="0" y="85130"/>
                </a:lnTo>
                <a:cubicBezTo>
                  <a:pt x="0" y="81955"/>
                  <a:pt x="2580" y="79375"/>
                  <a:pt x="5755" y="79375"/>
                </a:cubicBezTo>
                <a:cubicBezTo>
                  <a:pt x="8037" y="79375"/>
                  <a:pt x="10046" y="80814"/>
                  <a:pt x="11410" y="82649"/>
                </a:cubicBezTo>
                <a:cubicBezTo>
                  <a:pt x="13568" y="85527"/>
                  <a:pt x="16545" y="87313"/>
                  <a:pt x="19844" y="87313"/>
                </a:cubicBezTo>
                <a:cubicBezTo>
                  <a:pt x="26417" y="87313"/>
                  <a:pt x="31750" y="80194"/>
                  <a:pt x="31750" y="71438"/>
                </a:cubicBezTo>
                <a:cubicBezTo>
                  <a:pt x="31750" y="62681"/>
                  <a:pt x="26417" y="55563"/>
                  <a:pt x="19844" y="55563"/>
                </a:cubicBezTo>
                <a:cubicBezTo>
                  <a:pt x="16545" y="55563"/>
                  <a:pt x="13568" y="57348"/>
                  <a:pt x="11410" y="60226"/>
                </a:cubicBezTo>
                <a:cubicBezTo>
                  <a:pt x="10046" y="62061"/>
                  <a:pt x="8062" y="63500"/>
                  <a:pt x="5755" y="63500"/>
                </a:cubicBezTo>
                <a:cubicBezTo>
                  <a:pt x="2580" y="63500"/>
                  <a:pt x="0" y="60920"/>
                  <a:pt x="0" y="57745"/>
                </a:cubicBezTo>
                <a:lnTo>
                  <a:pt x="0" y="43656"/>
                </a:lnTo>
                <a:cubicBezTo>
                  <a:pt x="0" y="37083"/>
                  <a:pt x="5333" y="31750"/>
                  <a:pt x="11906" y="31750"/>
                </a:cubicBezTo>
                <a:lnTo>
                  <a:pt x="38894" y="31750"/>
                </a:lnTo>
                <a:cubicBezTo>
                  <a:pt x="42614" y="31750"/>
                  <a:pt x="45641" y="28724"/>
                  <a:pt x="45641" y="25003"/>
                </a:cubicBezTo>
                <a:cubicBezTo>
                  <a:pt x="45641" y="22647"/>
                  <a:pt x="44301" y="20538"/>
                  <a:pt x="42664" y="18827"/>
                </a:cubicBezTo>
                <a:cubicBezTo>
                  <a:pt x="40804" y="16867"/>
                  <a:pt x="39688" y="14486"/>
                  <a:pt x="39688" y="11906"/>
                </a:cubicBezTo>
                <a:cubicBezTo>
                  <a:pt x="39688" y="5333"/>
                  <a:pt x="46806" y="0"/>
                  <a:pt x="55563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699250" y="5899399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Extension-based Composition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699250" y="6121649"/>
            <a:ext cx="4135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Keeps startup wiring modular and maintainable through extension methods.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699250" y="6333977"/>
            <a:ext cx="4135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Benefit:</a:t>
            </a: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Clean Program.cs, organized registrations, easy to extend.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857" y="362857"/>
            <a:ext cx="36286" cy="290286"/>
          </a:xfrm>
          <a:custGeom>
            <a:avLst/>
            <a:gdLst/>
            <a:ahLst/>
            <a:cxnLst/>
            <a:rect l="l" t="t" r="r" b="b"/>
            <a:pathLst>
              <a:path w="36286" h="290286">
                <a:moveTo>
                  <a:pt x="0" y="0"/>
                </a:moveTo>
                <a:lnTo>
                  <a:pt x="36286" y="0"/>
                </a:lnTo>
                <a:lnTo>
                  <a:pt x="36286" y="290286"/>
                </a:lnTo>
                <a:lnTo>
                  <a:pt x="0" y="290286"/>
                </a:lnTo>
                <a:lnTo>
                  <a:pt x="0" y="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8000" y="417286"/>
            <a:ext cx="807357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kern="0" spc="50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2857" y="725714"/>
            <a:ext cx="11629571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1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Governance Standard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2857" y="1124857"/>
            <a:ext cx="115479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Azure-style conventions for consistent, traceable, and versioned APIs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24000"/>
            <a:ext cx="5624286" cy="2104571"/>
          </a:xfrm>
          <a:custGeom>
            <a:avLst/>
            <a:gdLst/>
            <a:ahLst/>
            <a:cxnLst/>
            <a:rect l="l" t="t" r="r" b="b"/>
            <a:pathLst>
              <a:path w="5624286" h="2104571">
                <a:moveTo>
                  <a:pt x="36286" y="0"/>
                </a:moveTo>
                <a:lnTo>
                  <a:pt x="5515437" y="0"/>
                </a:lnTo>
                <a:cubicBezTo>
                  <a:pt x="5575553" y="0"/>
                  <a:pt x="5624286" y="48733"/>
                  <a:pt x="5624286" y="108848"/>
                </a:cubicBezTo>
                <a:lnTo>
                  <a:pt x="5624286" y="1995723"/>
                </a:lnTo>
                <a:cubicBezTo>
                  <a:pt x="5624286" y="2055838"/>
                  <a:pt x="5575553" y="2104571"/>
                  <a:pt x="5515437" y="2104571"/>
                </a:cubicBezTo>
                <a:lnTo>
                  <a:pt x="36286" y="2104571"/>
                </a:lnTo>
                <a:cubicBezTo>
                  <a:pt x="16246" y="2104571"/>
                  <a:pt x="0" y="2088326"/>
                  <a:pt x="0" y="2068286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071" dist="9071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1000" y="1524000"/>
            <a:ext cx="36286" cy="2104571"/>
          </a:xfrm>
          <a:custGeom>
            <a:avLst/>
            <a:gdLst/>
            <a:ahLst/>
            <a:cxnLst/>
            <a:rect l="l" t="t" r="r" b="b"/>
            <a:pathLst>
              <a:path w="36286" h="2104571">
                <a:moveTo>
                  <a:pt x="36286" y="0"/>
                </a:moveTo>
                <a:lnTo>
                  <a:pt x="36286" y="0"/>
                </a:lnTo>
                <a:lnTo>
                  <a:pt x="36286" y="2104571"/>
                </a:lnTo>
                <a:lnTo>
                  <a:pt x="36286" y="2104571"/>
                </a:lnTo>
                <a:cubicBezTo>
                  <a:pt x="16246" y="2104571"/>
                  <a:pt x="0" y="2088326"/>
                  <a:pt x="0" y="2068286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0571" y="1705429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8911" y="1832429"/>
            <a:ext cx="158750" cy="181429"/>
          </a:xfrm>
          <a:custGeom>
            <a:avLst/>
            <a:gdLst/>
            <a:ahLst/>
            <a:cxnLst/>
            <a:rect l="l" t="t" r="r" b="b"/>
            <a:pathLst>
              <a:path w="158750" h="181429">
                <a:moveTo>
                  <a:pt x="28348" y="36853"/>
                </a:moveTo>
                <a:cubicBezTo>
                  <a:pt x="33042" y="36853"/>
                  <a:pt x="36853" y="33042"/>
                  <a:pt x="36853" y="28348"/>
                </a:cubicBezTo>
                <a:cubicBezTo>
                  <a:pt x="36853" y="23654"/>
                  <a:pt x="33042" y="19844"/>
                  <a:pt x="28348" y="19844"/>
                </a:cubicBezTo>
                <a:cubicBezTo>
                  <a:pt x="23654" y="19844"/>
                  <a:pt x="19844" y="23654"/>
                  <a:pt x="19844" y="28348"/>
                </a:cubicBezTo>
                <a:cubicBezTo>
                  <a:pt x="19844" y="33042"/>
                  <a:pt x="23654" y="36853"/>
                  <a:pt x="28348" y="36853"/>
                </a:cubicBezTo>
                <a:close/>
                <a:moveTo>
                  <a:pt x="56696" y="28348"/>
                </a:moveTo>
                <a:cubicBezTo>
                  <a:pt x="56696" y="39971"/>
                  <a:pt x="49716" y="49964"/>
                  <a:pt x="39688" y="54322"/>
                </a:cubicBezTo>
                <a:lnTo>
                  <a:pt x="39688" y="79375"/>
                </a:lnTo>
                <a:lnTo>
                  <a:pt x="102054" y="79375"/>
                </a:lnTo>
                <a:cubicBezTo>
                  <a:pt x="111444" y="79375"/>
                  <a:pt x="119063" y="71756"/>
                  <a:pt x="119063" y="62366"/>
                </a:cubicBezTo>
                <a:lnTo>
                  <a:pt x="119063" y="54322"/>
                </a:lnTo>
                <a:cubicBezTo>
                  <a:pt x="109034" y="49964"/>
                  <a:pt x="102054" y="39971"/>
                  <a:pt x="102054" y="28348"/>
                </a:cubicBezTo>
                <a:cubicBezTo>
                  <a:pt x="102054" y="12686"/>
                  <a:pt x="114739" y="0"/>
                  <a:pt x="130402" y="0"/>
                </a:cubicBezTo>
                <a:cubicBezTo>
                  <a:pt x="146064" y="0"/>
                  <a:pt x="158750" y="12686"/>
                  <a:pt x="158750" y="28348"/>
                </a:cubicBezTo>
                <a:cubicBezTo>
                  <a:pt x="158750" y="39971"/>
                  <a:pt x="151769" y="49964"/>
                  <a:pt x="141741" y="54322"/>
                </a:cubicBezTo>
                <a:lnTo>
                  <a:pt x="141741" y="62366"/>
                </a:lnTo>
                <a:cubicBezTo>
                  <a:pt x="141741" y="84301"/>
                  <a:pt x="123988" y="102054"/>
                  <a:pt x="102054" y="102054"/>
                </a:cubicBezTo>
                <a:lnTo>
                  <a:pt x="39688" y="102054"/>
                </a:lnTo>
                <a:lnTo>
                  <a:pt x="39688" y="127106"/>
                </a:lnTo>
                <a:cubicBezTo>
                  <a:pt x="49716" y="131465"/>
                  <a:pt x="56696" y="141458"/>
                  <a:pt x="56696" y="153080"/>
                </a:cubicBezTo>
                <a:cubicBezTo>
                  <a:pt x="56696" y="168743"/>
                  <a:pt x="44011" y="181429"/>
                  <a:pt x="28348" y="181429"/>
                </a:cubicBezTo>
                <a:cubicBezTo>
                  <a:pt x="12686" y="181429"/>
                  <a:pt x="0" y="168743"/>
                  <a:pt x="0" y="153080"/>
                </a:cubicBezTo>
                <a:cubicBezTo>
                  <a:pt x="0" y="141458"/>
                  <a:pt x="6981" y="131465"/>
                  <a:pt x="17009" y="127106"/>
                </a:cubicBezTo>
                <a:lnTo>
                  <a:pt x="17009" y="54358"/>
                </a:lnTo>
                <a:cubicBezTo>
                  <a:pt x="6981" y="49964"/>
                  <a:pt x="0" y="39971"/>
                  <a:pt x="0" y="28348"/>
                </a:cubicBezTo>
                <a:cubicBezTo>
                  <a:pt x="0" y="12686"/>
                  <a:pt x="12686" y="0"/>
                  <a:pt x="28348" y="0"/>
                </a:cubicBezTo>
                <a:cubicBezTo>
                  <a:pt x="44011" y="0"/>
                  <a:pt x="56696" y="12686"/>
                  <a:pt x="56696" y="28348"/>
                </a:cubicBezTo>
                <a:close/>
                <a:moveTo>
                  <a:pt x="138906" y="28348"/>
                </a:moveTo>
                <a:cubicBezTo>
                  <a:pt x="138906" y="23654"/>
                  <a:pt x="135096" y="19844"/>
                  <a:pt x="130402" y="19844"/>
                </a:cubicBezTo>
                <a:cubicBezTo>
                  <a:pt x="125708" y="19844"/>
                  <a:pt x="121897" y="23654"/>
                  <a:pt x="121897" y="28348"/>
                </a:cubicBezTo>
                <a:cubicBezTo>
                  <a:pt x="121897" y="33042"/>
                  <a:pt x="125708" y="36853"/>
                  <a:pt x="130402" y="36853"/>
                </a:cubicBezTo>
                <a:cubicBezTo>
                  <a:pt x="135096" y="36853"/>
                  <a:pt x="138906" y="33042"/>
                  <a:pt x="138906" y="28348"/>
                </a:cubicBezTo>
                <a:close/>
                <a:moveTo>
                  <a:pt x="28348" y="161585"/>
                </a:moveTo>
                <a:cubicBezTo>
                  <a:pt x="33042" y="161585"/>
                  <a:pt x="36853" y="157774"/>
                  <a:pt x="36853" y="153080"/>
                </a:cubicBezTo>
                <a:cubicBezTo>
                  <a:pt x="36853" y="148387"/>
                  <a:pt x="33042" y="144576"/>
                  <a:pt x="28348" y="144576"/>
                </a:cubicBezTo>
                <a:cubicBezTo>
                  <a:pt x="23654" y="144576"/>
                  <a:pt x="19844" y="148387"/>
                  <a:pt x="19844" y="153080"/>
                </a:cubicBezTo>
                <a:cubicBezTo>
                  <a:pt x="19844" y="157774"/>
                  <a:pt x="23654" y="161585"/>
                  <a:pt x="28348" y="161585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24857" y="1796143"/>
            <a:ext cx="16691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Versioning Strategy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0571" y="2249714"/>
            <a:ext cx="5315857" cy="47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3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Query-parameter API versioning using date-based versions (e.g., </a:t>
            </a:r>
            <a:r>
              <a:rPr lang="en-US" sz="1000" dirty="0">
                <a:solidFill>
                  <a:srgbClr val="26A2DB"/>
                </a:solidFill>
                <a:highlight>
                  <a:srgbClr val="26A2DB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?api-version=2024-01-01 </a:t>
            </a:r>
            <a:r>
              <a:rPr lang="en-US" sz="1143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0571" y="2830286"/>
            <a:ext cx="5243286" cy="616857"/>
          </a:xfrm>
          <a:custGeom>
            <a:avLst/>
            <a:gdLst/>
            <a:ahLst/>
            <a:cxnLst/>
            <a:rect l="l" t="t" r="r" b="b"/>
            <a:pathLst>
              <a:path w="5243286" h="616857">
                <a:moveTo>
                  <a:pt x="72573" y="0"/>
                </a:moveTo>
                <a:lnTo>
                  <a:pt x="5170712" y="0"/>
                </a:lnTo>
                <a:cubicBezTo>
                  <a:pt x="5210794" y="0"/>
                  <a:pt x="5243286" y="32492"/>
                  <a:pt x="5243286" y="72573"/>
                </a:cubicBezTo>
                <a:lnTo>
                  <a:pt x="5243286" y="544284"/>
                </a:lnTo>
                <a:cubicBezTo>
                  <a:pt x="5243286" y="584365"/>
                  <a:pt x="5210794" y="616857"/>
                  <a:pt x="5170712" y="616857"/>
                </a:cubicBezTo>
                <a:lnTo>
                  <a:pt x="72573" y="616857"/>
                </a:lnTo>
                <a:cubicBezTo>
                  <a:pt x="32519" y="616857"/>
                  <a:pt x="0" y="584338"/>
                  <a:pt x="0" y="544284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5509" y="2968171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4551" y="2939143"/>
            <a:ext cx="487394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Aligns with Azure API Management standards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5509" y="318588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4551" y="3156857"/>
            <a:ext cx="487394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gradual API evolution without breaking changes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04857" y="1524000"/>
            <a:ext cx="5624286" cy="2104571"/>
          </a:xfrm>
          <a:custGeom>
            <a:avLst/>
            <a:gdLst/>
            <a:ahLst/>
            <a:cxnLst/>
            <a:rect l="l" t="t" r="r" b="b"/>
            <a:pathLst>
              <a:path w="5624286" h="2104571">
                <a:moveTo>
                  <a:pt x="36286" y="0"/>
                </a:moveTo>
                <a:lnTo>
                  <a:pt x="5515437" y="0"/>
                </a:lnTo>
                <a:cubicBezTo>
                  <a:pt x="5575553" y="0"/>
                  <a:pt x="5624286" y="48733"/>
                  <a:pt x="5624286" y="108848"/>
                </a:cubicBezTo>
                <a:lnTo>
                  <a:pt x="5624286" y="1995723"/>
                </a:lnTo>
                <a:cubicBezTo>
                  <a:pt x="5624286" y="2055838"/>
                  <a:pt x="5575553" y="2104571"/>
                  <a:pt x="5515437" y="2104571"/>
                </a:cubicBezTo>
                <a:lnTo>
                  <a:pt x="36286" y="2104571"/>
                </a:lnTo>
                <a:cubicBezTo>
                  <a:pt x="16246" y="2104571"/>
                  <a:pt x="0" y="2088326"/>
                  <a:pt x="0" y="2068286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071" dist="9071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04857" y="1524000"/>
            <a:ext cx="36286" cy="2104571"/>
          </a:xfrm>
          <a:custGeom>
            <a:avLst/>
            <a:gdLst/>
            <a:ahLst/>
            <a:cxnLst/>
            <a:rect l="l" t="t" r="r" b="b"/>
            <a:pathLst>
              <a:path w="36286" h="2104571">
                <a:moveTo>
                  <a:pt x="36286" y="0"/>
                </a:moveTo>
                <a:lnTo>
                  <a:pt x="36286" y="0"/>
                </a:lnTo>
                <a:lnTo>
                  <a:pt x="36286" y="2104571"/>
                </a:lnTo>
                <a:lnTo>
                  <a:pt x="36286" y="2104571"/>
                </a:lnTo>
                <a:cubicBezTo>
                  <a:pt x="16246" y="2104571"/>
                  <a:pt x="0" y="2088326"/>
                  <a:pt x="0" y="2068286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4429" y="1705429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1429" y="1832429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90714" y="0"/>
                </a:moveTo>
                <a:cubicBezTo>
                  <a:pt x="95923" y="0"/>
                  <a:pt x="100707" y="2870"/>
                  <a:pt x="103188" y="7441"/>
                </a:cubicBezTo>
                <a:lnTo>
                  <a:pt x="179728" y="149182"/>
                </a:lnTo>
                <a:cubicBezTo>
                  <a:pt x="182102" y="153576"/>
                  <a:pt x="181996" y="158892"/>
                  <a:pt x="179444" y="163179"/>
                </a:cubicBezTo>
                <a:cubicBezTo>
                  <a:pt x="176893" y="167467"/>
                  <a:pt x="172251" y="170089"/>
                  <a:pt x="167254" y="170089"/>
                </a:cubicBezTo>
                <a:lnTo>
                  <a:pt x="14174" y="170089"/>
                </a:lnTo>
                <a:cubicBezTo>
                  <a:pt x="9178" y="170089"/>
                  <a:pt x="4571" y="167467"/>
                  <a:pt x="1984" y="163179"/>
                </a:cubicBezTo>
                <a:cubicBezTo>
                  <a:pt x="-602" y="158892"/>
                  <a:pt x="-673" y="153576"/>
                  <a:pt x="1701" y="149182"/>
                </a:cubicBezTo>
                <a:lnTo>
                  <a:pt x="78241" y="7441"/>
                </a:lnTo>
                <a:cubicBezTo>
                  <a:pt x="80722" y="2870"/>
                  <a:pt x="85505" y="0"/>
                  <a:pt x="90714" y="0"/>
                </a:cubicBezTo>
                <a:close/>
                <a:moveTo>
                  <a:pt x="90714" y="59531"/>
                </a:moveTo>
                <a:cubicBezTo>
                  <a:pt x="86001" y="59531"/>
                  <a:pt x="82210" y="63323"/>
                  <a:pt x="82210" y="68036"/>
                </a:cubicBezTo>
                <a:lnTo>
                  <a:pt x="82210" y="107723"/>
                </a:lnTo>
                <a:cubicBezTo>
                  <a:pt x="82210" y="112436"/>
                  <a:pt x="86001" y="116228"/>
                  <a:pt x="90714" y="116228"/>
                </a:cubicBezTo>
                <a:cubicBezTo>
                  <a:pt x="95427" y="116228"/>
                  <a:pt x="99219" y="112436"/>
                  <a:pt x="99219" y="107723"/>
                </a:cubicBezTo>
                <a:lnTo>
                  <a:pt x="99219" y="68036"/>
                </a:lnTo>
                <a:cubicBezTo>
                  <a:pt x="99219" y="63323"/>
                  <a:pt x="95427" y="59531"/>
                  <a:pt x="90714" y="59531"/>
                </a:cubicBezTo>
                <a:close/>
                <a:moveTo>
                  <a:pt x="100176" y="136071"/>
                </a:moveTo>
                <a:cubicBezTo>
                  <a:pt x="100391" y="132560"/>
                  <a:pt x="98639" y="129218"/>
                  <a:pt x="95629" y="127397"/>
                </a:cubicBezTo>
                <a:cubicBezTo>
                  <a:pt x="92618" y="125576"/>
                  <a:pt x="88846" y="125576"/>
                  <a:pt x="85835" y="127397"/>
                </a:cubicBezTo>
                <a:cubicBezTo>
                  <a:pt x="82825" y="129218"/>
                  <a:pt x="81073" y="132560"/>
                  <a:pt x="81289" y="136071"/>
                </a:cubicBezTo>
                <a:cubicBezTo>
                  <a:pt x="81073" y="139583"/>
                  <a:pt x="82825" y="142925"/>
                  <a:pt x="85835" y="144746"/>
                </a:cubicBezTo>
                <a:cubicBezTo>
                  <a:pt x="88846" y="146567"/>
                  <a:pt x="92618" y="146567"/>
                  <a:pt x="95629" y="144746"/>
                </a:cubicBezTo>
                <a:cubicBezTo>
                  <a:pt x="98639" y="142925"/>
                  <a:pt x="100391" y="139583"/>
                  <a:pt x="100176" y="136071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8714" y="1796143"/>
            <a:ext cx="12246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Contract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4429" y="2249714"/>
            <a:ext cx="5315857" cy="47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3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Uniform validation and exception error contract with standardized error envelopes and HTTP headers.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4429" y="2830286"/>
            <a:ext cx="5243286" cy="616857"/>
          </a:xfrm>
          <a:custGeom>
            <a:avLst/>
            <a:gdLst/>
            <a:ahLst/>
            <a:cxnLst/>
            <a:rect l="l" t="t" r="r" b="b"/>
            <a:pathLst>
              <a:path w="5243286" h="616857">
                <a:moveTo>
                  <a:pt x="72573" y="0"/>
                </a:moveTo>
                <a:lnTo>
                  <a:pt x="5170712" y="0"/>
                </a:lnTo>
                <a:cubicBezTo>
                  <a:pt x="5210794" y="0"/>
                  <a:pt x="5243286" y="32492"/>
                  <a:pt x="5243286" y="72573"/>
                </a:cubicBezTo>
                <a:lnTo>
                  <a:pt x="5243286" y="544284"/>
                </a:lnTo>
                <a:cubicBezTo>
                  <a:pt x="5243286" y="584365"/>
                  <a:pt x="5210794" y="616857"/>
                  <a:pt x="5170712" y="616857"/>
                </a:cubicBezTo>
                <a:lnTo>
                  <a:pt x="72573" y="616857"/>
                </a:lnTo>
                <a:cubicBezTo>
                  <a:pt x="32519" y="616857"/>
                  <a:pt x="0" y="584338"/>
                  <a:pt x="0" y="544284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39366" y="2968171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28408" y="2939143"/>
            <a:ext cx="487394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error structure across all endpoints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39366" y="318588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28408" y="3156857"/>
            <a:ext cx="487394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Machine-readable error codes for client handling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3810000"/>
            <a:ext cx="5624286" cy="1868714"/>
          </a:xfrm>
          <a:custGeom>
            <a:avLst/>
            <a:gdLst/>
            <a:ahLst/>
            <a:cxnLst/>
            <a:rect l="l" t="t" r="r" b="b"/>
            <a:pathLst>
              <a:path w="5624286" h="1868714">
                <a:moveTo>
                  <a:pt x="36286" y="0"/>
                </a:moveTo>
                <a:lnTo>
                  <a:pt x="5515433" y="0"/>
                </a:lnTo>
                <a:cubicBezTo>
                  <a:pt x="5575510" y="0"/>
                  <a:pt x="5624286" y="48775"/>
                  <a:pt x="5624286" y="108853"/>
                </a:cubicBezTo>
                <a:lnTo>
                  <a:pt x="5624286" y="1759862"/>
                </a:lnTo>
                <a:cubicBezTo>
                  <a:pt x="5624286" y="1819939"/>
                  <a:pt x="5575510" y="1868714"/>
                  <a:pt x="5515433" y="1868714"/>
                </a:cubicBezTo>
                <a:lnTo>
                  <a:pt x="36286" y="1868714"/>
                </a:lnTo>
                <a:cubicBezTo>
                  <a:pt x="16246" y="1868714"/>
                  <a:pt x="0" y="1852469"/>
                  <a:pt x="0" y="1832429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071" dist="9071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1000" y="3810000"/>
            <a:ext cx="36286" cy="1868714"/>
          </a:xfrm>
          <a:custGeom>
            <a:avLst/>
            <a:gdLst/>
            <a:ahLst/>
            <a:cxnLst/>
            <a:rect l="l" t="t" r="r" b="b"/>
            <a:pathLst>
              <a:path w="36286" h="1868714">
                <a:moveTo>
                  <a:pt x="36286" y="0"/>
                </a:moveTo>
                <a:lnTo>
                  <a:pt x="36286" y="0"/>
                </a:lnTo>
                <a:lnTo>
                  <a:pt x="36286" y="1868714"/>
                </a:lnTo>
                <a:lnTo>
                  <a:pt x="36286" y="1868714"/>
                </a:lnTo>
                <a:cubicBezTo>
                  <a:pt x="16246" y="1868714"/>
                  <a:pt x="0" y="1852469"/>
                  <a:pt x="0" y="1832429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0571" y="3991429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07571" y="4118429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17009" y="90714"/>
                </a:moveTo>
                <a:cubicBezTo>
                  <a:pt x="17009" y="49999"/>
                  <a:pt x="49999" y="17009"/>
                  <a:pt x="90714" y="17009"/>
                </a:cubicBezTo>
                <a:cubicBezTo>
                  <a:pt x="113074" y="17009"/>
                  <a:pt x="133095" y="26966"/>
                  <a:pt x="146631" y="42699"/>
                </a:cubicBezTo>
                <a:cubicBezTo>
                  <a:pt x="149679" y="46278"/>
                  <a:pt x="155065" y="46668"/>
                  <a:pt x="158608" y="43621"/>
                </a:cubicBezTo>
                <a:cubicBezTo>
                  <a:pt x="162152" y="40573"/>
                  <a:pt x="162577" y="35187"/>
                  <a:pt x="159530" y="31644"/>
                </a:cubicBezTo>
                <a:cubicBezTo>
                  <a:pt x="142910" y="12261"/>
                  <a:pt x="118247" y="0"/>
                  <a:pt x="90714" y="0"/>
                </a:cubicBezTo>
                <a:cubicBezTo>
                  <a:pt x="40609" y="0"/>
                  <a:pt x="0" y="40609"/>
                  <a:pt x="0" y="90714"/>
                </a:cubicBezTo>
                <a:lnTo>
                  <a:pt x="0" y="104888"/>
                </a:lnTo>
                <a:cubicBezTo>
                  <a:pt x="0" y="109601"/>
                  <a:pt x="3792" y="113393"/>
                  <a:pt x="8504" y="113393"/>
                </a:cubicBezTo>
                <a:cubicBezTo>
                  <a:pt x="13217" y="113393"/>
                  <a:pt x="17009" y="109601"/>
                  <a:pt x="17009" y="104888"/>
                </a:cubicBezTo>
                <a:lnTo>
                  <a:pt x="17009" y="90714"/>
                </a:lnTo>
                <a:close/>
                <a:moveTo>
                  <a:pt x="179480" y="71969"/>
                </a:moveTo>
                <a:cubicBezTo>
                  <a:pt x="178523" y="67362"/>
                  <a:pt x="173987" y="64421"/>
                  <a:pt x="169416" y="65414"/>
                </a:cubicBezTo>
                <a:cubicBezTo>
                  <a:pt x="164845" y="66406"/>
                  <a:pt x="161868" y="70906"/>
                  <a:pt x="162860" y="75477"/>
                </a:cubicBezTo>
                <a:cubicBezTo>
                  <a:pt x="163888" y="80403"/>
                  <a:pt x="164455" y="85505"/>
                  <a:pt x="164455" y="90750"/>
                </a:cubicBezTo>
                <a:lnTo>
                  <a:pt x="164455" y="104924"/>
                </a:lnTo>
                <a:cubicBezTo>
                  <a:pt x="164455" y="109637"/>
                  <a:pt x="168247" y="113428"/>
                  <a:pt x="172960" y="113428"/>
                </a:cubicBezTo>
                <a:cubicBezTo>
                  <a:pt x="177672" y="113428"/>
                  <a:pt x="181464" y="109637"/>
                  <a:pt x="181464" y="104924"/>
                </a:cubicBezTo>
                <a:lnTo>
                  <a:pt x="181464" y="90750"/>
                </a:lnTo>
                <a:cubicBezTo>
                  <a:pt x="181464" y="84336"/>
                  <a:pt x="180791" y="78064"/>
                  <a:pt x="179515" y="72004"/>
                </a:cubicBezTo>
                <a:close/>
                <a:moveTo>
                  <a:pt x="90714" y="28348"/>
                </a:moveTo>
                <a:cubicBezTo>
                  <a:pt x="83982" y="28348"/>
                  <a:pt x="77461" y="29411"/>
                  <a:pt x="71402" y="31396"/>
                </a:cubicBezTo>
                <a:cubicBezTo>
                  <a:pt x="66016" y="33167"/>
                  <a:pt x="64776" y="39794"/>
                  <a:pt x="68461" y="44117"/>
                </a:cubicBezTo>
                <a:cubicBezTo>
                  <a:pt x="70977" y="47058"/>
                  <a:pt x="75123" y="47944"/>
                  <a:pt x="78879" y="46916"/>
                </a:cubicBezTo>
                <a:cubicBezTo>
                  <a:pt x="82635" y="45889"/>
                  <a:pt x="86604" y="45357"/>
                  <a:pt x="90714" y="45357"/>
                </a:cubicBezTo>
                <a:cubicBezTo>
                  <a:pt x="115767" y="45357"/>
                  <a:pt x="136071" y="65662"/>
                  <a:pt x="136071" y="90714"/>
                </a:cubicBezTo>
                <a:lnTo>
                  <a:pt x="136071" y="99538"/>
                </a:lnTo>
                <a:cubicBezTo>
                  <a:pt x="136071" y="108467"/>
                  <a:pt x="135540" y="117362"/>
                  <a:pt x="134512" y="126220"/>
                </a:cubicBezTo>
                <a:cubicBezTo>
                  <a:pt x="133910" y="131394"/>
                  <a:pt x="137843" y="136071"/>
                  <a:pt x="143088" y="136071"/>
                </a:cubicBezTo>
                <a:cubicBezTo>
                  <a:pt x="147269" y="136071"/>
                  <a:pt x="150848" y="133024"/>
                  <a:pt x="151344" y="128878"/>
                </a:cubicBezTo>
                <a:cubicBezTo>
                  <a:pt x="152513" y="119169"/>
                  <a:pt x="153116" y="109389"/>
                  <a:pt x="153116" y="99573"/>
                </a:cubicBezTo>
                <a:lnTo>
                  <a:pt x="153116" y="90750"/>
                </a:lnTo>
                <a:cubicBezTo>
                  <a:pt x="153116" y="56307"/>
                  <a:pt x="125193" y="28384"/>
                  <a:pt x="90750" y="28384"/>
                </a:cubicBezTo>
                <a:close/>
                <a:moveTo>
                  <a:pt x="53401" y="52692"/>
                </a:moveTo>
                <a:cubicBezTo>
                  <a:pt x="50176" y="48936"/>
                  <a:pt x="44436" y="48653"/>
                  <a:pt x="41388" y="52551"/>
                </a:cubicBezTo>
                <a:cubicBezTo>
                  <a:pt x="33203" y="63110"/>
                  <a:pt x="28348" y="76328"/>
                  <a:pt x="28348" y="90714"/>
                </a:cubicBezTo>
                <a:lnTo>
                  <a:pt x="28348" y="99538"/>
                </a:lnTo>
                <a:cubicBezTo>
                  <a:pt x="28348" y="108113"/>
                  <a:pt x="27427" y="116688"/>
                  <a:pt x="25584" y="125016"/>
                </a:cubicBezTo>
                <a:cubicBezTo>
                  <a:pt x="24379" y="130544"/>
                  <a:pt x="28384" y="136036"/>
                  <a:pt x="34053" y="136036"/>
                </a:cubicBezTo>
                <a:cubicBezTo>
                  <a:pt x="37774" y="136036"/>
                  <a:pt x="41105" y="133556"/>
                  <a:pt x="41920" y="129906"/>
                </a:cubicBezTo>
                <a:cubicBezTo>
                  <a:pt x="44188" y="119948"/>
                  <a:pt x="45357" y="109778"/>
                  <a:pt x="45357" y="99502"/>
                </a:cubicBezTo>
                <a:lnTo>
                  <a:pt x="45357" y="90679"/>
                </a:lnTo>
                <a:cubicBezTo>
                  <a:pt x="45357" y="81040"/>
                  <a:pt x="48369" y="72111"/>
                  <a:pt x="53472" y="64776"/>
                </a:cubicBezTo>
                <a:cubicBezTo>
                  <a:pt x="56023" y="61090"/>
                  <a:pt x="56307" y="56059"/>
                  <a:pt x="53401" y="52657"/>
                </a:cubicBezTo>
                <a:close/>
                <a:moveTo>
                  <a:pt x="90714" y="56696"/>
                </a:moveTo>
                <a:cubicBezTo>
                  <a:pt x="71934" y="56696"/>
                  <a:pt x="56696" y="71934"/>
                  <a:pt x="56696" y="90714"/>
                </a:cubicBezTo>
                <a:lnTo>
                  <a:pt x="56696" y="99538"/>
                </a:lnTo>
                <a:cubicBezTo>
                  <a:pt x="56696" y="112259"/>
                  <a:pt x="55066" y="124874"/>
                  <a:pt x="51806" y="137134"/>
                </a:cubicBezTo>
                <a:cubicBezTo>
                  <a:pt x="50460" y="142202"/>
                  <a:pt x="54181" y="147411"/>
                  <a:pt x="59425" y="147411"/>
                </a:cubicBezTo>
                <a:cubicBezTo>
                  <a:pt x="62791" y="147411"/>
                  <a:pt x="65768" y="145214"/>
                  <a:pt x="66654" y="141954"/>
                </a:cubicBezTo>
                <a:cubicBezTo>
                  <a:pt x="70374" y="128134"/>
                  <a:pt x="72288" y="113889"/>
                  <a:pt x="72288" y="99538"/>
                </a:cubicBezTo>
                <a:lnTo>
                  <a:pt x="72288" y="90714"/>
                </a:lnTo>
                <a:cubicBezTo>
                  <a:pt x="72288" y="80544"/>
                  <a:pt x="80544" y="72288"/>
                  <a:pt x="90714" y="72288"/>
                </a:cubicBezTo>
                <a:cubicBezTo>
                  <a:pt x="100884" y="72288"/>
                  <a:pt x="109141" y="80544"/>
                  <a:pt x="109141" y="90714"/>
                </a:cubicBezTo>
                <a:lnTo>
                  <a:pt x="109141" y="99538"/>
                </a:lnTo>
                <a:cubicBezTo>
                  <a:pt x="109141" y="112401"/>
                  <a:pt x="107900" y="125193"/>
                  <a:pt x="105455" y="137772"/>
                </a:cubicBezTo>
                <a:cubicBezTo>
                  <a:pt x="104499" y="142698"/>
                  <a:pt x="108184" y="147411"/>
                  <a:pt x="113180" y="147411"/>
                </a:cubicBezTo>
                <a:cubicBezTo>
                  <a:pt x="116795" y="147411"/>
                  <a:pt x="119913" y="144930"/>
                  <a:pt x="120622" y="141387"/>
                </a:cubicBezTo>
                <a:cubicBezTo>
                  <a:pt x="123350" y="127638"/>
                  <a:pt x="124732" y="113641"/>
                  <a:pt x="124732" y="99538"/>
                </a:cubicBezTo>
                <a:lnTo>
                  <a:pt x="124732" y="90714"/>
                </a:lnTo>
                <a:cubicBezTo>
                  <a:pt x="124732" y="71934"/>
                  <a:pt x="109495" y="56696"/>
                  <a:pt x="90714" y="56696"/>
                </a:cubicBezTo>
                <a:close/>
                <a:moveTo>
                  <a:pt x="99219" y="90714"/>
                </a:moveTo>
                <a:cubicBezTo>
                  <a:pt x="99219" y="86001"/>
                  <a:pt x="95427" y="82210"/>
                  <a:pt x="90714" y="82210"/>
                </a:cubicBezTo>
                <a:cubicBezTo>
                  <a:pt x="86001" y="82210"/>
                  <a:pt x="82210" y="86001"/>
                  <a:pt x="82210" y="90714"/>
                </a:cubicBezTo>
                <a:lnTo>
                  <a:pt x="82210" y="99538"/>
                </a:lnTo>
                <a:cubicBezTo>
                  <a:pt x="82210" y="120763"/>
                  <a:pt x="78312" y="141812"/>
                  <a:pt x="70693" y="161620"/>
                </a:cubicBezTo>
                <a:lnTo>
                  <a:pt x="68603" y="167042"/>
                </a:lnTo>
                <a:cubicBezTo>
                  <a:pt x="66902" y="171436"/>
                  <a:pt x="69099" y="176361"/>
                  <a:pt x="73493" y="178027"/>
                </a:cubicBezTo>
                <a:cubicBezTo>
                  <a:pt x="77887" y="179692"/>
                  <a:pt x="82812" y="177531"/>
                  <a:pt x="84478" y="173137"/>
                </a:cubicBezTo>
                <a:lnTo>
                  <a:pt x="86568" y="167715"/>
                </a:lnTo>
                <a:cubicBezTo>
                  <a:pt x="94931" y="145958"/>
                  <a:pt x="99219" y="122854"/>
                  <a:pt x="99219" y="99538"/>
                </a:cubicBezTo>
                <a:lnTo>
                  <a:pt x="99219" y="90714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24857" y="4082143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Tracing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0571" y="4535714"/>
            <a:ext cx="5315857" cy="23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3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request tracing with </a:t>
            </a:r>
            <a:r>
              <a:rPr lang="en-US" sz="1000" dirty="0">
                <a:solidFill>
                  <a:srgbClr val="26A2DB"/>
                </a:solidFill>
                <a:highlight>
                  <a:srgbClr val="26A2DB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x-ms-request-id </a:t>
            </a:r>
            <a:r>
              <a:rPr lang="en-US" sz="1143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propagation.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0571" y="4880429"/>
            <a:ext cx="5243286" cy="616857"/>
          </a:xfrm>
          <a:custGeom>
            <a:avLst/>
            <a:gdLst/>
            <a:ahLst/>
            <a:cxnLst/>
            <a:rect l="l" t="t" r="r" b="b"/>
            <a:pathLst>
              <a:path w="5243286" h="616857">
                <a:moveTo>
                  <a:pt x="72573" y="0"/>
                </a:moveTo>
                <a:lnTo>
                  <a:pt x="5170712" y="0"/>
                </a:lnTo>
                <a:cubicBezTo>
                  <a:pt x="5210794" y="0"/>
                  <a:pt x="5243286" y="32492"/>
                  <a:pt x="5243286" y="72573"/>
                </a:cubicBezTo>
                <a:lnTo>
                  <a:pt x="5243286" y="544284"/>
                </a:lnTo>
                <a:cubicBezTo>
                  <a:pt x="5243286" y="584365"/>
                  <a:pt x="5210794" y="616857"/>
                  <a:pt x="5170712" y="616857"/>
                </a:cubicBezTo>
                <a:lnTo>
                  <a:pt x="72573" y="616857"/>
                </a:lnTo>
                <a:cubicBezTo>
                  <a:pt x="32519" y="616857"/>
                  <a:pt x="0" y="584338"/>
                  <a:pt x="0" y="544284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5509" y="501831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04551" y="4989286"/>
            <a:ext cx="487394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request correlation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5509" y="523602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04551" y="5207000"/>
            <a:ext cx="487394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Simplified debugging and log analysis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04857" y="3810000"/>
            <a:ext cx="5624286" cy="1868714"/>
          </a:xfrm>
          <a:custGeom>
            <a:avLst/>
            <a:gdLst/>
            <a:ahLst/>
            <a:cxnLst/>
            <a:rect l="l" t="t" r="r" b="b"/>
            <a:pathLst>
              <a:path w="5624286" h="1868714">
                <a:moveTo>
                  <a:pt x="36286" y="0"/>
                </a:moveTo>
                <a:lnTo>
                  <a:pt x="5515433" y="0"/>
                </a:lnTo>
                <a:cubicBezTo>
                  <a:pt x="5575510" y="0"/>
                  <a:pt x="5624286" y="48775"/>
                  <a:pt x="5624286" y="108853"/>
                </a:cubicBezTo>
                <a:lnTo>
                  <a:pt x="5624286" y="1759862"/>
                </a:lnTo>
                <a:cubicBezTo>
                  <a:pt x="5624286" y="1819939"/>
                  <a:pt x="5575510" y="1868714"/>
                  <a:pt x="5515433" y="1868714"/>
                </a:cubicBezTo>
                <a:lnTo>
                  <a:pt x="36286" y="1868714"/>
                </a:lnTo>
                <a:cubicBezTo>
                  <a:pt x="16246" y="1868714"/>
                  <a:pt x="0" y="1852469"/>
                  <a:pt x="0" y="1832429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071" dist="9071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04857" y="3810000"/>
            <a:ext cx="36286" cy="1868714"/>
          </a:xfrm>
          <a:custGeom>
            <a:avLst/>
            <a:gdLst/>
            <a:ahLst/>
            <a:cxnLst/>
            <a:rect l="l" t="t" r="r" b="b"/>
            <a:pathLst>
              <a:path w="36286" h="1868714">
                <a:moveTo>
                  <a:pt x="36286" y="0"/>
                </a:moveTo>
                <a:lnTo>
                  <a:pt x="36286" y="0"/>
                </a:lnTo>
                <a:lnTo>
                  <a:pt x="36286" y="1868714"/>
                </a:lnTo>
                <a:lnTo>
                  <a:pt x="36286" y="1868714"/>
                </a:lnTo>
                <a:cubicBezTo>
                  <a:pt x="16246" y="1868714"/>
                  <a:pt x="0" y="1852469"/>
                  <a:pt x="0" y="1832429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04429" y="3991429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508750" y="4118429"/>
            <a:ext cx="226786" cy="181429"/>
          </a:xfrm>
          <a:custGeom>
            <a:avLst/>
            <a:gdLst/>
            <a:ahLst/>
            <a:cxnLst/>
            <a:rect l="l" t="t" r="r" b="b"/>
            <a:pathLst>
              <a:path w="226786" h="181429">
                <a:moveTo>
                  <a:pt x="147375" y="74591"/>
                </a:moveTo>
                <a:cubicBezTo>
                  <a:pt x="151698" y="73422"/>
                  <a:pt x="156234" y="75477"/>
                  <a:pt x="158183" y="79481"/>
                </a:cubicBezTo>
                <a:lnTo>
                  <a:pt x="164774" y="92805"/>
                </a:lnTo>
                <a:cubicBezTo>
                  <a:pt x="168424" y="93301"/>
                  <a:pt x="172003" y="94293"/>
                  <a:pt x="175369" y="95675"/>
                </a:cubicBezTo>
                <a:lnTo>
                  <a:pt x="187771" y="87419"/>
                </a:lnTo>
                <a:cubicBezTo>
                  <a:pt x="191492" y="84938"/>
                  <a:pt x="196418" y="85434"/>
                  <a:pt x="199571" y="88588"/>
                </a:cubicBezTo>
                <a:lnTo>
                  <a:pt x="206375" y="95392"/>
                </a:lnTo>
                <a:cubicBezTo>
                  <a:pt x="209529" y="98545"/>
                  <a:pt x="210025" y="103506"/>
                  <a:pt x="207544" y="107192"/>
                </a:cubicBezTo>
                <a:lnTo>
                  <a:pt x="199288" y="119559"/>
                </a:lnTo>
                <a:cubicBezTo>
                  <a:pt x="199961" y="121224"/>
                  <a:pt x="200564" y="122960"/>
                  <a:pt x="201060" y="124768"/>
                </a:cubicBezTo>
                <a:cubicBezTo>
                  <a:pt x="201556" y="126575"/>
                  <a:pt x="201875" y="128347"/>
                  <a:pt x="202123" y="130154"/>
                </a:cubicBezTo>
                <a:lnTo>
                  <a:pt x="215482" y="136745"/>
                </a:lnTo>
                <a:cubicBezTo>
                  <a:pt x="219486" y="138729"/>
                  <a:pt x="221541" y="143265"/>
                  <a:pt x="220372" y="147552"/>
                </a:cubicBezTo>
                <a:lnTo>
                  <a:pt x="217891" y="156836"/>
                </a:lnTo>
                <a:cubicBezTo>
                  <a:pt x="216722" y="161124"/>
                  <a:pt x="212718" y="164030"/>
                  <a:pt x="208253" y="163746"/>
                </a:cubicBezTo>
                <a:lnTo>
                  <a:pt x="193370" y="162790"/>
                </a:lnTo>
                <a:cubicBezTo>
                  <a:pt x="191138" y="165660"/>
                  <a:pt x="188551" y="168318"/>
                  <a:pt x="185610" y="170585"/>
                </a:cubicBezTo>
                <a:lnTo>
                  <a:pt x="186567" y="185433"/>
                </a:lnTo>
                <a:cubicBezTo>
                  <a:pt x="186850" y="189898"/>
                  <a:pt x="183944" y="193937"/>
                  <a:pt x="179657" y="195071"/>
                </a:cubicBezTo>
                <a:lnTo>
                  <a:pt x="170373" y="197552"/>
                </a:lnTo>
                <a:cubicBezTo>
                  <a:pt x="166050" y="198721"/>
                  <a:pt x="161549" y="196666"/>
                  <a:pt x="159565" y="192662"/>
                </a:cubicBezTo>
                <a:lnTo>
                  <a:pt x="152974" y="179338"/>
                </a:lnTo>
                <a:cubicBezTo>
                  <a:pt x="149324" y="178842"/>
                  <a:pt x="145745" y="177850"/>
                  <a:pt x="142379" y="176468"/>
                </a:cubicBezTo>
                <a:lnTo>
                  <a:pt x="129977" y="184724"/>
                </a:lnTo>
                <a:cubicBezTo>
                  <a:pt x="126256" y="187205"/>
                  <a:pt x="121330" y="186708"/>
                  <a:pt x="118177" y="183555"/>
                </a:cubicBezTo>
                <a:lnTo>
                  <a:pt x="111373" y="176751"/>
                </a:lnTo>
                <a:cubicBezTo>
                  <a:pt x="108219" y="173597"/>
                  <a:pt x="107723" y="168672"/>
                  <a:pt x="110204" y="164951"/>
                </a:cubicBezTo>
                <a:lnTo>
                  <a:pt x="118460" y="152549"/>
                </a:lnTo>
                <a:cubicBezTo>
                  <a:pt x="117787" y="150883"/>
                  <a:pt x="117184" y="149147"/>
                  <a:pt x="116688" y="147340"/>
                </a:cubicBezTo>
                <a:cubicBezTo>
                  <a:pt x="116192" y="145533"/>
                  <a:pt x="115873" y="143725"/>
                  <a:pt x="115625" y="141954"/>
                </a:cubicBezTo>
                <a:lnTo>
                  <a:pt x="102266" y="135363"/>
                </a:lnTo>
                <a:cubicBezTo>
                  <a:pt x="98262" y="133378"/>
                  <a:pt x="96242" y="128843"/>
                  <a:pt x="97376" y="124555"/>
                </a:cubicBezTo>
                <a:lnTo>
                  <a:pt x="99857" y="115271"/>
                </a:lnTo>
                <a:cubicBezTo>
                  <a:pt x="101026" y="110983"/>
                  <a:pt x="105030" y="108078"/>
                  <a:pt x="109495" y="108361"/>
                </a:cubicBezTo>
                <a:lnTo>
                  <a:pt x="124342" y="109318"/>
                </a:lnTo>
                <a:cubicBezTo>
                  <a:pt x="126575" y="106448"/>
                  <a:pt x="129162" y="103790"/>
                  <a:pt x="132103" y="101522"/>
                </a:cubicBezTo>
                <a:lnTo>
                  <a:pt x="131146" y="86710"/>
                </a:lnTo>
                <a:cubicBezTo>
                  <a:pt x="130862" y="82245"/>
                  <a:pt x="133768" y="78206"/>
                  <a:pt x="138056" y="77072"/>
                </a:cubicBezTo>
                <a:lnTo>
                  <a:pt x="147340" y="74591"/>
                </a:lnTo>
                <a:close/>
                <a:moveTo>
                  <a:pt x="158892" y="120480"/>
                </a:moveTo>
                <a:cubicBezTo>
                  <a:pt x="150287" y="120490"/>
                  <a:pt x="143308" y="127484"/>
                  <a:pt x="143318" y="136089"/>
                </a:cubicBezTo>
                <a:cubicBezTo>
                  <a:pt x="143328" y="144694"/>
                  <a:pt x="150322" y="151673"/>
                  <a:pt x="158927" y="151663"/>
                </a:cubicBezTo>
                <a:cubicBezTo>
                  <a:pt x="167532" y="151653"/>
                  <a:pt x="174511" y="144659"/>
                  <a:pt x="174501" y="136054"/>
                </a:cubicBezTo>
                <a:cubicBezTo>
                  <a:pt x="174491" y="127449"/>
                  <a:pt x="167497" y="120470"/>
                  <a:pt x="158892" y="120480"/>
                </a:cubicBezTo>
                <a:close/>
                <a:moveTo>
                  <a:pt x="79694" y="-16123"/>
                </a:moveTo>
                <a:lnTo>
                  <a:pt x="88978" y="-13643"/>
                </a:lnTo>
                <a:cubicBezTo>
                  <a:pt x="93266" y="-12473"/>
                  <a:pt x="96171" y="-8434"/>
                  <a:pt x="95888" y="-4004"/>
                </a:cubicBezTo>
                <a:lnTo>
                  <a:pt x="94931" y="10808"/>
                </a:lnTo>
                <a:cubicBezTo>
                  <a:pt x="97872" y="13076"/>
                  <a:pt x="100459" y="15698"/>
                  <a:pt x="102691" y="18604"/>
                </a:cubicBezTo>
                <a:lnTo>
                  <a:pt x="117574" y="17647"/>
                </a:lnTo>
                <a:cubicBezTo>
                  <a:pt x="122004" y="17363"/>
                  <a:pt x="126043" y="20269"/>
                  <a:pt x="127213" y="24557"/>
                </a:cubicBezTo>
                <a:lnTo>
                  <a:pt x="129693" y="33841"/>
                </a:lnTo>
                <a:cubicBezTo>
                  <a:pt x="130827" y="38128"/>
                  <a:pt x="128807" y="42664"/>
                  <a:pt x="124803" y="44648"/>
                </a:cubicBezTo>
                <a:lnTo>
                  <a:pt x="111444" y="51239"/>
                </a:lnTo>
                <a:cubicBezTo>
                  <a:pt x="111196" y="53047"/>
                  <a:pt x="110842" y="54854"/>
                  <a:pt x="110381" y="56626"/>
                </a:cubicBezTo>
                <a:cubicBezTo>
                  <a:pt x="109920" y="58397"/>
                  <a:pt x="109282" y="60169"/>
                  <a:pt x="108609" y="61835"/>
                </a:cubicBezTo>
                <a:lnTo>
                  <a:pt x="116866" y="74237"/>
                </a:lnTo>
                <a:cubicBezTo>
                  <a:pt x="119346" y="77958"/>
                  <a:pt x="118850" y="82883"/>
                  <a:pt x="115696" y="86037"/>
                </a:cubicBezTo>
                <a:lnTo>
                  <a:pt x="108893" y="92840"/>
                </a:lnTo>
                <a:cubicBezTo>
                  <a:pt x="105739" y="95994"/>
                  <a:pt x="100813" y="96490"/>
                  <a:pt x="97093" y="94010"/>
                </a:cubicBezTo>
                <a:lnTo>
                  <a:pt x="84690" y="85753"/>
                </a:lnTo>
                <a:cubicBezTo>
                  <a:pt x="81324" y="87135"/>
                  <a:pt x="77745" y="88128"/>
                  <a:pt x="74095" y="88624"/>
                </a:cubicBezTo>
                <a:lnTo>
                  <a:pt x="67504" y="101947"/>
                </a:lnTo>
                <a:cubicBezTo>
                  <a:pt x="65520" y="105951"/>
                  <a:pt x="60984" y="107971"/>
                  <a:pt x="56696" y="106837"/>
                </a:cubicBezTo>
                <a:lnTo>
                  <a:pt x="47412" y="104357"/>
                </a:lnTo>
                <a:cubicBezTo>
                  <a:pt x="43089" y="103188"/>
                  <a:pt x="40219" y="99148"/>
                  <a:pt x="40503" y="94718"/>
                </a:cubicBezTo>
                <a:lnTo>
                  <a:pt x="41459" y="79871"/>
                </a:lnTo>
                <a:cubicBezTo>
                  <a:pt x="38518" y="77603"/>
                  <a:pt x="35931" y="74981"/>
                  <a:pt x="33699" y="72075"/>
                </a:cubicBezTo>
                <a:lnTo>
                  <a:pt x="18816" y="73032"/>
                </a:lnTo>
                <a:cubicBezTo>
                  <a:pt x="14387" y="73316"/>
                  <a:pt x="10347" y="70410"/>
                  <a:pt x="9178" y="66122"/>
                </a:cubicBezTo>
                <a:lnTo>
                  <a:pt x="6697" y="56838"/>
                </a:lnTo>
                <a:cubicBezTo>
                  <a:pt x="5563" y="52551"/>
                  <a:pt x="7583" y="48015"/>
                  <a:pt x="11587" y="46030"/>
                </a:cubicBezTo>
                <a:lnTo>
                  <a:pt x="24946" y="39439"/>
                </a:lnTo>
                <a:cubicBezTo>
                  <a:pt x="25194" y="37632"/>
                  <a:pt x="25549" y="35860"/>
                  <a:pt x="26009" y="34053"/>
                </a:cubicBezTo>
                <a:cubicBezTo>
                  <a:pt x="26506" y="32246"/>
                  <a:pt x="27073" y="30510"/>
                  <a:pt x="27781" y="28844"/>
                </a:cubicBezTo>
                <a:lnTo>
                  <a:pt x="19525" y="16477"/>
                </a:lnTo>
                <a:cubicBezTo>
                  <a:pt x="17044" y="12757"/>
                  <a:pt x="17540" y="7831"/>
                  <a:pt x="20694" y="4677"/>
                </a:cubicBezTo>
                <a:lnTo>
                  <a:pt x="27498" y="-2126"/>
                </a:lnTo>
                <a:cubicBezTo>
                  <a:pt x="30652" y="-5280"/>
                  <a:pt x="35577" y="-5776"/>
                  <a:pt x="39298" y="-3295"/>
                </a:cubicBezTo>
                <a:lnTo>
                  <a:pt x="51700" y="4961"/>
                </a:lnTo>
                <a:cubicBezTo>
                  <a:pt x="55066" y="3579"/>
                  <a:pt x="58645" y="2587"/>
                  <a:pt x="62295" y="2091"/>
                </a:cubicBezTo>
                <a:lnTo>
                  <a:pt x="68886" y="-11233"/>
                </a:lnTo>
                <a:cubicBezTo>
                  <a:pt x="70871" y="-15237"/>
                  <a:pt x="75371" y="-17257"/>
                  <a:pt x="79694" y="-16123"/>
                </a:cubicBezTo>
                <a:close/>
                <a:moveTo>
                  <a:pt x="68177" y="29766"/>
                </a:moveTo>
                <a:cubicBezTo>
                  <a:pt x="59572" y="29766"/>
                  <a:pt x="52586" y="36752"/>
                  <a:pt x="52586" y="45357"/>
                </a:cubicBezTo>
                <a:cubicBezTo>
                  <a:pt x="52586" y="53962"/>
                  <a:pt x="59572" y="60949"/>
                  <a:pt x="68177" y="60949"/>
                </a:cubicBezTo>
                <a:cubicBezTo>
                  <a:pt x="76783" y="60949"/>
                  <a:pt x="83769" y="53962"/>
                  <a:pt x="83769" y="45357"/>
                </a:cubicBezTo>
                <a:cubicBezTo>
                  <a:pt x="83769" y="36752"/>
                  <a:pt x="76783" y="29766"/>
                  <a:pt x="68177" y="29766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48714" y="4082143"/>
            <a:ext cx="17054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Middleware Pipeline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4429" y="4535714"/>
            <a:ext cx="5315857" cy="23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3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API behavior through centralized middleware and extension registration.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4429" y="4880429"/>
            <a:ext cx="5243286" cy="616857"/>
          </a:xfrm>
          <a:custGeom>
            <a:avLst/>
            <a:gdLst/>
            <a:ahLst/>
            <a:cxnLst/>
            <a:rect l="l" t="t" r="r" b="b"/>
            <a:pathLst>
              <a:path w="5243286" h="616857">
                <a:moveTo>
                  <a:pt x="72573" y="0"/>
                </a:moveTo>
                <a:lnTo>
                  <a:pt x="5170712" y="0"/>
                </a:lnTo>
                <a:cubicBezTo>
                  <a:pt x="5210794" y="0"/>
                  <a:pt x="5243286" y="32492"/>
                  <a:pt x="5243286" y="72573"/>
                </a:cubicBezTo>
                <a:lnTo>
                  <a:pt x="5243286" y="544284"/>
                </a:lnTo>
                <a:cubicBezTo>
                  <a:pt x="5243286" y="584365"/>
                  <a:pt x="5210794" y="616857"/>
                  <a:pt x="5170712" y="616857"/>
                </a:cubicBezTo>
                <a:lnTo>
                  <a:pt x="72573" y="616857"/>
                </a:lnTo>
                <a:cubicBezTo>
                  <a:pt x="32519" y="616857"/>
                  <a:pt x="0" y="584338"/>
                  <a:pt x="0" y="544284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539366" y="501831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28408" y="4989286"/>
            <a:ext cx="487394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exception handling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39366" y="523602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728408" y="5207000"/>
            <a:ext cx="487394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Modular, testable middleware components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62857" y="5823857"/>
            <a:ext cx="11466286" cy="798286"/>
          </a:xfrm>
          <a:custGeom>
            <a:avLst/>
            <a:gdLst/>
            <a:ahLst/>
            <a:cxnLst/>
            <a:rect l="l" t="t" r="r" b="b"/>
            <a:pathLst>
              <a:path w="11466286" h="798286">
                <a:moveTo>
                  <a:pt x="108854" y="0"/>
                </a:moveTo>
                <a:lnTo>
                  <a:pt x="11357431" y="0"/>
                </a:lnTo>
                <a:cubicBezTo>
                  <a:pt x="11417550" y="0"/>
                  <a:pt x="11466286" y="48736"/>
                  <a:pt x="11466286" y="108854"/>
                </a:cubicBezTo>
                <a:lnTo>
                  <a:pt x="11466286" y="689431"/>
                </a:lnTo>
                <a:cubicBezTo>
                  <a:pt x="11466286" y="749550"/>
                  <a:pt x="11417550" y="798286"/>
                  <a:pt x="11357431" y="798286"/>
                </a:cubicBezTo>
                <a:lnTo>
                  <a:pt x="108854" y="798286"/>
                </a:lnTo>
                <a:cubicBezTo>
                  <a:pt x="48736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0F2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62429" y="6114143"/>
            <a:ext cx="163286" cy="217714"/>
          </a:xfrm>
          <a:custGeom>
            <a:avLst/>
            <a:gdLst/>
            <a:ahLst/>
            <a:cxnLst/>
            <a:rect l="l" t="t" r="r" b="b"/>
            <a:pathLst>
              <a:path w="163286" h="217714">
                <a:moveTo>
                  <a:pt x="124548" y="163286"/>
                </a:moveTo>
                <a:cubicBezTo>
                  <a:pt x="127652" y="153803"/>
                  <a:pt x="133860" y="145214"/>
                  <a:pt x="140876" y="137815"/>
                </a:cubicBezTo>
                <a:cubicBezTo>
                  <a:pt x="154781" y="123187"/>
                  <a:pt x="163286" y="103414"/>
                  <a:pt x="163286" y="81643"/>
                </a:cubicBezTo>
                <a:cubicBezTo>
                  <a:pt x="163286" y="36569"/>
                  <a:pt x="126717" y="0"/>
                  <a:pt x="81643" y="0"/>
                </a:cubicBezTo>
                <a:cubicBezTo>
                  <a:pt x="36569" y="0"/>
                  <a:pt x="0" y="36569"/>
                  <a:pt x="0" y="81643"/>
                </a:cubicBezTo>
                <a:cubicBezTo>
                  <a:pt x="0" y="103414"/>
                  <a:pt x="8504" y="123187"/>
                  <a:pt x="22409" y="137815"/>
                </a:cubicBezTo>
                <a:cubicBezTo>
                  <a:pt x="29425" y="145214"/>
                  <a:pt x="35676" y="153803"/>
                  <a:pt x="38738" y="163286"/>
                </a:cubicBezTo>
                <a:lnTo>
                  <a:pt x="124505" y="163286"/>
                </a:lnTo>
                <a:close/>
                <a:moveTo>
                  <a:pt x="122464" y="183696"/>
                </a:moveTo>
                <a:lnTo>
                  <a:pt x="40821" y="183696"/>
                </a:lnTo>
                <a:lnTo>
                  <a:pt x="40821" y="190500"/>
                </a:lnTo>
                <a:cubicBezTo>
                  <a:pt x="40821" y="209295"/>
                  <a:pt x="56044" y="224518"/>
                  <a:pt x="74839" y="224518"/>
                </a:cubicBezTo>
                <a:lnTo>
                  <a:pt x="88446" y="224518"/>
                </a:lnTo>
                <a:cubicBezTo>
                  <a:pt x="107241" y="224518"/>
                  <a:pt x="122464" y="209295"/>
                  <a:pt x="122464" y="190500"/>
                </a:cubicBezTo>
                <a:lnTo>
                  <a:pt x="122464" y="183696"/>
                </a:lnTo>
                <a:close/>
                <a:moveTo>
                  <a:pt x="78241" y="47625"/>
                </a:moveTo>
                <a:cubicBezTo>
                  <a:pt x="61317" y="47625"/>
                  <a:pt x="47625" y="61317"/>
                  <a:pt x="47625" y="78241"/>
                </a:cubicBezTo>
                <a:cubicBezTo>
                  <a:pt x="47625" y="83897"/>
                  <a:pt x="43075" y="88446"/>
                  <a:pt x="37420" y="88446"/>
                </a:cubicBezTo>
                <a:cubicBezTo>
                  <a:pt x="31764" y="88446"/>
                  <a:pt x="27214" y="83897"/>
                  <a:pt x="27214" y="78241"/>
                </a:cubicBezTo>
                <a:cubicBezTo>
                  <a:pt x="27214" y="50049"/>
                  <a:pt x="50049" y="27214"/>
                  <a:pt x="78241" y="27214"/>
                </a:cubicBezTo>
                <a:cubicBezTo>
                  <a:pt x="83897" y="27214"/>
                  <a:pt x="88446" y="31764"/>
                  <a:pt x="88446" y="37420"/>
                </a:cubicBezTo>
                <a:cubicBezTo>
                  <a:pt x="88446" y="43075"/>
                  <a:pt x="83897" y="47625"/>
                  <a:pt x="78241" y="47625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25286" y="6114143"/>
            <a:ext cx="6077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143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Governance-first design reduces integration friction and accelerates client adoption.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830719" y="5969000"/>
            <a:ext cx="852714" cy="32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43" b="1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903290" y="6295571"/>
            <a:ext cx="7801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43815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 and Idempotency Standard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811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Mandatory protection for state-changing operations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00200"/>
            <a:ext cx="6743700" cy="2352675"/>
          </a:xfrm>
          <a:custGeom>
            <a:avLst/>
            <a:gdLst/>
            <a:ahLst/>
            <a:cxnLst/>
            <a:rect l="l" t="t" r="r" b="b"/>
            <a:pathLst>
              <a:path w="6743700" h="2352675">
                <a:moveTo>
                  <a:pt x="114293" y="0"/>
                </a:moveTo>
                <a:lnTo>
                  <a:pt x="6629407" y="0"/>
                </a:lnTo>
                <a:cubicBezTo>
                  <a:pt x="6692529" y="0"/>
                  <a:pt x="6743700" y="51171"/>
                  <a:pt x="6743700" y="114293"/>
                </a:cubicBezTo>
                <a:lnTo>
                  <a:pt x="6743700" y="2238382"/>
                </a:lnTo>
                <a:cubicBezTo>
                  <a:pt x="6743700" y="2301504"/>
                  <a:pt x="6692529" y="2352675"/>
                  <a:pt x="6629407" y="2352675"/>
                </a:cubicBezTo>
                <a:lnTo>
                  <a:pt x="114293" y="2352675"/>
                </a:lnTo>
                <a:cubicBezTo>
                  <a:pt x="51171" y="2352675"/>
                  <a:pt x="0" y="2301504"/>
                  <a:pt x="0" y="22383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0F2D63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A2D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2390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57300" y="1790700"/>
            <a:ext cx="579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Idempotency is Mandatory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2171584"/>
            <a:ext cx="5753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6A2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 Rule: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endpoints requiring duplicate-request protection must implement idempotency.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61110" y="2784994"/>
            <a:ext cx="2769870" cy="426720"/>
          </a:xfrm>
          <a:custGeom>
            <a:avLst/>
            <a:gdLst/>
            <a:ahLst/>
            <a:cxnLst/>
            <a:rect l="l" t="t" r="r" b="b"/>
            <a:pathLst>
              <a:path w="2769870" h="426720">
                <a:moveTo>
                  <a:pt x="76199" y="0"/>
                </a:moveTo>
                <a:lnTo>
                  <a:pt x="2693671" y="0"/>
                </a:lnTo>
                <a:cubicBezTo>
                  <a:pt x="2735754" y="0"/>
                  <a:pt x="2769870" y="34116"/>
                  <a:pt x="2769870" y="76199"/>
                </a:cubicBezTo>
                <a:lnTo>
                  <a:pt x="2769870" y="350521"/>
                </a:lnTo>
                <a:cubicBezTo>
                  <a:pt x="2769870" y="392604"/>
                  <a:pt x="2735754" y="426720"/>
                  <a:pt x="2693671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 w="10160">
            <a:solidFill>
              <a:srgbClr val="26A2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98270" y="293358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7511" y="91678"/>
                </a:moveTo>
                <a:cubicBezTo>
                  <a:pt x="112827" y="91678"/>
                  <a:pt x="133350" y="71155"/>
                  <a:pt x="133350" y="45839"/>
                </a:cubicBezTo>
                <a:cubicBezTo>
                  <a:pt x="133350" y="20523"/>
                  <a:pt x="112827" y="0"/>
                  <a:pt x="87511" y="0"/>
                </a:cubicBezTo>
                <a:cubicBezTo>
                  <a:pt x="62195" y="0"/>
                  <a:pt x="41672" y="20523"/>
                  <a:pt x="41672" y="45839"/>
                </a:cubicBezTo>
                <a:cubicBezTo>
                  <a:pt x="41672" y="50709"/>
                  <a:pt x="42427" y="55424"/>
                  <a:pt x="43834" y="59825"/>
                </a:cubicBezTo>
                <a:lnTo>
                  <a:pt x="1823" y="101836"/>
                </a:lnTo>
                <a:cubicBezTo>
                  <a:pt x="651" y="103008"/>
                  <a:pt x="0" y="104596"/>
                  <a:pt x="0" y="106263"/>
                </a:cubicBezTo>
                <a:lnTo>
                  <a:pt x="0" y="127099"/>
                </a:lnTo>
                <a:cubicBezTo>
                  <a:pt x="0" y="130563"/>
                  <a:pt x="2787" y="133350"/>
                  <a:pt x="6251" y="133350"/>
                </a:cubicBezTo>
                <a:lnTo>
                  <a:pt x="27087" y="133350"/>
                </a:lnTo>
                <a:cubicBezTo>
                  <a:pt x="30551" y="133350"/>
                  <a:pt x="33337" y="130563"/>
                  <a:pt x="33337" y="127099"/>
                </a:cubicBezTo>
                <a:lnTo>
                  <a:pt x="33337" y="116681"/>
                </a:lnTo>
                <a:lnTo>
                  <a:pt x="43755" y="116681"/>
                </a:lnTo>
                <a:cubicBezTo>
                  <a:pt x="47219" y="116681"/>
                  <a:pt x="50006" y="113894"/>
                  <a:pt x="50006" y="110430"/>
                </a:cubicBezTo>
                <a:lnTo>
                  <a:pt x="50006" y="100013"/>
                </a:lnTo>
                <a:lnTo>
                  <a:pt x="60424" y="100013"/>
                </a:lnTo>
                <a:cubicBezTo>
                  <a:pt x="62091" y="100013"/>
                  <a:pt x="63680" y="99361"/>
                  <a:pt x="64852" y="98189"/>
                </a:cubicBezTo>
                <a:lnTo>
                  <a:pt x="73525" y="89516"/>
                </a:lnTo>
                <a:cubicBezTo>
                  <a:pt x="77926" y="90923"/>
                  <a:pt x="82641" y="91678"/>
                  <a:pt x="87511" y="91678"/>
                </a:cubicBezTo>
                <a:close/>
                <a:moveTo>
                  <a:pt x="97929" y="25003"/>
                </a:moveTo>
                <a:cubicBezTo>
                  <a:pt x="103679" y="25003"/>
                  <a:pt x="108347" y="29671"/>
                  <a:pt x="108347" y="35421"/>
                </a:cubicBezTo>
                <a:cubicBezTo>
                  <a:pt x="108347" y="41171"/>
                  <a:pt x="103679" y="45839"/>
                  <a:pt x="97929" y="45839"/>
                </a:cubicBezTo>
                <a:cubicBezTo>
                  <a:pt x="92179" y="45839"/>
                  <a:pt x="87511" y="41171"/>
                  <a:pt x="87511" y="35421"/>
                </a:cubicBezTo>
                <a:cubicBezTo>
                  <a:pt x="87511" y="29671"/>
                  <a:pt x="92179" y="25003"/>
                  <a:pt x="97929" y="25003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07820" y="2903102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Idempotency Key Contract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56710" y="2784994"/>
            <a:ext cx="2769870" cy="426720"/>
          </a:xfrm>
          <a:custGeom>
            <a:avLst/>
            <a:gdLst/>
            <a:ahLst/>
            <a:cxnLst/>
            <a:rect l="l" t="t" r="r" b="b"/>
            <a:pathLst>
              <a:path w="2769870" h="426720">
                <a:moveTo>
                  <a:pt x="76199" y="0"/>
                </a:moveTo>
                <a:lnTo>
                  <a:pt x="2693671" y="0"/>
                </a:lnTo>
                <a:cubicBezTo>
                  <a:pt x="2735754" y="0"/>
                  <a:pt x="2769870" y="34116"/>
                  <a:pt x="2769870" y="76199"/>
                </a:cubicBezTo>
                <a:lnTo>
                  <a:pt x="2769870" y="350521"/>
                </a:lnTo>
                <a:cubicBezTo>
                  <a:pt x="2769870" y="392604"/>
                  <a:pt x="2735754" y="426720"/>
                  <a:pt x="2693671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 w="10160">
            <a:solidFill>
              <a:srgbClr val="26A2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93870" y="293358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3738" y="19456"/>
                </a:moveTo>
                <a:lnTo>
                  <a:pt x="116681" y="22242"/>
                </a:lnTo>
                <a:lnTo>
                  <a:pt x="116681" y="8334"/>
                </a:lnTo>
                <a:cubicBezTo>
                  <a:pt x="116681" y="3724"/>
                  <a:pt x="120406" y="0"/>
                  <a:pt x="125016" y="0"/>
                </a:cubicBezTo>
                <a:cubicBezTo>
                  <a:pt x="129626" y="0"/>
                  <a:pt x="133350" y="3724"/>
                  <a:pt x="133350" y="8334"/>
                </a:cubicBezTo>
                <a:lnTo>
                  <a:pt x="133350" y="41672"/>
                </a:lnTo>
                <a:cubicBezTo>
                  <a:pt x="133350" y="46282"/>
                  <a:pt x="129626" y="50006"/>
                  <a:pt x="125016" y="50006"/>
                </a:cubicBezTo>
                <a:lnTo>
                  <a:pt x="91678" y="50006"/>
                </a:lnTo>
                <a:cubicBezTo>
                  <a:pt x="87068" y="50006"/>
                  <a:pt x="83344" y="46282"/>
                  <a:pt x="83344" y="41672"/>
                </a:cubicBezTo>
                <a:cubicBezTo>
                  <a:pt x="83344" y="37062"/>
                  <a:pt x="87068" y="33337"/>
                  <a:pt x="91678" y="33337"/>
                </a:cubicBezTo>
                <a:lnTo>
                  <a:pt x="104154" y="33337"/>
                </a:lnTo>
                <a:lnTo>
                  <a:pt x="102174" y="31462"/>
                </a:lnTo>
                <a:cubicBezTo>
                  <a:pt x="102122" y="31410"/>
                  <a:pt x="102070" y="31358"/>
                  <a:pt x="102018" y="31306"/>
                </a:cubicBezTo>
                <a:cubicBezTo>
                  <a:pt x="82484" y="11772"/>
                  <a:pt x="50840" y="11772"/>
                  <a:pt x="31306" y="31306"/>
                </a:cubicBezTo>
                <a:cubicBezTo>
                  <a:pt x="11772" y="50840"/>
                  <a:pt x="11772" y="82484"/>
                  <a:pt x="31306" y="102018"/>
                </a:cubicBezTo>
                <a:cubicBezTo>
                  <a:pt x="50840" y="121552"/>
                  <a:pt x="82484" y="121552"/>
                  <a:pt x="102018" y="102018"/>
                </a:cubicBezTo>
                <a:cubicBezTo>
                  <a:pt x="104154" y="99882"/>
                  <a:pt x="106055" y="97616"/>
                  <a:pt x="107722" y="95220"/>
                </a:cubicBezTo>
                <a:cubicBezTo>
                  <a:pt x="110352" y="91444"/>
                  <a:pt x="115561" y="90532"/>
                  <a:pt x="119338" y="93163"/>
                </a:cubicBezTo>
                <a:cubicBezTo>
                  <a:pt x="123114" y="95793"/>
                  <a:pt x="124026" y="101002"/>
                  <a:pt x="121395" y="104779"/>
                </a:cubicBezTo>
                <a:cubicBezTo>
                  <a:pt x="119182" y="107956"/>
                  <a:pt x="116655" y="110977"/>
                  <a:pt x="113816" y="113816"/>
                </a:cubicBezTo>
                <a:cubicBezTo>
                  <a:pt x="87771" y="139861"/>
                  <a:pt x="45553" y="139861"/>
                  <a:pt x="19534" y="113816"/>
                </a:cubicBezTo>
                <a:cubicBezTo>
                  <a:pt x="-6485" y="87771"/>
                  <a:pt x="-6511" y="45579"/>
                  <a:pt x="19534" y="19534"/>
                </a:cubicBezTo>
                <a:cubicBezTo>
                  <a:pt x="45553" y="-6485"/>
                  <a:pt x="87693" y="-6511"/>
                  <a:pt x="113738" y="19456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03420" y="2903102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Replay Protection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61110" y="3333630"/>
            <a:ext cx="2769870" cy="426720"/>
          </a:xfrm>
          <a:custGeom>
            <a:avLst/>
            <a:gdLst/>
            <a:ahLst/>
            <a:cxnLst/>
            <a:rect l="l" t="t" r="r" b="b"/>
            <a:pathLst>
              <a:path w="2769870" h="426720">
                <a:moveTo>
                  <a:pt x="76199" y="0"/>
                </a:moveTo>
                <a:lnTo>
                  <a:pt x="2693671" y="0"/>
                </a:lnTo>
                <a:cubicBezTo>
                  <a:pt x="2735754" y="0"/>
                  <a:pt x="2769870" y="34116"/>
                  <a:pt x="2769870" y="76199"/>
                </a:cubicBezTo>
                <a:lnTo>
                  <a:pt x="2769870" y="350521"/>
                </a:lnTo>
                <a:cubicBezTo>
                  <a:pt x="2769870" y="392604"/>
                  <a:pt x="2735754" y="426720"/>
                  <a:pt x="2693671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 w="10160">
            <a:solidFill>
              <a:srgbClr val="26A2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406604" y="348222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98606" y="21305"/>
                </a:moveTo>
                <a:cubicBezTo>
                  <a:pt x="101158" y="17476"/>
                  <a:pt x="100117" y="12293"/>
                  <a:pt x="96288" y="9741"/>
                </a:cubicBezTo>
                <a:cubicBezTo>
                  <a:pt x="92459" y="7188"/>
                  <a:pt x="87277" y="8230"/>
                  <a:pt x="84724" y="12059"/>
                </a:cubicBezTo>
                <a:lnTo>
                  <a:pt x="70556" y="33337"/>
                </a:lnTo>
                <a:lnTo>
                  <a:pt x="8334" y="33337"/>
                </a:lnTo>
                <a:cubicBezTo>
                  <a:pt x="3724" y="33337"/>
                  <a:pt x="0" y="37062"/>
                  <a:pt x="0" y="41672"/>
                </a:cubicBezTo>
                <a:cubicBezTo>
                  <a:pt x="0" y="46282"/>
                  <a:pt x="3724" y="50006"/>
                  <a:pt x="8334" y="50006"/>
                </a:cubicBezTo>
                <a:lnTo>
                  <a:pt x="59435" y="50006"/>
                </a:lnTo>
                <a:lnTo>
                  <a:pt x="37218" y="83344"/>
                </a:lnTo>
                <a:lnTo>
                  <a:pt x="8334" y="83344"/>
                </a:lnTo>
                <a:cubicBezTo>
                  <a:pt x="3724" y="83344"/>
                  <a:pt x="0" y="87068"/>
                  <a:pt x="0" y="91678"/>
                </a:cubicBezTo>
                <a:cubicBezTo>
                  <a:pt x="0" y="96288"/>
                  <a:pt x="3724" y="100013"/>
                  <a:pt x="8334" y="100013"/>
                </a:cubicBezTo>
                <a:lnTo>
                  <a:pt x="26097" y="100013"/>
                </a:lnTo>
                <a:lnTo>
                  <a:pt x="18075" y="112045"/>
                </a:lnTo>
                <a:cubicBezTo>
                  <a:pt x="15523" y="115874"/>
                  <a:pt x="16565" y="121057"/>
                  <a:pt x="20393" y="123609"/>
                </a:cubicBezTo>
                <a:cubicBezTo>
                  <a:pt x="24222" y="126162"/>
                  <a:pt x="29405" y="125120"/>
                  <a:pt x="31957" y="121291"/>
                </a:cubicBezTo>
                <a:lnTo>
                  <a:pt x="46126" y="100013"/>
                </a:lnTo>
                <a:lnTo>
                  <a:pt x="108347" y="100013"/>
                </a:lnTo>
                <a:cubicBezTo>
                  <a:pt x="112957" y="100013"/>
                  <a:pt x="116681" y="96288"/>
                  <a:pt x="116681" y="91678"/>
                </a:cubicBezTo>
                <a:cubicBezTo>
                  <a:pt x="116681" y="87068"/>
                  <a:pt x="112957" y="83344"/>
                  <a:pt x="108347" y="83344"/>
                </a:cubicBezTo>
                <a:lnTo>
                  <a:pt x="57247" y="83344"/>
                </a:lnTo>
                <a:lnTo>
                  <a:pt x="79463" y="50006"/>
                </a:lnTo>
                <a:lnTo>
                  <a:pt x="108347" y="50006"/>
                </a:lnTo>
                <a:cubicBezTo>
                  <a:pt x="112957" y="50006"/>
                  <a:pt x="116681" y="46282"/>
                  <a:pt x="116681" y="41672"/>
                </a:cubicBezTo>
                <a:cubicBezTo>
                  <a:pt x="116681" y="37062"/>
                  <a:pt x="112957" y="33337"/>
                  <a:pt x="108347" y="33337"/>
                </a:cubicBezTo>
                <a:lnTo>
                  <a:pt x="90584" y="33337"/>
                </a:lnTo>
                <a:lnTo>
                  <a:pt x="98606" y="21305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07820" y="3451743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Mismatch Handling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56710" y="3333630"/>
            <a:ext cx="2769870" cy="426720"/>
          </a:xfrm>
          <a:custGeom>
            <a:avLst/>
            <a:gdLst/>
            <a:ahLst/>
            <a:cxnLst/>
            <a:rect l="l" t="t" r="r" b="b"/>
            <a:pathLst>
              <a:path w="2769870" h="426720">
                <a:moveTo>
                  <a:pt x="76199" y="0"/>
                </a:moveTo>
                <a:lnTo>
                  <a:pt x="2693671" y="0"/>
                </a:lnTo>
                <a:cubicBezTo>
                  <a:pt x="2735754" y="0"/>
                  <a:pt x="2769870" y="34116"/>
                  <a:pt x="2769870" y="76199"/>
                </a:cubicBezTo>
                <a:lnTo>
                  <a:pt x="2769870" y="350521"/>
                </a:lnTo>
                <a:cubicBezTo>
                  <a:pt x="2769870" y="392604"/>
                  <a:pt x="2735754" y="426720"/>
                  <a:pt x="2693671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 w="10160">
            <a:solidFill>
              <a:srgbClr val="26A2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02205" y="348222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03420" y="3451743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Cache-Backed State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4107061"/>
            <a:ext cx="6724650" cy="1219200"/>
          </a:xfrm>
          <a:custGeom>
            <a:avLst/>
            <a:gdLst/>
            <a:ahLst/>
            <a:cxnLst/>
            <a:rect l="l" t="t" r="r" b="b"/>
            <a:pathLst>
              <a:path w="6724650" h="1219200">
                <a:moveTo>
                  <a:pt x="38100" y="0"/>
                </a:moveTo>
                <a:lnTo>
                  <a:pt x="6610350" y="0"/>
                </a:lnTo>
                <a:cubicBezTo>
                  <a:pt x="6673434" y="0"/>
                  <a:pt x="6724650" y="51216"/>
                  <a:pt x="6724650" y="114300"/>
                </a:cubicBezTo>
                <a:lnTo>
                  <a:pt x="6724650" y="1104900"/>
                </a:lnTo>
                <a:cubicBezTo>
                  <a:pt x="6724650" y="1167984"/>
                  <a:pt x="6673434" y="1219200"/>
                  <a:pt x="66103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00050" y="4107061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9600" y="42975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2950" y="44309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19200" y="4297561"/>
            <a:ext cx="581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Queue-Driven Processing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19200" y="4640461"/>
            <a:ext cx="579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Asynchronous message processing for resilience and service decoupling. Supports retry policies and dead-letter handling.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478661"/>
            <a:ext cx="6724650" cy="1219200"/>
          </a:xfrm>
          <a:custGeom>
            <a:avLst/>
            <a:gdLst/>
            <a:ahLst/>
            <a:cxnLst/>
            <a:rect l="l" t="t" r="r" b="b"/>
            <a:pathLst>
              <a:path w="6724650" h="1219200">
                <a:moveTo>
                  <a:pt x="38100" y="0"/>
                </a:moveTo>
                <a:lnTo>
                  <a:pt x="6610350" y="0"/>
                </a:lnTo>
                <a:cubicBezTo>
                  <a:pt x="6673434" y="0"/>
                  <a:pt x="6724650" y="51216"/>
                  <a:pt x="6724650" y="114300"/>
                </a:cubicBezTo>
                <a:lnTo>
                  <a:pt x="6724650" y="1104900"/>
                </a:lnTo>
                <a:cubicBezTo>
                  <a:pt x="6724650" y="1167984"/>
                  <a:pt x="6673434" y="1219200"/>
                  <a:pt x="66103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00050" y="5478661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9600" y="56691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2950" y="58025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19200" y="5669161"/>
            <a:ext cx="581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Resilience Policies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19200" y="6012061"/>
            <a:ext cx="579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Retry and circuit-breaker policies for external API calls with configuration-driven parameters.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15200" y="1600200"/>
            <a:ext cx="4495800" cy="4191000"/>
          </a:xfrm>
          <a:custGeom>
            <a:avLst/>
            <a:gdLst/>
            <a:ahLst/>
            <a:cxnLst/>
            <a:rect l="l" t="t" r="r" b="b"/>
            <a:pathLst>
              <a:path w="4495800" h="4191000">
                <a:moveTo>
                  <a:pt x="114289" y="0"/>
                </a:moveTo>
                <a:lnTo>
                  <a:pt x="4381511" y="0"/>
                </a:lnTo>
                <a:cubicBezTo>
                  <a:pt x="4444589" y="0"/>
                  <a:pt x="4495800" y="51211"/>
                  <a:pt x="4495800" y="114289"/>
                </a:cubicBezTo>
                <a:lnTo>
                  <a:pt x="4495800" y="4076711"/>
                </a:lnTo>
                <a:cubicBezTo>
                  <a:pt x="4495800" y="4139831"/>
                  <a:pt x="4444631" y="4191000"/>
                  <a:pt x="4381511" y="4191000"/>
                </a:cubicBezTo>
                <a:lnTo>
                  <a:pt x="114289" y="4191000"/>
                </a:lnTo>
                <a:cubicBezTo>
                  <a:pt x="51211" y="4191000"/>
                  <a:pt x="0" y="4139789"/>
                  <a:pt x="0" y="40767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62838" y="1790700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Idempotency Flow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05700" y="230493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67600" y="2304934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01000" y="2209800"/>
            <a:ext cx="3619500" cy="571500"/>
          </a:xfrm>
          <a:custGeom>
            <a:avLst/>
            <a:gdLst/>
            <a:ahLst/>
            <a:cxnLst/>
            <a:rect l="l" t="t" r="r" b="b"/>
            <a:pathLst>
              <a:path w="3619500" h="571500">
                <a:moveTo>
                  <a:pt x="76198" y="0"/>
                </a:moveTo>
                <a:lnTo>
                  <a:pt x="3543302" y="0"/>
                </a:lnTo>
                <a:cubicBezTo>
                  <a:pt x="3585385" y="0"/>
                  <a:pt x="3619500" y="34115"/>
                  <a:pt x="3619500" y="76198"/>
                </a:cubicBezTo>
                <a:lnTo>
                  <a:pt x="3619500" y="495302"/>
                </a:lnTo>
                <a:cubicBezTo>
                  <a:pt x="3619500" y="537385"/>
                  <a:pt x="3585385" y="571500"/>
                  <a:pt x="35433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115300" y="232410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Request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15300" y="2514600"/>
            <a:ext cx="3448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Includes Idempotency-Key header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505950" y="289548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505700" y="3257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67600" y="3257313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01000" y="3162184"/>
            <a:ext cx="3619500" cy="571500"/>
          </a:xfrm>
          <a:custGeom>
            <a:avLst/>
            <a:gdLst/>
            <a:ahLst/>
            <a:cxnLst/>
            <a:rect l="l" t="t" r="r" b="b"/>
            <a:pathLst>
              <a:path w="3619500" h="571500">
                <a:moveTo>
                  <a:pt x="76198" y="0"/>
                </a:moveTo>
                <a:lnTo>
                  <a:pt x="3543302" y="0"/>
                </a:lnTo>
                <a:cubicBezTo>
                  <a:pt x="3585385" y="0"/>
                  <a:pt x="3619500" y="34115"/>
                  <a:pt x="3619500" y="76198"/>
                </a:cubicBezTo>
                <a:lnTo>
                  <a:pt x="3619500" y="495302"/>
                </a:lnTo>
                <a:cubicBezTo>
                  <a:pt x="3619500" y="537385"/>
                  <a:pt x="3585385" y="571500"/>
                  <a:pt x="35433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115300" y="3276484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Check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115300" y="3466984"/>
            <a:ext cx="3448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lookup for existing request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505950" y="384786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505700" y="420969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467600" y="4209692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001000" y="4114563"/>
            <a:ext cx="3619500" cy="571500"/>
          </a:xfrm>
          <a:custGeom>
            <a:avLst/>
            <a:gdLst/>
            <a:ahLst/>
            <a:cxnLst/>
            <a:rect l="l" t="t" r="r" b="b"/>
            <a:pathLst>
              <a:path w="3619500" h="571500">
                <a:moveTo>
                  <a:pt x="76198" y="0"/>
                </a:moveTo>
                <a:lnTo>
                  <a:pt x="3543302" y="0"/>
                </a:lnTo>
                <a:cubicBezTo>
                  <a:pt x="3585385" y="0"/>
                  <a:pt x="3619500" y="34115"/>
                  <a:pt x="3619500" y="76198"/>
                </a:cubicBezTo>
                <a:lnTo>
                  <a:pt x="3619500" y="495302"/>
                </a:lnTo>
                <a:cubicBezTo>
                  <a:pt x="3619500" y="537385"/>
                  <a:pt x="3585385" y="571500"/>
                  <a:pt x="35433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115300" y="4228863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115300" y="4419363"/>
            <a:ext cx="3448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New: process &amp; store. Replay: return cached.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319010" y="5948243"/>
            <a:ext cx="4484370" cy="750570"/>
          </a:xfrm>
          <a:custGeom>
            <a:avLst/>
            <a:gdLst/>
            <a:ahLst/>
            <a:cxnLst/>
            <a:rect l="l" t="t" r="r" b="b"/>
            <a:pathLst>
              <a:path w="4484370" h="750570">
                <a:moveTo>
                  <a:pt x="114297" y="0"/>
                </a:moveTo>
                <a:lnTo>
                  <a:pt x="4370073" y="0"/>
                </a:lnTo>
                <a:cubicBezTo>
                  <a:pt x="4433198" y="0"/>
                  <a:pt x="4484370" y="51172"/>
                  <a:pt x="4484370" y="114297"/>
                </a:cubicBezTo>
                <a:lnTo>
                  <a:pt x="4484370" y="636273"/>
                </a:lnTo>
                <a:cubicBezTo>
                  <a:pt x="4484370" y="699398"/>
                  <a:pt x="4433198" y="750570"/>
                  <a:pt x="4370073" y="750570"/>
                </a:cubicBezTo>
                <a:lnTo>
                  <a:pt x="114297" y="750570"/>
                </a:lnTo>
                <a:cubicBezTo>
                  <a:pt x="51172" y="750570"/>
                  <a:pt x="0" y="699398"/>
                  <a:pt x="0" y="63627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 w="10160">
            <a:solidFill>
              <a:srgbClr val="26A2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494270" y="615017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703820" y="6104455"/>
            <a:ext cx="40100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Critical:</a:t>
            </a:r>
            <a:r>
              <a:rPr lang="en-US" sz="1050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Idempotency prevents data corruption from network retries, client timeouts, and duplicate submissions.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43815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MESSAGING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Messaging Standard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811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Approved transport options with abstraction layer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19250"/>
            <a:ext cx="3705225" cy="2333625"/>
          </a:xfrm>
          <a:custGeom>
            <a:avLst/>
            <a:gdLst/>
            <a:ahLst/>
            <a:cxnLst/>
            <a:rect l="l" t="t" r="r" b="b"/>
            <a:pathLst>
              <a:path w="3705225" h="23336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219324"/>
                </a:lnTo>
                <a:cubicBezTo>
                  <a:pt x="3705225" y="2282451"/>
                  <a:pt x="3654051" y="2333625"/>
                  <a:pt x="3590924" y="2333625"/>
                </a:cubicBezTo>
                <a:lnTo>
                  <a:pt x="114301" y="2333625"/>
                </a:lnTo>
                <a:cubicBezTo>
                  <a:pt x="51174" y="2333625"/>
                  <a:pt x="0" y="2282451"/>
                  <a:pt x="0" y="221932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1000" y="1619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30360" y="182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94667" y="1990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16018" y="35719"/>
                  <a:pt x="0" y="51736"/>
                  <a:pt x="0" y="71438"/>
                </a:cubicBezTo>
                <a:lnTo>
                  <a:pt x="0" y="75567"/>
                </a:lnTo>
                <a:cubicBezTo>
                  <a:pt x="0" y="79363"/>
                  <a:pt x="2456" y="82600"/>
                  <a:pt x="5637" y="84665"/>
                </a:cubicBezTo>
                <a:cubicBezTo>
                  <a:pt x="13004" y="89464"/>
                  <a:pt x="17859" y="97724"/>
                  <a:pt x="17859" y="107156"/>
                </a:cubicBezTo>
                <a:cubicBezTo>
                  <a:pt x="17859" y="116588"/>
                  <a:pt x="13004" y="124848"/>
                  <a:pt x="5637" y="129648"/>
                </a:cubicBezTo>
                <a:cubicBezTo>
                  <a:pt x="2456" y="131713"/>
                  <a:pt x="0" y="134950"/>
                  <a:pt x="0" y="138745"/>
                </a:cubicBezTo>
                <a:lnTo>
                  <a:pt x="0" y="169664"/>
                </a:lnTo>
                <a:lnTo>
                  <a:pt x="285750" y="169664"/>
                </a:lnTo>
                <a:lnTo>
                  <a:pt x="285750" y="138745"/>
                </a:lnTo>
                <a:cubicBezTo>
                  <a:pt x="285750" y="134950"/>
                  <a:pt x="283294" y="131713"/>
                  <a:pt x="280113" y="129648"/>
                </a:cubicBezTo>
                <a:cubicBezTo>
                  <a:pt x="272746" y="124848"/>
                  <a:pt x="267891" y="116588"/>
                  <a:pt x="267891" y="107156"/>
                </a:cubicBezTo>
                <a:cubicBezTo>
                  <a:pt x="267891" y="97724"/>
                  <a:pt x="272746" y="89464"/>
                  <a:pt x="280113" y="84665"/>
                </a:cubicBezTo>
                <a:cubicBezTo>
                  <a:pt x="283294" y="82600"/>
                  <a:pt x="285750" y="79363"/>
                  <a:pt x="285750" y="75567"/>
                </a:cubicBezTo>
                <a:lnTo>
                  <a:pt x="285750" y="71437"/>
                </a:lnTo>
                <a:cubicBezTo>
                  <a:pt x="285750" y="51736"/>
                  <a:pt x="269732" y="35719"/>
                  <a:pt x="250031" y="35719"/>
                </a:cubicBezTo>
                <a:lnTo>
                  <a:pt x="35719" y="35719"/>
                </a:lnTo>
                <a:close/>
                <a:moveTo>
                  <a:pt x="285750" y="232172"/>
                </a:moveTo>
                <a:lnTo>
                  <a:pt x="285750" y="196453"/>
                </a:lnTo>
                <a:lnTo>
                  <a:pt x="0" y="196453"/>
                </a:lnTo>
                <a:lnTo>
                  <a:pt x="0" y="232172"/>
                </a:lnTo>
                <a:cubicBezTo>
                  <a:pt x="0" y="242050"/>
                  <a:pt x="7981" y="250031"/>
                  <a:pt x="17859" y="250031"/>
                </a:cubicBezTo>
                <a:lnTo>
                  <a:pt x="53578" y="250031"/>
                </a:lnTo>
                <a:lnTo>
                  <a:pt x="53578" y="236637"/>
                </a:lnTo>
                <a:cubicBezTo>
                  <a:pt x="53578" y="229214"/>
                  <a:pt x="59550" y="223242"/>
                  <a:pt x="66973" y="223242"/>
                </a:cubicBezTo>
                <a:cubicBezTo>
                  <a:pt x="74395" y="223242"/>
                  <a:pt x="80367" y="229214"/>
                  <a:pt x="80367" y="236637"/>
                </a:cubicBezTo>
                <a:lnTo>
                  <a:pt x="80367" y="250031"/>
                </a:lnTo>
                <a:lnTo>
                  <a:pt x="129480" y="250031"/>
                </a:lnTo>
                <a:lnTo>
                  <a:pt x="129480" y="236637"/>
                </a:lnTo>
                <a:cubicBezTo>
                  <a:pt x="129480" y="229214"/>
                  <a:pt x="135452" y="223242"/>
                  <a:pt x="142875" y="223242"/>
                </a:cubicBezTo>
                <a:cubicBezTo>
                  <a:pt x="150298" y="223242"/>
                  <a:pt x="156270" y="229214"/>
                  <a:pt x="156270" y="236637"/>
                </a:cubicBezTo>
                <a:lnTo>
                  <a:pt x="156270" y="250031"/>
                </a:lnTo>
                <a:lnTo>
                  <a:pt x="205383" y="250031"/>
                </a:lnTo>
                <a:lnTo>
                  <a:pt x="205383" y="236637"/>
                </a:lnTo>
                <a:cubicBezTo>
                  <a:pt x="205383" y="229214"/>
                  <a:pt x="211355" y="223242"/>
                  <a:pt x="218777" y="223242"/>
                </a:cubicBezTo>
                <a:cubicBezTo>
                  <a:pt x="226200" y="223242"/>
                  <a:pt x="232172" y="229214"/>
                  <a:pt x="232172" y="236637"/>
                </a:cubicBezTo>
                <a:lnTo>
                  <a:pt x="232172" y="250031"/>
                </a:lnTo>
                <a:lnTo>
                  <a:pt x="267891" y="250031"/>
                </a:lnTo>
                <a:cubicBezTo>
                  <a:pt x="277769" y="250031"/>
                  <a:pt x="285750" y="242050"/>
                  <a:pt x="285750" y="232172"/>
                </a:cubicBezTo>
                <a:close/>
                <a:moveTo>
                  <a:pt x="89297" y="89297"/>
                </a:moveTo>
                <a:lnTo>
                  <a:pt x="89297" y="125016"/>
                </a:lnTo>
                <a:cubicBezTo>
                  <a:pt x="89297" y="134894"/>
                  <a:pt x="81316" y="142875"/>
                  <a:pt x="71438" y="142875"/>
                </a:cubicBezTo>
                <a:cubicBezTo>
                  <a:pt x="61559" y="142875"/>
                  <a:pt x="53578" y="134894"/>
                  <a:pt x="53578" y="125016"/>
                </a:cubicBezTo>
                <a:lnTo>
                  <a:pt x="53578" y="89297"/>
                </a:lnTo>
                <a:cubicBezTo>
                  <a:pt x="53578" y="79418"/>
                  <a:pt x="61559" y="71438"/>
                  <a:pt x="71438" y="71438"/>
                </a:cubicBezTo>
                <a:cubicBezTo>
                  <a:pt x="81316" y="71438"/>
                  <a:pt x="89297" y="79418"/>
                  <a:pt x="89297" y="89297"/>
                </a:cubicBezTo>
                <a:close/>
                <a:moveTo>
                  <a:pt x="160734" y="89297"/>
                </a:moveTo>
                <a:lnTo>
                  <a:pt x="160734" y="125016"/>
                </a:lnTo>
                <a:cubicBezTo>
                  <a:pt x="160734" y="134894"/>
                  <a:pt x="152753" y="142875"/>
                  <a:pt x="142875" y="142875"/>
                </a:cubicBezTo>
                <a:cubicBezTo>
                  <a:pt x="132997" y="142875"/>
                  <a:pt x="125016" y="134894"/>
                  <a:pt x="125016" y="125016"/>
                </a:cubicBezTo>
                <a:lnTo>
                  <a:pt x="125016" y="89297"/>
                </a:lnTo>
                <a:cubicBezTo>
                  <a:pt x="125016" y="79418"/>
                  <a:pt x="132997" y="71438"/>
                  <a:pt x="142875" y="71438"/>
                </a:cubicBezTo>
                <a:cubicBezTo>
                  <a:pt x="152753" y="71438"/>
                  <a:pt x="160734" y="79418"/>
                  <a:pt x="160734" y="89297"/>
                </a:cubicBezTo>
                <a:close/>
                <a:moveTo>
                  <a:pt x="232172" y="89297"/>
                </a:moveTo>
                <a:lnTo>
                  <a:pt x="232172" y="125016"/>
                </a:lnTo>
                <a:cubicBezTo>
                  <a:pt x="232172" y="134894"/>
                  <a:pt x="224191" y="142875"/>
                  <a:pt x="214313" y="142875"/>
                </a:cubicBezTo>
                <a:cubicBezTo>
                  <a:pt x="204434" y="142875"/>
                  <a:pt x="196453" y="134894"/>
                  <a:pt x="196453" y="125016"/>
                </a:cubicBezTo>
                <a:lnTo>
                  <a:pt x="196453" y="89297"/>
                </a:lnTo>
                <a:cubicBezTo>
                  <a:pt x="196453" y="79418"/>
                  <a:pt x="204434" y="71438"/>
                  <a:pt x="214313" y="71438"/>
                </a:cubicBezTo>
                <a:cubicBezTo>
                  <a:pt x="224191" y="71438"/>
                  <a:pt x="232172" y="79418"/>
                  <a:pt x="232172" y="89297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20691" y="255270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In-Memory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8163" y="2895600"/>
            <a:ext cx="3390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transport for local development and unit testing.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3443288"/>
            <a:ext cx="3324225" cy="304800"/>
          </a:xfrm>
          <a:custGeom>
            <a:avLst/>
            <a:gdLst/>
            <a:ahLst/>
            <a:cxnLst/>
            <a:rect l="l" t="t" r="r" b="b"/>
            <a:pathLst>
              <a:path w="3324225" h="304800">
                <a:moveTo>
                  <a:pt x="76200" y="0"/>
                </a:moveTo>
                <a:lnTo>
                  <a:pt x="3248025" y="0"/>
                </a:lnTo>
                <a:cubicBezTo>
                  <a:pt x="3290081" y="0"/>
                  <a:pt x="3324225" y="34144"/>
                  <a:pt x="3324225" y="76200"/>
                </a:cubicBezTo>
                <a:lnTo>
                  <a:pt x="3324225" y="228600"/>
                </a:lnTo>
                <a:cubicBezTo>
                  <a:pt x="3324225" y="270656"/>
                  <a:pt x="3290081" y="304800"/>
                  <a:pt x="324802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78518" y="354234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0575" y="3519488"/>
            <a:ext cx="3057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A20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external dependencies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41721" y="1619250"/>
            <a:ext cx="3705225" cy="2333625"/>
          </a:xfrm>
          <a:custGeom>
            <a:avLst/>
            <a:gdLst/>
            <a:ahLst/>
            <a:cxnLst/>
            <a:rect l="l" t="t" r="r" b="b"/>
            <a:pathLst>
              <a:path w="3705225" h="23336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219324"/>
                </a:lnTo>
                <a:cubicBezTo>
                  <a:pt x="3705225" y="2282451"/>
                  <a:pt x="3654051" y="2333625"/>
                  <a:pt x="3590924" y="2333625"/>
                </a:cubicBezTo>
                <a:lnTo>
                  <a:pt x="114301" y="2333625"/>
                </a:lnTo>
                <a:cubicBezTo>
                  <a:pt x="51174" y="2333625"/>
                  <a:pt x="0" y="2282451"/>
                  <a:pt x="0" y="221932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41721" y="1619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91081" y="182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73246" y="19907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14298" y="2552700"/>
            <a:ext cx="56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98883" y="2895600"/>
            <a:ext cx="3390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transport for containerized and on-premise deployments.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32221" y="3443288"/>
            <a:ext cx="3324225" cy="304800"/>
          </a:xfrm>
          <a:custGeom>
            <a:avLst/>
            <a:gdLst/>
            <a:ahLst/>
            <a:cxnLst/>
            <a:rect l="l" t="t" r="r" b="b"/>
            <a:pathLst>
              <a:path w="3324225" h="304800">
                <a:moveTo>
                  <a:pt x="76200" y="0"/>
                </a:moveTo>
                <a:lnTo>
                  <a:pt x="3248025" y="0"/>
                </a:lnTo>
                <a:cubicBezTo>
                  <a:pt x="3290081" y="0"/>
                  <a:pt x="3324225" y="34144"/>
                  <a:pt x="3324225" y="76200"/>
                </a:cubicBezTo>
                <a:lnTo>
                  <a:pt x="3324225" y="228600"/>
                </a:lnTo>
                <a:cubicBezTo>
                  <a:pt x="3324225" y="270656"/>
                  <a:pt x="3290081" y="304800"/>
                  <a:pt x="324802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82684" y="354234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51296" y="3519488"/>
            <a:ext cx="3057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A20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latency, pub/sub support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2561" y="1619250"/>
            <a:ext cx="3705225" cy="2333625"/>
          </a:xfrm>
          <a:custGeom>
            <a:avLst/>
            <a:gdLst/>
            <a:ahLst/>
            <a:cxnLst/>
            <a:rect l="l" t="t" r="r" b="b"/>
            <a:pathLst>
              <a:path w="3705225" h="23336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219324"/>
                </a:lnTo>
                <a:cubicBezTo>
                  <a:pt x="3705225" y="2282451"/>
                  <a:pt x="3654051" y="2333625"/>
                  <a:pt x="3590924" y="2333625"/>
                </a:cubicBezTo>
                <a:lnTo>
                  <a:pt x="114301" y="2333625"/>
                </a:lnTo>
                <a:cubicBezTo>
                  <a:pt x="51174" y="2333625"/>
                  <a:pt x="0" y="2282451"/>
                  <a:pt x="0" y="221932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2D63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02561" y="1619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51921" y="182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A2D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98368" y="19907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187523"/>
                </a:moveTo>
                <a:cubicBezTo>
                  <a:pt x="0" y="231893"/>
                  <a:pt x="35998" y="267891"/>
                  <a:pt x="80367" y="267891"/>
                </a:cubicBezTo>
                <a:lnTo>
                  <a:pt x="250031" y="267891"/>
                </a:lnTo>
                <a:cubicBezTo>
                  <a:pt x="289489" y="267891"/>
                  <a:pt x="321469" y="235911"/>
                  <a:pt x="321469" y="196453"/>
                </a:cubicBezTo>
                <a:cubicBezTo>
                  <a:pt x="321469" y="167655"/>
                  <a:pt x="304447" y="142819"/>
                  <a:pt x="279890" y="131545"/>
                </a:cubicBezTo>
                <a:cubicBezTo>
                  <a:pt x="283629" y="124234"/>
                  <a:pt x="285750" y="115919"/>
                  <a:pt x="285750" y="107156"/>
                </a:cubicBezTo>
                <a:cubicBezTo>
                  <a:pt x="285750" y="77577"/>
                  <a:pt x="261751" y="53578"/>
                  <a:pt x="232172" y="53578"/>
                </a:cubicBezTo>
                <a:cubicBezTo>
                  <a:pt x="222293" y="53578"/>
                  <a:pt x="213085" y="56257"/>
                  <a:pt x="205160" y="60889"/>
                </a:cubicBezTo>
                <a:cubicBezTo>
                  <a:pt x="191709" y="35328"/>
                  <a:pt x="164864" y="17859"/>
                  <a:pt x="133945" y="17859"/>
                </a:cubicBezTo>
                <a:cubicBezTo>
                  <a:pt x="89576" y="17859"/>
                  <a:pt x="53578" y="53857"/>
                  <a:pt x="53578" y="98227"/>
                </a:cubicBezTo>
                <a:cubicBezTo>
                  <a:pt x="53578" y="102691"/>
                  <a:pt x="53969" y="107100"/>
                  <a:pt x="54639" y="111342"/>
                </a:cubicBezTo>
                <a:cubicBezTo>
                  <a:pt x="22882" y="122058"/>
                  <a:pt x="0" y="152140"/>
                  <a:pt x="0" y="187523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020770" y="255270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Queue Storage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59723" y="2895600"/>
            <a:ext cx="3390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Cloud-native transport for Azure deployments. </a:t>
            </a:r>
            <a:r>
              <a:rPr lang="en-US" sz="1050" b="1" dirty="0">
                <a:solidFill>
                  <a:srgbClr val="26A2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Recommended for production.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96871" y="3447097"/>
            <a:ext cx="3322320" cy="312420"/>
          </a:xfrm>
          <a:custGeom>
            <a:avLst/>
            <a:gdLst/>
            <a:ahLst/>
            <a:cxnLst/>
            <a:rect l="l" t="t" r="r" b="b"/>
            <a:pathLst>
              <a:path w="3322320" h="312420">
                <a:moveTo>
                  <a:pt x="76199" y="0"/>
                </a:moveTo>
                <a:lnTo>
                  <a:pt x="3246121" y="0"/>
                </a:lnTo>
                <a:cubicBezTo>
                  <a:pt x="3288204" y="0"/>
                  <a:pt x="3322320" y="34116"/>
                  <a:pt x="3322320" y="76199"/>
                </a:cubicBezTo>
                <a:lnTo>
                  <a:pt x="3322320" y="236221"/>
                </a:lnTo>
                <a:cubicBezTo>
                  <a:pt x="3322320" y="278304"/>
                  <a:pt x="3288204" y="312420"/>
                  <a:pt x="3246121" y="312420"/>
                </a:cubicBezTo>
                <a:lnTo>
                  <a:pt x="76199" y="312420"/>
                </a:lnTo>
                <a:cubicBezTo>
                  <a:pt x="34144" y="312420"/>
                  <a:pt x="0" y="278276"/>
                  <a:pt x="0" y="2362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 w="10160">
            <a:solidFill>
              <a:srgbClr val="26A2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327595" y="3549969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19756" y="3527110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queue standard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000" y="4106108"/>
            <a:ext cx="11430000" cy="1657350"/>
          </a:xfrm>
          <a:custGeom>
            <a:avLst/>
            <a:gdLst/>
            <a:ahLst/>
            <a:cxnLst/>
            <a:rect l="l" t="t" r="r" b="b"/>
            <a:pathLst>
              <a:path w="11430000" h="1657350">
                <a:moveTo>
                  <a:pt x="114307" y="0"/>
                </a:moveTo>
                <a:lnTo>
                  <a:pt x="11315693" y="0"/>
                </a:lnTo>
                <a:cubicBezTo>
                  <a:pt x="11378823" y="0"/>
                  <a:pt x="11430000" y="51177"/>
                  <a:pt x="11430000" y="114307"/>
                </a:cubicBezTo>
                <a:lnTo>
                  <a:pt x="11430000" y="1543043"/>
                </a:lnTo>
                <a:cubicBezTo>
                  <a:pt x="11430000" y="1606173"/>
                  <a:pt x="11378823" y="1657350"/>
                  <a:pt x="11315693" y="1657350"/>
                </a:cubicBezTo>
                <a:lnTo>
                  <a:pt x="114307" y="1657350"/>
                </a:lnTo>
                <a:cubicBezTo>
                  <a:pt x="51177" y="1657350"/>
                  <a:pt x="0" y="1606173"/>
                  <a:pt x="0" y="15430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71500" y="429660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23900" y="444900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57300" y="4296608"/>
            <a:ext cx="1045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 Abstraction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57300" y="4639508"/>
            <a:ext cx="10439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queue abstraction layer enables runtime transport selection without changing API contracts or business logic.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57300" y="5001458"/>
            <a:ext cx="3381375" cy="571500"/>
          </a:xfrm>
          <a:custGeom>
            <a:avLst/>
            <a:gdLst/>
            <a:ahLst/>
            <a:cxnLst/>
            <a:rect l="l" t="t" r="r" b="b"/>
            <a:pathLst>
              <a:path w="3381375" h="57150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495302"/>
                </a:lnTo>
                <a:cubicBezTo>
                  <a:pt x="3381375" y="537385"/>
                  <a:pt x="3347260" y="571500"/>
                  <a:pt x="33051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38263" y="5115758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Fit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43025" y="5306258"/>
            <a:ext cx="3209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A20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code, different transports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749760" y="5001458"/>
            <a:ext cx="3381375" cy="571500"/>
          </a:xfrm>
          <a:custGeom>
            <a:avLst/>
            <a:gdLst/>
            <a:ahLst/>
            <a:cxnLst/>
            <a:rect l="l" t="t" r="r" b="b"/>
            <a:pathLst>
              <a:path w="3381375" h="57150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495302"/>
                </a:lnTo>
                <a:cubicBezTo>
                  <a:pt x="3381375" y="537385"/>
                  <a:pt x="3347260" y="571500"/>
                  <a:pt x="33051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30723" y="5115758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Testability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35485" y="5306258"/>
            <a:ext cx="3209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A20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In-memory for fast tests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42221" y="5001458"/>
            <a:ext cx="3381375" cy="571500"/>
          </a:xfrm>
          <a:custGeom>
            <a:avLst/>
            <a:gdLst/>
            <a:ahLst/>
            <a:cxnLst/>
            <a:rect l="l" t="t" r="r" b="b"/>
            <a:pathLst>
              <a:path w="3381375" h="571500">
                <a:moveTo>
                  <a:pt x="76198" y="0"/>
                </a:moveTo>
                <a:lnTo>
                  <a:pt x="3305177" y="0"/>
                </a:lnTo>
                <a:cubicBezTo>
                  <a:pt x="3347260" y="0"/>
                  <a:pt x="3381375" y="34115"/>
                  <a:pt x="3381375" y="76198"/>
                </a:cubicBezTo>
                <a:lnTo>
                  <a:pt x="3381375" y="495302"/>
                </a:lnTo>
                <a:cubicBezTo>
                  <a:pt x="3381375" y="537385"/>
                  <a:pt x="3347260" y="571500"/>
                  <a:pt x="33051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323183" y="5115758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Lock-in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27946" y="5306258"/>
            <a:ext cx="3209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A20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 without code changes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43815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and Database Standard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811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Database-First approach with EF Core 10 baseline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00200"/>
            <a:ext cx="6181725" cy="1809750"/>
          </a:xfrm>
          <a:custGeom>
            <a:avLst/>
            <a:gdLst/>
            <a:ahLst/>
            <a:cxnLst/>
            <a:rect l="l" t="t" r="r" b="b"/>
            <a:pathLst>
              <a:path w="6181725" h="1809750">
                <a:moveTo>
                  <a:pt x="114304" y="0"/>
                </a:moveTo>
                <a:lnTo>
                  <a:pt x="6067421" y="0"/>
                </a:lnTo>
                <a:cubicBezTo>
                  <a:pt x="6130549" y="0"/>
                  <a:pt x="6181725" y="51176"/>
                  <a:pt x="6181725" y="114304"/>
                </a:cubicBezTo>
                <a:lnTo>
                  <a:pt x="6181725" y="1695446"/>
                </a:lnTo>
                <a:cubicBezTo>
                  <a:pt x="6181725" y="1758574"/>
                  <a:pt x="6130549" y="1809750"/>
                  <a:pt x="6067421" y="1809750"/>
                </a:cubicBezTo>
                <a:lnTo>
                  <a:pt x="114304" y="1809750"/>
                </a:lnTo>
                <a:cubicBezTo>
                  <a:pt x="51176" y="1809750"/>
                  <a:pt x="0" y="1758574"/>
                  <a:pt x="0" y="169544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0F2D63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A2D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8188" y="19431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57300" y="1790700"/>
            <a:ext cx="5229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Database-First 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2171584"/>
            <a:ext cx="51911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6A2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Standard:</a:t>
            </a:r>
            <a:r>
              <a:rPr lang="en-US" sz="12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Database schema is the source of truth. Models align to schema, not the reverse.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61110" y="2784994"/>
            <a:ext cx="2493645" cy="426720"/>
          </a:xfrm>
          <a:custGeom>
            <a:avLst/>
            <a:gdLst/>
            <a:ahLst/>
            <a:cxnLst/>
            <a:rect l="l" t="t" r="r" b="b"/>
            <a:pathLst>
              <a:path w="2493645" h="426720">
                <a:moveTo>
                  <a:pt x="76199" y="0"/>
                </a:moveTo>
                <a:lnTo>
                  <a:pt x="2417446" y="0"/>
                </a:lnTo>
                <a:cubicBezTo>
                  <a:pt x="2459529" y="0"/>
                  <a:pt x="2493645" y="34116"/>
                  <a:pt x="2493645" y="76199"/>
                </a:cubicBezTo>
                <a:lnTo>
                  <a:pt x="2493645" y="350521"/>
                </a:lnTo>
                <a:cubicBezTo>
                  <a:pt x="2493645" y="392604"/>
                  <a:pt x="2459529" y="426720"/>
                  <a:pt x="2417446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 w="10160">
            <a:solidFill>
              <a:srgbClr val="26A2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06604" y="293358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07820" y="2903102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Schema-driven modeling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75723" y="2784994"/>
            <a:ext cx="2493645" cy="426720"/>
          </a:xfrm>
          <a:custGeom>
            <a:avLst/>
            <a:gdLst/>
            <a:ahLst/>
            <a:cxnLst/>
            <a:rect l="l" t="t" r="r" b="b"/>
            <a:pathLst>
              <a:path w="2493645" h="426720">
                <a:moveTo>
                  <a:pt x="76199" y="0"/>
                </a:moveTo>
                <a:lnTo>
                  <a:pt x="2417446" y="0"/>
                </a:lnTo>
                <a:cubicBezTo>
                  <a:pt x="2459529" y="0"/>
                  <a:pt x="2493645" y="34116"/>
                  <a:pt x="2493645" y="76199"/>
                </a:cubicBezTo>
                <a:lnTo>
                  <a:pt x="2493645" y="350521"/>
                </a:lnTo>
                <a:cubicBezTo>
                  <a:pt x="2493645" y="392604"/>
                  <a:pt x="2459529" y="426720"/>
                  <a:pt x="2417446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 w="10160">
            <a:solidFill>
              <a:srgbClr val="26A2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21217" y="293358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22433" y="2903102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 migrations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558420"/>
            <a:ext cx="6162675" cy="1219200"/>
          </a:xfrm>
          <a:custGeom>
            <a:avLst/>
            <a:gdLst/>
            <a:ahLst/>
            <a:cxnLst/>
            <a:rect l="l" t="t" r="r" b="b"/>
            <a:pathLst>
              <a:path w="6162675" h="1219200">
                <a:moveTo>
                  <a:pt x="38100" y="0"/>
                </a:moveTo>
                <a:lnTo>
                  <a:pt x="6048375" y="0"/>
                </a:lnTo>
                <a:cubicBezTo>
                  <a:pt x="6111459" y="0"/>
                  <a:pt x="6162675" y="51216"/>
                  <a:pt x="6162675" y="114300"/>
                </a:cubicBezTo>
                <a:lnTo>
                  <a:pt x="6162675" y="1104900"/>
                </a:lnTo>
                <a:cubicBezTo>
                  <a:pt x="6162675" y="1167984"/>
                  <a:pt x="6111459" y="1219200"/>
                  <a:pt x="6048375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00050" y="355842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9600" y="37489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044" y="38822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19200" y="3748920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 Core 10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4091820"/>
            <a:ext cx="5229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Entity Framework Core 10 with explicit provider registration methods for PostgreSQL and SQL Server.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4930020"/>
            <a:ext cx="6162675" cy="1219200"/>
          </a:xfrm>
          <a:custGeom>
            <a:avLst/>
            <a:gdLst/>
            <a:ahLst/>
            <a:cxnLst/>
            <a:rect l="l" t="t" r="r" b="b"/>
            <a:pathLst>
              <a:path w="6162675" h="1219200">
                <a:moveTo>
                  <a:pt x="38100" y="0"/>
                </a:moveTo>
                <a:lnTo>
                  <a:pt x="6048375" y="0"/>
                </a:lnTo>
                <a:cubicBezTo>
                  <a:pt x="6111459" y="0"/>
                  <a:pt x="6162675" y="51216"/>
                  <a:pt x="6162675" y="114300"/>
                </a:cubicBezTo>
                <a:lnTo>
                  <a:pt x="6162675" y="1104900"/>
                </a:lnTo>
                <a:cubicBezTo>
                  <a:pt x="6162675" y="1167984"/>
                  <a:pt x="6111459" y="1219200"/>
                  <a:pt x="6048375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00050" y="493002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9600" y="51205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4856" y="52538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19200" y="5120520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Provider Registration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19200" y="5463420"/>
            <a:ext cx="5229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Dedicated extension methods: </a:t>
            </a:r>
            <a:r>
              <a:rPr lang="en-US" sz="1050" dirty="0">
                <a:solidFill>
                  <a:srgbClr val="4ECDC4"/>
                </a:solidFill>
                <a:highlight>
                  <a:srgbClr val="4ECDC4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AddPostgresqlServer() </a:t>
            </a:r>
            <a:r>
              <a:rPr lang="en-US" sz="1200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</a:t>
            </a:r>
            <a:r>
              <a:rPr lang="en-US" sz="1050" dirty="0">
                <a:solidFill>
                  <a:srgbClr val="4ECDC4"/>
                </a:solidFill>
                <a:highlight>
                  <a:srgbClr val="4ECDC4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AddSqlServer()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53225" y="1600200"/>
            <a:ext cx="5057775" cy="3971925"/>
          </a:xfrm>
          <a:custGeom>
            <a:avLst/>
            <a:gdLst/>
            <a:ahLst/>
            <a:cxnLst/>
            <a:rect l="l" t="t" r="r" b="b"/>
            <a:pathLst>
              <a:path w="5057775" h="3971925">
                <a:moveTo>
                  <a:pt x="114312" y="0"/>
                </a:moveTo>
                <a:lnTo>
                  <a:pt x="4943463" y="0"/>
                </a:lnTo>
                <a:cubicBezTo>
                  <a:pt x="5006596" y="0"/>
                  <a:pt x="5057775" y="51179"/>
                  <a:pt x="5057775" y="114312"/>
                </a:cubicBezTo>
                <a:lnTo>
                  <a:pt x="5057775" y="3857613"/>
                </a:lnTo>
                <a:cubicBezTo>
                  <a:pt x="5057775" y="3920746"/>
                  <a:pt x="5006596" y="3971925"/>
                  <a:pt x="4943463" y="3971925"/>
                </a:cubicBezTo>
                <a:lnTo>
                  <a:pt x="114312" y="3971925"/>
                </a:lnTo>
                <a:cubicBezTo>
                  <a:pt x="51179" y="3971925"/>
                  <a:pt x="0" y="3920746"/>
                  <a:pt x="0" y="3857613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43725" y="17907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Resiliency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43725" y="2209800"/>
            <a:ext cx="474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Configurable through policy keys in configuration: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43725" y="2552700"/>
            <a:ext cx="4676775" cy="419100"/>
          </a:xfrm>
          <a:custGeom>
            <a:avLst/>
            <a:gdLst/>
            <a:ahLst/>
            <a:cxnLst/>
            <a:rect l="l" t="t" r="r" b="b"/>
            <a:pathLst>
              <a:path w="4676775" h="419100">
                <a:moveTo>
                  <a:pt x="76201" y="0"/>
                </a:moveTo>
                <a:lnTo>
                  <a:pt x="4600574" y="0"/>
                </a:lnTo>
                <a:cubicBezTo>
                  <a:pt x="4642659" y="0"/>
                  <a:pt x="4676775" y="34116"/>
                  <a:pt x="4676775" y="76201"/>
                </a:cubicBezTo>
                <a:lnTo>
                  <a:pt x="4676775" y="342899"/>
                </a:lnTo>
                <a:cubicBezTo>
                  <a:pt x="4676775" y="384984"/>
                  <a:pt x="4642659" y="419100"/>
                  <a:pt x="46005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067550" y="2686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7150" y="19050"/>
                </a:moveTo>
                <a:cubicBezTo>
                  <a:pt x="25598" y="19050"/>
                  <a:pt x="0" y="44648"/>
                  <a:pt x="0" y="76200"/>
                </a:cubicBezTo>
                <a:cubicBezTo>
                  <a:pt x="0" y="107752"/>
                  <a:pt x="25598" y="133350"/>
                  <a:pt x="57150" y="133350"/>
                </a:cubicBezTo>
                <a:lnTo>
                  <a:pt x="114300" y="133350"/>
                </a:lnTo>
                <a:cubicBezTo>
                  <a:pt x="145852" y="133350"/>
                  <a:pt x="171450" y="107752"/>
                  <a:pt x="171450" y="76200"/>
                </a:cubicBezTo>
                <a:cubicBezTo>
                  <a:pt x="171450" y="44648"/>
                  <a:pt x="145852" y="19050"/>
                  <a:pt x="114300" y="19050"/>
                </a:cubicBezTo>
                <a:lnTo>
                  <a:pt x="57150" y="19050"/>
                </a:lnTo>
                <a:close/>
                <a:moveTo>
                  <a:pt x="114300" y="47625"/>
                </a:moveTo>
                <a:cubicBezTo>
                  <a:pt x="130071" y="47625"/>
                  <a:pt x="142875" y="60429"/>
                  <a:pt x="142875" y="76200"/>
                </a:cubicBezTo>
                <a:cubicBezTo>
                  <a:pt x="142875" y="91971"/>
                  <a:pt x="130071" y="104775"/>
                  <a:pt x="114300" y="104775"/>
                </a:cubicBezTo>
                <a:cubicBezTo>
                  <a:pt x="98529" y="104775"/>
                  <a:pt x="85725" y="91971"/>
                  <a:pt x="85725" y="76200"/>
                </a:cubicBezTo>
                <a:cubicBezTo>
                  <a:pt x="85725" y="60429"/>
                  <a:pt x="98529" y="47625"/>
                  <a:pt x="114300" y="47625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62825" y="266700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EnableRetryOnFailure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106627" y="2686050"/>
            <a:ext cx="457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20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boolean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43725" y="3086100"/>
            <a:ext cx="4676775" cy="419100"/>
          </a:xfrm>
          <a:custGeom>
            <a:avLst/>
            <a:gdLst/>
            <a:ahLst/>
            <a:cxnLst/>
            <a:rect l="l" t="t" r="r" b="b"/>
            <a:pathLst>
              <a:path w="4676775" h="419100">
                <a:moveTo>
                  <a:pt x="76201" y="0"/>
                </a:moveTo>
                <a:lnTo>
                  <a:pt x="4600574" y="0"/>
                </a:lnTo>
                <a:cubicBezTo>
                  <a:pt x="4642659" y="0"/>
                  <a:pt x="4676775" y="34116"/>
                  <a:pt x="4676775" y="76201"/>
                </a:cubicBezTo>
                <a:lnTo>
                  <a:pt x="4676775" y="342899"/>
                </a:lnTo>
                <a:cubicBezTo>
                  <a:pt x="4676775" y="384984"/>
                  <a:pt x="4642659" y="419100"/>
                  <a:pt x="46005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077075" y="3219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9986" y="22235"/>
                </a:moveTo>
                <a:lnTo>
                  <a:pt x="133350" y="25420"/>
                </a:lnTo>
                <a:lnTo>
                  <a:pt x="133350" y="9525"/>
                </a:lnTo>
                <a:cubicBezTo>
                  <a:pt x="133350" y="4256"/>
                  <a:pt x="137606" y="0"/>
                  <a:pt x="142875" y="0"/>
                </a:cubicBezTo>
                <a:cubicBezTo>
                  <a:pt x="148144" y="0"/>
                  <a:pt x="152400" y="4256"/>
                  <a:pt x="152400" y="9525"/>
                </a:cubicBezTo>
                <a:lnTo>
                  <a:pt x="152400" y="47625"/>
                </a:lnTo>
                <a:cubicBezTo>
                  <a:pt x="152400" y="52894"/>
                  <a:pt x="148144" y="57150"/>
                  <a:pt x="142875" y="57150"/>
                </a:cubicBezTo>
                <a:lnTo>
                  <a:pt x="104775" y="57150"/>
                </a:lnTo>
                <a:cubicBezTo>
                  <a:pt x="99506" y="57150"/>
                  <a:pt x="95250" y="52894"/>
                  <a:pt x="95250" y="47625"/>
                </a:cubicBezTo>
                <a:cubicBezTo>
                  <a:pt x="95250" y="42356"/>
                  <a:pt x="99506" y="38100"/>
                  <a:pt x="104775" y="38100"/>
                </a:cubicBezTo>
                <a:lnTo>
                  <a:pt x="119033" y="38100"/>
                </a:lnTo>
                <a:lnTo>
                  <a:pt x="116771" y="35957"/>
                </a:lnTo>
                <a:cubicBezTo>
                  <a:pt x="116711" y="35897"/>
                  <a:pt x="116651" y="35838"/>
                  <a:pt x="116592" y="35778"/>
                </a:cubicBezTo>
                <a:cubicBezTo>
                  <a:pt x="94268" y="13454"/>
                  <a:pt x="58102" y="13454"/>
                  <a:pt x="35778" y="35778"/>
                </a:cubicBezTo>
                <a:cubicBezTo>
                  <a:pt x="13454" y="58103"/>
                  <a:pt x="13454" y="94268"/>
                  <a:pt x="35778" y="116592"/>
                </a:cubicBezTo>
                <a:cubicBezTo>
                  <a:pt x="58102" y="138916"/>
                  <a:pt x="94268" y="138916"/>
                  <a:pt x="116592" y="116592"/>
                </a:cubicBezTo>
                <a:cubicBezTo>
                  <a:pt x="119033" y="114151"/>
                  <a:pt x="121206" y="111562"/>
                  <a:pt x="123111" y="108823"/>
                </a:cubicBezTo>
                <a:cubicBezTo>
                  <a:pt x="126117" y="104507"/>
                  <a:pt x="132070" y="103465"/>
                  <a:pt x="136386" y="106472"/>
                </a:cubicBezTo>
                <a:cubicBezTo>
                  <a:pt x="140702" y="109478"/>
                  <a:pt x="141744" y="115431"/>
                  <a:pt x="138738" y="119747"/>
                </a:cubicBezTo>
                <a:cubicBezTo>
                  <a:pt x="136207" y="123379"/>
                  <a:pt x="133320" y="126831"/>
                  <a:pt x="130076" y="130076"/>
                </a:cubicBezTo>
                <a:cubicBezTo>
                  <a:pt x="100310" y="159841"/>
                  <a:pt x="52060" y="159841"/>
                  <a:pt x="22324" y="130076"/>
                </a:cubicBezTo>
                <a:cubicBezTo>
                  <a:pt x="-7412" y="100310"/>
                  <a:pt x="-7441" y="52090"/>
                  <a:pt x="22324" y="22324"/>
                </a:cubicBezTo>
                <a:cubicBezTo>
                  <a:pt x="52060" y="-7412"/>
                  <a:pt x="100221" y="-7441"/>
                  <a:pt x="129986" y="22235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62825" y="320040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MaxRetryCount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65206" y="321945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20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integer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43725" y="3619500"/>
            <a:ext cx="4676775" cy="419100"/>
          </a:xfrm>
          <a:custGeom>
            <a:avLst/>
            <a:gdLst/>
            <a:ahLst/>
            <a:cxnLst/>
            <a:rect l="l" t="t" r="r" b="b"/>
            <a:pathLst>
              <a:path w="4676775" h="419100">
                <a:moveTo>
                  <a:pt x="76201" y="0"/>
                </a:moveTo>
                <a:lnTo>
                  <a:pt x="4600574" y="0"/>
                </a:lnTo>
                <a:cubicBezTo>
                  <a:pt x="4642659" y="0"/>
                  <a:pt x="4676775" y="34116"/>
                  <a:pt x="4676775" y="76201"/>
                </a:cubicBezTo>
                <a:lnTo>
                  <a:pt x="4676775" y="342899"/>
                </a:lnTo>
                <a:cubicBezTo>
                  <a:pt x="4676775" y="384984"/>
                  <a:pt x="4642659" y="419100"/>
                  <a:pt x="46005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077075" y="3752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62825" y="373380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MaxRetryDelaySeconds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65206" y="375285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20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43725" y="4152900"/>
            <a:ext cx="4676775" cy="419100"/>
          </a:xfrm>
          <a:custGeom>
            <a:avLst/>
            <a:gdLst/>
            <a:ahLst/>
            <a:cxnLst/>
            <a:rect l="l" t="t" r="r" b="b"/>
            <a:pathLst>
              <a:path w="4676775" h="419100">
                <a:moveTo>
                  <a:pt x="76201" y="0"/>
                </a:moveTo>
                <a:lnTo>
                  <a:pt x="4600574" y="0"/>
                </a:lnTo>
                <a:cubicBezTo>
                  <a:pt x="4642659" y="0"/>
                  <a:pt x="4676775" y="34116"/>
                  <a:pt x="4676775" y="76201"/>
                </a:cubicBezTo>
                <a:lnTo>
                  <a:pt x="4676775" y="342899"/>
                </a:lnTo>
                <a:cubicBezTo>
                  <a:pt x="4676775" y="384984"/>
                  <a:pt x="4642659" y="419100"/>
                  <a:pt x="46005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096125" y="42862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525" y="0"/>
                </a:moveTo>
                <a:cubicBezTo>
                  <a:pt x="4256" y="0"/>
                  <a:pt x="0" y="4256"/>
                  <a:pt x="0" y="9525"/>
                </a:cubicBezTo>
                <a:cubicBezTo>
                  <a:pt x="0" y="14794"/>
                  <a:pt x="4256" y="19050"/>
                  <a:pt x="9525" y="19050"/>
                </a:cubicBezTo>
                <a:lnTo>
                  <a:pt x="9525" y="22324"/>
                </a:lnTo>
                <a:cubicBezTo>
                  <a:pt x="9525" y="34945"/>
                  <a:pt x="14555" y="47059"/>
                  <a:pt x="23485" y="55989"/>
                </a:cubicBezTo>
                <a:lnTo>
                  <a:pt x="43696" y="76200"/>
                </a:lnTo>
                <a:lnTo>
                  <a:pt x="23485" y="96411"/>
                </a:lnTo>
                <a:cubicBezTo>
                  <a:pt x="14555" y="105341"/>
                  <a:pt x="9525" y="117455"/>
                  <a:pt x="9525" y="130076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04775" y="152400"/>
                </a:lnTo>
                <a:cubicBezTo>
                  <a:pt x="110044" y="152400"/>
                  <a:pt x="114300" y="148144"/>
                  <a:pt x="114300" y="142875"/>
                </a:cubicBezTo>
                <a:cubicBezTo>
                  <a:pt x="114300" y="137606"/>
                  <a:pt x="110044" y="133350"/>
                  <a:pt x="104775" y="133350"/>
                </a:cubicBezTo>
                <a:lnTo>
                  <a:pt x="104775" y="130076"/>
                </a:lnTo>
                <a:cubicBezTo>
                  <a:pt x="104775" y="117455"/>
                  <a:pt x="99745" y="105341"/>
                  <a:pt x="90815" y="96411"/>
                </a:cubicBezTo>
                <a:lnTo>
                  <a:pt x="70604" y="76200"/>
                </a:lnTo>
                <a:lnTo>
                  <a:pt x="90815" y="55989"/>
                </a:lnTo>
                <a:cubicBezTo>
                  <a:pt x="99745" y="47059"/>
                  <a:pt x="104775" y="34945"/>
                  <a:pt x="104775" y="22324"/>
                </a:cubicBezTo>
                <a:lnTo>
                  <a:pt x="104775" y="19050"/>
                </a:lnTo>
                <a:cubicBezTo>
                  <a:pt x="110044" y="19050"/>
                  <a:pt x="114300" y="14794"/>
                  <a:pt x="114300" y="9525"/>
                </a:cubicBezTo>
                <a:cubicBezTo>
                  <a:pt x="114300" y="4256"/>
                  <a:pt x="110044" y="0"/>
                  <a:pt x="104775" y="0"/>
                </a:cubicBezTo>
                <a:lnTo>
                  <a:pt x="9525" y="0"/>
                </a:lnTo>
                <a:close/>
                <a:moveTo>
                  <a:pt x="28575" y="22324"/>
                </a:moveTo>
                <a:lnTo>
                  <a:pt x="28575" y="19050"/>
                </a:lnTo>
                <a:lnTo>
                  <a:pt x="85725" y="19050"/>
                </a:lnTo>
                <a:lnTo>
                  <a:pt x="85725" y="22324"/>
                </a:lnTo>
                <a:cubicBezTo>
                  <a:pt x="85725" y="27980"/>
                  <a:pt x="84058" y="33457"/>
                  <a:pt x="80962" y="38100"/>
                </a:cubicBezTo>
                <a:lnTo>
                  <a:pt x="33338" y="38100"/>
                </a:lnTo>
                <a:cubicBezTo>
                  <a:pt x="30272" y="33457"/>
                  <a:pt x="28575" y="27980"/>
                  <a:pt x="28575" y="22324"/>
                </a:cubicBezTo>
                <a:close/>
                <a:moveTo>
                  <a:pt x="33338" y="114300"/>
                </a:moveTo>
                <a:cubicBezTo>
                  <a:pt x="34379" y="112722"/>
                  <a:pt x="35600" y="111234"/>
                  <a:pt x="36939" y="109865"/>
                </a:cubicBezTo>
                <a:lnTo>
                  <a:pt x="57150" y="89654"/>
                </a:lnTo>
                <a:lnTo>
                  <a:pt x="77361" y="109865"/>
                </a:lnTo>
                <a:cubicBezTo>
                  <a:pt x="78730" y="111234"/>
                  <a:pt x="79921" y="112722"/>
                  <a:pt x="80992" y="114300"/>
                </a:cubicBezTo>
                <a:lnTo>
                  <a:pt x="33338" y="11430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362825" y="4267200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CommandTimeoutSeconds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65206" y="4286250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20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757035" y="5727382"/>
            <a:ext cx="5046345" cy="750570"/>
          </a:xfrm>
          <a:custGeom>
            <a:avLst/>
            <a:gdLst/>
            <a:ahLst/>
            <a:cxnLst/>
            <a:rect l="l" t="t" r="r" b="b"/>
            <a:pathLst>
              <a:path w="5046345" h="750570">
                <a:moveTo>
                  <a:pt x="114297" y="0"/>
                </a:moveTo>
                <a:lnTo>
                  <a:pt x="4932048" y="0"/>
                </a:lnTo>
                <a:cubicBezTo>
                  <a:pt x="4995173" y="0"/>
                  <a:pt x="5046345" y="51172"/>
                  <a:pt x="5046345" y="114297"/>
                </a:cubicBezTo>
                <a:lnTo>
                  <a:pt x="5046345" y="636273"/>
                </a:lnTo>
                <a:cubicBezTo>
                  <a:pt x="5046345" y="699398"/>
                  <a:pt x="4995173" y="750570"/>
                  <a:pt x="4932048" y="750570"/>
                </a:cubicBezTo>
                <a:lnTo>
                  <a:pt x="114297" y="750570"/>
                </a:lnTo>
                <a:cubicBezTo>
                  <a:pt x="51172" y="750570"/>
                  <a:pt x="0" y="699398"/>
                  <a:pt x="0" y="63627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 w="10160">
            <a:solidFill>
              <a:srgbClr val="26A2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932295" y="592931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141845" y="5883594"/>
            <a:ext cx="4572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r>
              <a:rPr lang="en-US" sz="1050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Provider selection is controlled in code at composition time, not through configuration.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518" y="379518"/>
            <a:ext cx="37952" cy="303614"/>
          </a:xfrm>
          <a:custGeom>
            <a:avLst/>
            <a:gdLst/>
            <a:ahLst/>
            <a:cxnLst/>
            <a:rect l="l" t="t" r="r" b="b"/>
            <a:pathLst>
              <a:path w="37952" h="303614">
                <a:moveTo>
                  <a:pt x="0" y="0"/>
                </a:moveTo>
                <a:lnTo>
                  <a:pt x="37952" y="0"/>
                </a:lnTo>
                <a:lnTo>
                  <a:pt x="37952" y="303614"/>
                </a:lnTo>
                <a:lnTo>
                  <a:pt x="0" y="303614"/>
                </a:lnTo>
                <a:lnTo>
                  <a:pt x="0" y="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1325" y="436445"/>
            <a:ext cx="740059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b="1" kern="0" spc="52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9518" y="759035"/>
            <a:ext cx="11603748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9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and Secret Management Standard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9518" y="1176504"/>
            <a:ext cx="11518356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 rules for credential and configuration protection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9518" y="1593974"/>
            <a:ext cx="11432965" cy="2210689"/>
          </a:xfrm>
          <a:custGeom>
            <a:avLst/>
            <a:gdLst/>
            <a:ahLst/>
            <a:cxnLst/>
            <a:rect l="l" t="t" r="r" b="b"/>
            <a:pathLst>
              <a:path w="11432965" h="2210689">
                <a:moveTo>
                  <a:pt x="113851" y="0"/>
                </a:moveTo>
                <a:lnTo>
                  <a:pt x="11319114" y="0"/>
                </a:lnTo>
                <a:cubicBezTo>
                  <a:pt x="11381992" y="0"/>
                  <a:pt x="11432965" y="50973"/>
                  <a:pt x="11432965" y="113851"/>
                </a:cubicBezTo>
                <a:lnTo>
                  <a:pt x="11432965" y="2096839"/>
                </a:lnTo>
                <a:cubicBezTo>
                  <a:pt x="11432965" y="2159717"/>
                  <a:pt x="11381992" y="2210689"/>
                  <a:pt x="11319114" y="2210689"/>
                </a:cubicBezTo>
                <a:lnTo>
                  <a:pt x="113851" y="2210689"/>
                </a:lnTo>
                <a:cubicBezTo>
                  <a:pt x="50973" y="2210689"/>
                  <a:pt x="0" y="2159717"/>
                  <a:pt x="0" y="2096839"/>
                </a:cubicBezTo>
                <a:lnTo>
                  <a:pt x="0" y="113851"/>
                </a:lnTo>
                <a:cubicBezTo>
                  <a:pt x="0" y="51015"/>
                  <a:pt x="51015" y="0"/>
                  <a:pt x="113851" y="0"/>
                </a:cubicBezTo>
                <a:close/>
              </a:path>
            </a:pathLst>
          </a:custGeom>
          <a:solidFill>
            <a:srgbClr val="0F2D63"/>
          </a:solidFill>
          <a:ln/>
          <a:effectLst>
            <a:outerShdw blurRad="142319" dist="9487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7228" y="1821684"/>
            <a:ext cx="607228" cy="607228"/>
          </a:xfrm>
          <a:custGeom>
            <a:avLst/>
            <a:gdLst/>
            <a:ahLst/>
            <a:cxnLst/>
            <a:rect l="l" t="t" r="r" b="b"/>
            <a:pathLst>
              <a:path w="607228" h="607228">
                <a:moveTo>
                  <a:pt x="113855" y="0"/>
                </a:moveTo>
                <a:lnTo>
                  <a:pt x="493373" y="0"/>
                </a:lnTo>
                <a:cubicBezTo>
                  <a:pt x="556253" y="0"/>
                  <a:pt x="607228" y="50975"/>
                  <a:pt x="607228" y="113855"/>
                </a:cubicBezTo>
                <a:lnTo>
                  <a:pt x="607228" y="493373"/>
                </a:lnTo>
                <a:cubicBezTo>
                  <a:pt x="607228" y="556253"/>
                  <a:pt x="556253" y="607228"/>
                  <a:pt x="493373" y="607228"/>
                </a:cubicBezTo>
                <a:lnTo>
                  <a:pt x="113855" y="607228"/>
                </a:lnTo>
                <a:cubicBezTo>
                  <a:pt x="50975" y="607228"/>
                  <a:pt x="0" y="556253"/>
                  <a:pt x="0" y="493373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0895" y="1982979"/>
            <a:ext cx="284638" cy="284638"/>
          </a:xfrm>
          <a:custGeom>
            <a:avLst/>
            <a:gdLst/>
            <a:ahLst/>
            <a:cxnLst/>
            <a:rect l="l" t="t" r="r" b="b"/>
            <a:pathLst>
              <a:path w="284638" h="284638">
                <a:moveTo>
                  <a:pt x="204139" y="229323"/>
                </a:moveTo>
                <a:lnTo>
                  <a:pt x="55315" y="80499"/>
                </a:lnTo>
                <a:cubicBezTo>
                  <a:pt x="42862" y="97956"/>
                  <a:pt x="35580" y="119303"/>
                  <a:pt x="35580" y="142319"/>
                </a:cubicBezTo>
                <a:cubicBezTo>
                  <a:pt x="35580" y="201248"/>
                  <a:pt x="83390" y="249058"/>
                  <a:pt x="142319" y="249058"/>
                </a:cubicBezTo>
                <a:cubicBezTo>
                  <a:pt x="165390" y="249058"/>
                  <a:pt x="186738" y="241776"/>
                  <a:pt x="204139" y="229323"/>
                </a:cubicBezTo>
                <a:close/>
                <a:moveTo>
                  <a:pt x="229323" y="204139"/>
                </a:moveTo>
                <a:cubicBezTo>
                  <a:pt x="241776" y="186683"/>
                  <a:pt x="249058" y="165335"/>
                  <a:pt x="249058" y="142319"/>
                </a:cubicBezTo>
                <a:cubicBezTo>
                  <a:pt x="249058" y="83390"/>
                  <a:pt x="201248" y="35580"/>
                  <a:pt x="142319" y="35580"/>
                </a:cubicBezTo>
                <a:cubicBezTo>
                  <a:pt x="119248" y="35580"/>
                  <a:pt x="97900" y="42862"/>
                  <a:pt x="80499" y="55315"/>
                </a:cubicBezTo>
                <a:lnTo>
                  <a:pt x="229323" y="204139"/>
                </a:lnTo>
                <a:close/>
                <a:moveTo>
                  <a:pt x="0" y="142319"/>
                </a:moveTo>
                <a:cubicBezTo>
                  <a:pt x="0" y="63771"/>
                  <a:pt x="63771" y="0"/>
                  <a:pt x="142319" y="0"/>
                </a:cubicBezTo>
                <a:cubicBezTo>
                  <a:pt x="220867" y="0"/>
                  <a:pt x="284638" y="63771"/>
                  <a:pt x="284638" y="142319"/>
                </a:cubicBezTo>
                <a:cubicBezTo>
                  <a:pt x="284638" y="220867"/>
                  <a:pt x="220867" y="284638"/>
                  <a:pt x="142319" y="284638"/>
                </a:cubicBezTo>
                <a:cubicBezTo>
                  <a:pt x="63771" y="284638"/>
                  <a:pt x="0" y="220867"/>
                  <a:pt x="0" y="142319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04215" y="1821684"/>
            <a:ext cx="10294412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 Rule: No Secrets in appsettings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04215" y="2201086"/>
            <a:ext cx="10256461" cy="246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Sensitive values must never be committed to appsettings.json or appsettings.Development.json. This is a non-negotiable security baseline.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08010" y="2603374"/>
            <a:ext cx="5026709" cy="425060"/>
          </a:xfrm>
          <a:custGeom>
            <a:avLst/>
            <a:gdLst/>
            <a:ahLst/>
            <a:cxnLst/>
            <a:rect l="l" t="t" r="r" b="b"/>
            <a:pathLst>
              <a:path w="5026709" h="425060">
                <a:moveTo>
                  <a:pt x="75903" y="0"/>
                </a:moveTo>
                <a:lnTo>
                  <a:pt x="4950807" y="0"/>
                </a:lnTo>
                <a:cubicBezTo>
                  <a:pt x="4992727" y="0"/>
                  <a:pt x="5026709" y="33983"/>
                  <a:pt x="5026709" y="75903"/>
                </a:cubicBezTo>
                <a:lnTo>
                  <a:pt x="5026709" y="349157"/>
                </a:lnTo>
                <a:cubicBezTo>
                  <a:pt x="5026709" y="391077"/>
                  <a:pt x="4992727" y="425060"/>
                  <a:pt x="4950807" y="425060"/>
                </a:cubicBezTo>
                <a:lnTo>
                  <a:pt x="75903" y="425060"/>
                </a:lnTo>
                <a:cubicBezTo>
                  <a:pt x="33983" y="425060"/>
                  <a:pt x="0" y="391077"/>
                  <a:pt x="0" y="349157"/>
                </a:cubicBezTo>
                <a:lnTo>
                  <a:pt x="0" y="75903"/>
                </a:lnTo>
                <a:cubicBezTo>
                  <a:pt x="0" y="34011"/>
                  <a:pt x="34011" y="0"/>
                  <a:pt x="75903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61240" y="2751386"/>
            <a:ext cx="99623" cy="132831"/>
          </a:xfrm>
          <a:custGeom>
            <a:avLst/>
            <a:gdLst/>
            <a:ahLst/>
            <a:cxnLst/>
            <a:rect l="l" t="t" r="r" b="b"/>
            <a:pathLst>
              <a:path w="99623" h="132831">
                <a:moveTo>
                  <a:pt x="14295" y="19043"/>
                </a:moveTo>
                <a:cubicBezTo>
                  <a:pt x="11052" y="15800"/>
                  <a:pt x="5785" y="15800"/>
                  <a:pt x="2542" y="19043"/>
                </a:cubicBezTo>
                <a:cubicBezTo>
                  <a:pt x="-700" y="22286"/>
                  <a:pt x="-700" y="27552"/>
                  <a:pt x="2542" y="30795"/>
                </a:cubicBezTo>
                <a:lnTo>
                  <a:pt x="38189" y="66416"/>
                </a:lnTo>
                <a:lnTo>
                  <a:pt x="2568" y="102062"/>
                </a:lnTo>
                <a:cubicBezTo>
                  <a:pt x="-675" y="105305"/>
                  <a:pt x="-675" y="110572"/>
                  <a:pt x="2568" y="113814"/>
                </a:cubicBezTo>
                <a:cubicBezTo>
                  <a:pt x="5811" y="117057"/>
                  <a:pt x="11078" y="117057"/>
                  <a:pt x="14321" y="113814"/>
                </a:cubicBezTo>
                <a:lnTo>
                  <a:pt x="49941" y="78168"/>
                </a:lnTo>
                <a:lnTo>
                  <a:pt x="85588" y="113789"/>
                </a:lnTo>
                <a:cubicBezTo>
                  <a:pt x="88831" y="117031"/>
                  <a:pt x="94097" y="117031"/>
                  <a:pt x="97340" y="113789"/>
                </a:cubicBezTo>
                <a:cubicBezTo>
                  <a:pt x="100583" y="110546"/>
                  <a:pt x="100583" y="105279"/>
                  <a:pt x="97340" y="102036"/>
                </a:cubicBezTo>
                <a:lnTo>
                  <a:pt x="61694" y="66416"/>
                </a:lnTo>
                <a:lnTo>
                  <a:pt x="97314" y="30769"/>
                </a:lnTo>
                <a:cubicBezTo>
                  <a:pt x="100557" y="27526"/>
                  <a:pt x="100557" y="22260"/>
                  <a:pt x="97314" y="19017"/>
                </a:cubicBezTo>
                <a:cubicBezTo>
                  <a:pt x="94071" y="15774"/>
                  <a:pt x="88805" y="15774"/>
                  <a:pt x="85562" y="19017"/>
                </a:cubicBezTo>
                <a:lnTo>
                  <a:pt x="49941" y="54663"/>
                </a:lnTo>
                <a:lnTo>
                  <a:pt x="14295" y="19043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53149" y="2721023"/>
            <a:ext cx="4630335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strings with credentials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56758" y="2603374"/>
            <a:ext cx="5026709" cy="425060"/>
          </a:xfrm>
          <a:custGeom>
            <a:avLst/>
            <a:gdLst/>
            <a:ahLst/>
            <a:cxnLst/>
            <a:rect l="l" t="t" r="r" b="b"/>
            <a:pathLst>
              <a:path w="5026709" h="425060">
                <a:moveTo>
                  <a:pt x="75903" y="0"/>
                </a:moveTo>
                <a:lnTo>
                  <a:pt x="4950807" y="0"/>
                </a:lnTo>
                <a:cubicBezTo>
                  <a:pt x="4992727" y="0"/>
                  <a:pt x="5026709" y="33983"/>
                  <a:pt x="5026709" y="75903"/>
                </a:cubicBezTo>
                <a:lnTo>
                  <a:pt x="5026709" y="349157"/>
                </a:lnTo>
                <a:cubicBezTo>
                  <a:pt x="5026709" y="391077"/>
                  <a:pt x="4992727" y="425060"/>
                  <a:pt x="4950807" y="425060"/>
                </a:cubicBezTo>
                <a:lnTo>
                  <a:pt x="75903" y="425060"/>
                </a:lnTo>
                <a:cubicBezTo>
                  <a:pt x="33983" y="425060"/>
                  <a:pt x="0" y="391077"/>
                  <a:pt x="0" y="349157"/>
                </a:cubicBezTo>
                <a:lnTo>
                  <a:pt x="0" y="75903"/>
                </a:lnTo>
                <a:cubicBezTo>
                  <a:pt x="0" y="34011"/>
                  <a:pt x="34011" y="0"/>
                  <a:pt x="75903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09988" y="2751386"/>
            <a:ext cx="99623" cy="132831"/>
          </a:xfrm>
          <a:custGeom>
            <a:avLst/>
            <a:gdLst/>
            <a:ahLst/>
            <a:cxnLst/>
            <a:rect l="l" t="t" r="r" b="b"/>
            <a:pathLst>
              <a:path w="99623" h="132831">
                <a:moveTo>
                  <a:pt x="14295" y="19043"/>
                </a:moveTo>
                <a:cubicBezTo>
                  <a:pt x="11052" y="15800"/>
                  <a:pt x="5785" y="15800"/>
                  <a:pt x="2542" y="19043"/>
                </a:cubicBezTo>
                <a:cubicBezTo>
                  <a:pt x="-700" y="22286"/>
                  <a:pt x="-700" y="27552"/>
                  <a:pt x="2542" y="30795"/>
                </a:cubicBezTo>
                <a:lnTo>
                  <a:pt x="38189" y="66416"/>
                </a:lnTo>
                <a:lnTo>
                  <a:pt x="2568" y="102062"/>
                </a:lnTo>
                <a:cubicBezTo>
                  <a:pt x="-675" y="105305"/>
                  <a:pt x="-675" y="110572"/>
                  <a:pt x="2568" y="113814"/>
                </a:cubicBezTo>
                <a:cubicBezTo>
                  <a:pt x="5811" y="117057"/>
                  <a:pt x="11078" y="117057"/>
                  <a:pt x="14321" y="113814"/>
                </a:cubicBezTo>
                <a:lnTo>
                  <a:pt x="49941" y="78168"/>
                </a:lnTo>
                <a:lnTo>
                  <a:pt x="85588" y="113789"/>
                </a:lnTo>
                <a:cubicBezTo>
                  <a:pt x="88831" y="117031"/>
                  <a:pt x="94097" y="117031"/>
                  <a:pt x="97340" y="113789"/>
                </a:cubicBezTo>
                <a:cubicBezTo>
                  <a:pt x="100583" y="110546"/>
                  <a:pt x="100583" y="105279"/>
                  <a:pt x="97340" y="102036"/>
                </a:cubicBezTo>
                <a:lnTo>
                  <a:pt x="61694" y="66416"/>
                </a:lnTo>
                <a:lnTo>
                  <a:pt x="97314" y="30769"/>
                </a:lnTo>
                <a:cubicBezTo>
                  <a:pt x="100557" y="27526"/>
                  <a:pt x="100557" y="22260"/>
                  <a:pt x="97314" y="19017"/>
                </a:cubicBezTo>
                <a:cubicBezTo>
                  <a:pt x="94071" y="15774"/>
                  <a:pt x="88805" y="15774"/>
                  <a:pt x="85562" y="19017"/>
                </a:cubicBezTo>
                <a:lnTo>
                  <a:pt x="49941" y="54663"/>
                </a:lnTo>
                <a:lnTo>
                  <a:pt x="14295" y="19043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01898" y="2721023"/>
            <a:ext cx="4630335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keys and tokens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08010" y="3149876"/>
            <a:ext cx="5026709" cy="425060"/>
          </a:xfrm>
          <a:custGeom>
            <a:avLst/>
            <a:gdLst/>
            <a:ahLst/>
            <a:cxnLst/>
            <a:rect l="l" t="t" r="r" b="b"/>
            <a:pathLst>
              <a:path w="5026709" h="425060">
                <a:moveTo>
                  <a:pt x="75903" y="0"/>
                </a:moveTo>
                <a:lnTo>
                  <a:pt x="4950807" y="0"/>
                </a:lnTo>
                <a:cubicBezTo>
                  <a:pt x="4992727" y="0"/>
                  <a:pt x="5026709" y="33983"/>
                  <a:pt x="5026709" y="75903"/>
                </a:cubicBezTo>
                <a:lnTo>
                  <a:pt x="5026709" y="349157"/>
                </a:lnTo>
                <a:cubicBezTo>
                  <a:pt x="5026709" y="391077"/>
                  <a:pt x="4992727" y="425060"/>
                  <a:pt x="4950807" y="425060"/>
                </a:cubicBezTo>
                <a:lnTo>
                  <a:pt x="75903" y="425060"/>
                </a:lnTo>
                <a:cubicBezTo>
                  <a:pt x="33983" y="425060"/>
                  <a:pt x="0" y="391077"/>
                  <a:pt x="0" y="349157"/>
                </a:cubicBezTo>
                <a:lnTo>
                  <a:pt x="0" y="75903"/>
                </a:lnTo>
                <a:cubicBezTo>
                  <a:pt x="0" y="34011"/>
                  <a:pt x="34011" y="0"/>
                  <a:pt x="75903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61240" y="3297888"/>
            <a:ext cx="99623" cy="132831"/>
          </a:xfrm>
          <a:custGeom>
            <a:avLst/>
            <a:gdLst/>
            <a:ahLst/>
            <a:cxnLst/>
            <a:rect l="l" t="t" r="r" b="b"/>
            <a:pathLst>
              <a:path w="99623" h="132831">
                <a:moveTo>
                  <a:pt x="14295" y="19043"/>
                </a:moveTo>
                <a:cubicBezTo>
                  <a:pt x="11052" y="15800"/>
                  <a:pt x="5785" y="15800"/>
                  <a:pt x="2542" y="19043"/>
                </a:cubicBezTo>
                <a:cubicBezTo>
                  <a:pt x="-700" y="22286"/>
                  <a:pt x="-700" y="27552"/>
                  <a:pt x="2542" y="30795"/>
                </a:cubicBezTo>
                <a:lnTo>
                  <a:pt x="38189" y="66416"/>
                </a:lnTo>
                <a:lnTo>
                  <a:pt x="2568" y="102062"/>
                </a:lnTo>
                <a:cubicBezTo>
                  <a:pt x="-675" y="105305"/>
                  <a:pt x="-675" y="110572"/>
                  <a:pt x="2568" y="113814"/>
                </a:cubicBezTo>
                <a:cubicBezTo>
                  <a:pt x="5811" y="117057"/>
                  <a:pt x="11078" y="117057"/>
                  <a:pt x="14321" y="113814"/>
                </a:cubicBezTo>
                <a:lnTo>
                  <a:pt x="49941" y="78168"/>
                </a:lnTo>
                <a:lnTo>
                  <a:pt x="85588" y="113789"/>
                </a:lnTo>
                <a:cubicBezTo>
                  <a:pt x="88831" y="117031"/>
                  <a:pt x="94097" y="117031"/>
                  <a:pt x="97340" y="113789"/>
                </a:cubicBezTo>
                <a:cubicBezTo>
                  <a:pt x="100583" y="110546"/>
                  <a:pt x="100583" y="105279"/>
                  <a:pt x="97340" y="102036"/>
                </a:cubicBezTo>
                <a:lnTo>
                  <a:pt x="61694" y="66416"/>
                </a:lnTo>
                <a:lnTo>
                  <a:pt x="97314" y="30769"/>
                </a:lnTo>
                <a:cubicBezTo>
                  <a:pt x="100557" y="27526"/>
                  <a:pt x="100557" y="22260"/>
                  <a:pt x="97314" y="19017"/>
                </a:cubicBezTo>
                <a:cubicBezTo>
                  <a:pt x="94071" y="15774"/>
                  <a:pt x="88805" y="15774"/>
                  <a:pt x="85562" y="19017"/>
                </a:cubicBezTo>
                <a:lnTo>
                  <a:pt x="49941" y="54663"/>
                </a:lnTo>
                <a:lnTo>
                  <a:pt x="14295" y="19043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53149" y="3267529"/>
            <a:ext cx="4630335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 credentials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56758" y="3149876"/>
            <a:ext cx="5026709" cy="425060"/>
          </a:xfrm>
          <a:custGeom>
            <a:avLst/>
            <a:gdLst/>
            <a:ahLst/>
            <a:cxnLst/>
            <a:rect l="l" t="t" r="r" b="b"/>
            <a:pathLst>
              <a:path w="5026709" h="425060">
                <a:moveTo>
                  <a:pt x="75903" y="0"/>
                </a:moveTo>
                <a:lnTo>
                  <a:pt x="4950807" y="0"/>
                </a:lnTo>
                <a:cubicBezTo>
                  <a:pt x="4992727" y="0"/>
                  <a:pt x="5026709" y="33983"/>
                  <a:pt x="5026709" y="75903"/>
                </a:cubicBezTo>
                <a:lnTo>
                  <a:pt x="5026709" y="349157"/>
                </a:lnTo>
                <a:cubicBezTo>
                  <a:pt x="5026709" y="391077"/>
                  <a:pt x="4992727" y="425060"/>
                  <a:pt x="4950807" y="425060"/>
                </a:cubicBezTo>
                <a:lnTo>
                  <a:pt x="75903" y="425060"/>
                </a:lnTo>
                <a:cubicBezTo>
                  <a:pt x="33983" y="425060"/>
                  <a:pt x="0" y="391077"/>
                  <a:pt x="0" y="349157"/>
                </a:cubicBezTo>
                <a:lnTo>
                  <a:pt x="0" y="75903"/>
                </a:lnTo>
                <a:cubicBezTo>
                  <a:pt x="0" y="34011"/>
                  <a:pt x="34011" y="0"/>
                  <a:pt x="75903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09988" y="3297888"/>
            <a:ext cx="99623" cy="132831"/>
          </a:xfrm>
          <a:custGeom>
            <a:avLst/>
            <a:gdLst/>
            <a:ahLst/>
            <a:cxnLst/>
            <a:rect l="l" t="t" r="r" b="b"/>
            <a:pathLst>
              <a:path w="99623" h="132831">
                <a:moveTo>
                  <a:pt x="14295" y="19043"/>
                </a:moveTo>
                <a:cubicBezTo>
                  <a:pt x="11052" y="15800"/>
                  <a:pt x="5785" y="15800"/>
                  <a:pt x="2542" y="19043"/>
                </a:cubicBezTo>
                <a:cubicBezTo>
                  <a:pt x="-700" y="22286"/>
                  <a:pt x="-700" y="27552"/>
                  <a:pt x="2542" y="30795"/>
                </a:cubicBezTo>
                <a:lnTo>
                  <a:pt x="38189" y="66416"/>
                </a:lnTo>
                <a:lnTo>
                  <a:pt x="2568" y="102062"/>
                </a:lnTo>
                <a:cubicBezTo>
                  <a:pt x="-675" y="105305"/>
                  <a:pt x="-675" y="110572"/>
                  <a:pt x="2568" y="113814"/>
                </a:cubicBezTo>
                <a:cubicBezTo>
                  <a:pt x="5811" y="117057"/>
                  <a:pt x="11078" y="117057"/>
                  <a:pt x="14321" y="113814"/>
                </a:cubicBezTo>
                <a:lnTo>
                  <a:pt x="49941" y="78168"/>
                </a:lnTo>
                <a:lnTo>
                  <a:pt x="85588" y="113789"/>
                </a:lnTo>
                <a:cubicBezTo>
                  <a:pt x="88831" y="117031"/>
                  <a:pt x="94097" y="117031"/>
                  <a:pt x="97340" y="113789"/>
                </a:cubicBezTo>
                <a:cubicBezTo>
                  <a:pt x="100583" y="110546"/>
                  <a:pt x="100583" y="105279"/>
                  <a:pt x="97340" y="102036"/>
                </a:cubicBezTo>
                <a:lnTo>
                  <a:pt x="61694" y="66416"/>
                </a:lnTo>
                <a:lnTo>
                  <a:pt x="97314" y="30769"/>
                </a:lnTo>
                <a:cubicBezTo>
                  <a:pt x="100557" y="27526"/>
                  <a:pt x="100557" y="22260"/>
                  <a:pt x="97314" y="19017"/>
                </a:cubicBezTo>
                <a:cubicBezTo>
                  <a:pt x="94071" y="15774"/>
                  <a:pt x="88805" y="15774"/>
                  <a:pt x="85562" y="19017"/>
                </a:cubicBezTo>
                <a:lnTo>
                  <a:pt x="49941" y="54663"/>
                </a:lnTo>
                <a:lnTo>
                  <a:pt x="14295" y="19043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1898" y="3267529"/>
            <a:ext cx="4630335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API secrets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8493" y="3880425"/>
            <a:ext cx="5626347" cy="1973491"/>
          </a:xfrm>
          <a:custGeom>
            <a:avLst/>
            <a:gdLst/>
            <a:ahLst/>
            <a:cxnLst/>
            <a:rect l="l" t="t" r="r" b="b"/>
            <a:pathLst>
              <a:path w="5626347" h="1973491">
                <a:moveTo>
                  <a:pt x="37952" y="0"/>
                </a:moveTo>
                <a:lnTo>
                  <a:pt x="5512496" y="0"/>
                </a:lnTo>
                <a:cubicBezTo>
                  <a:pt x="5575374" y="0"/>
                  <a:pt x="5626347" y="50973"/>
                  <a:pt x="5626347" y="113851"/>
                </a:cubicBezTo>
                <a:lnTo>
                  <a:pt x="5626347" y="1859640"/>
                </a:lnTo>
                <a:cubicBezTo>
                  <a:pt x="5626347" y="1922518"/>
                  <a:pt x="5575374" y="1973491"/>
                  <a:pt x="5512496" y="1973491"/>
                </a:cubicBezTo>
                <a:lnTo>
                  <a:pt x="37952" y="1973491"/>
                </a:lnTo>
                <a:cubicBezTo>
                  <a:pt x="16992" y="1973491"/>
                  <a:pt x="0" y="1956499"/>
                  <a:pt x="0" y="1935539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319" dist="9487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98493" y="3880425"/>
            <a:ext cx="37952" cy="1973491"/>
          </a:xfrm>
          <a:custGeom>
            <a:avLst/>
            <a:gdLst/>
            <a:ahLst/>
            <a:cxnLst/>
            <a:rect l="l" t="t" r="r" b="b"/>
            <a:pathLst>
              <a:path w="37952" h="1973491">
                <a:moveTo>
                  <a:pt x="37952" y="0"/>
                </a:moveTo>
                <a:lnTo>
                  <a:pt x="37952" y="0"/>
                </a:lnTo>
                <a:lnTo>
                  <a:pt x="37952" y="1973491"/>
                </a:lnTo>
                <a:lnTo>
                  <a:pt x="37952" y="1973491"/>
                </a:lnTo>
                <a:cubicBezTo>
                  <a:pt x="16992" y="1973491"/>
                  <a:pt x="0" y="1956499"/>
                  <a:pt x="0" y="1935539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7228" y="4070184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113855" y="0"/>
                </a:moveTo>
                <a:lnTo>
                  <a:pt x="341566" y="0"/>
                </a:lnTo>
                <a:cubicBezTo>
                  <a:pt x="404404" y="0"/>
                  <a:pt x="455421" y="51017"/>
                  <a:pt x="455421" y="113855"/>
                </a:cubicBezTo>
                <a:lnTo>
                  <a:pt x="455421" y="341566"/>
                </a:lnTo>
                <a:cubicBezTo>
                  <a:pt x="455421" y="404404"/>
                  <a:pt x="404404" y="455421"/>
                  <a:pt x="341566" y="455421"/>
                </a:cubicBezTo>
                <a:lnTo>
                  <a:pt x="113855" y="455421"/>
                </a:lnTo>
                <a:cubicBezTo>
                  <a:pt x="51017" y="455421"/>
                  <a:pt x="0" y="404404"/>
                  <a:pt x="0" y="341566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8199" y="4203015"/>
            <a:ext cx="213479" cy="189759"/>
          </a:xfrm>
          <a:custGeom>
            <a:avLst/>
            <a:gdLst/>
            <a:ahLst/>
            <a:cxnLst/>
            <a:rect l="l" t="t" r="r" b="b"/>
            <a:pathLst>
              <a:path w="213479" h="189759">
                <a:moveTo>
                  <a:pt x="83019" y="91914"/>
                </a:moveTo>
                <a:cubicBezTo>
                  <a:pt x="107566" y="91914"/>
                  <a:pt x="127494" y="71986"/>
                  <a:pt x="127494" y="47440"/>
                </a:cubicBezTo>
                <a:cubicBezTo>
                  <a:pt x="127494" y="22893"/>
                  <a:pt x="107566" y="2965"/>
                  <a:pt x="83019" y="2965"/>
                </a:cubicBezTo>
                <a:cubicBezTo>
                  <a:pt x="58473" y="2965"/>
                  <a:pt x="38545" y="22893"/>
                  <a:pt x="38545" y="47440"/>
                </a:cubicBezTo>
                <a:cubicBezTo>
                  <a:pt x="38545" y="71986"/>
                  <a:pt x="58473" y="91914"/>
                  <a:pt x="83019" y="91914"/>
                </a:cubicBezTo>
                <a:close/>
                <a:moveTo>
                  <a:pt x="72012" y="112669"/>
                </a:moveTo>
                <a:cubicBezTo>
                  <a:pt x="35506" y="112669"/>
                  <a:pt x="5930" y="142245"/>
                  <a:pt x="5930" y="178751"/>
                </a:cubicBezTo>
                <a:cubicBezTo>
                  <a:pt x="5930" y="184829"/>
                  <a:pt x="10859" y="189759"/>
                  <a:pt x="16937" y="189759"/>
                </a:cubicBezTo>
                <a:lnTo>
                  <a:pt x="110149" y="189759"/>
                </a:lnTo>
                <a:cubicBezTo>
                  <a:pt x="96732" y="173970"/>
                  <a:pt x="88949" y="153623"/>
                  <a:pt x="88949" y="132090"/>
                </a:cubicBezTo>
                <a:lnTo>
                  <a:pt x="88949" y="120564"/>
                </a:lnTo>
                <a:cubicBezTo>
                  <a:pt x="88949" y="117858"/>
                  <a:pt x="89320" y="115189"/>
                  <a:pt x="90024" y="112669"/>
                </a:cubicBezTo>
                <a:lnTo>
                  <a:pt x="72012" y="112669"/>
                </a:lnTo>
                <a:close/>
                <a:moveTo>
                  <a:pt x="165038" y="181049"/>
                </a:moveTo>
                <a:lnTo>
                  <a:pt x="160109" y="183384"/>
                </a:lnTo>
                <a:lnTo>
                  <a:pt x="160109" y="113670"/>
                </a:lnTo>
                <a:lnTo>
                  <a:pt x="195689" y="125530"/>
                </a:lnTo>
                <a:lnTo>
                  <a:pt x="195689" y="132794"/>
                </a:lnTo>
                <a:cubicBezTo>
                  <a:pt x="195689" y="153475"/>
                  <a:pt x="183755" y="172265"/>
                  <a:pt x="165038" y="181086"/>
                </a:cubicBezTo>
                <a:close/>
                <a:moveTo>
                  <a:pt x="156366" y="96177"/>
                </a:moveTo>
                <a:lnTo>
                  <a:pt x="114856" y="110001"/>
                </a:lnTo>
                <a:cubicBezTo>
                  <a:pt x="110001" y="111632"/>
                  <a:pt x="106739" y="116153"/>
                  <a:pt x="106739" y="121268"/>
                </a:cubicBezTo>
                <a:lnTo>
                  <a:pt x="106739" y="132794"/>
                </a:lnTo>
                <a:cubicBezTo>
                  <a:pt x="106739" y="160368"/>
                  <a:pt x="122676" y="185460"/>
                  <a:pt x="147582" y="197171"/>
                </a:cubicBezTo>
                <a:lnTo>
                  <a:pt x="154438" y="200396"/>
                </a:lnTo>
                <a:cubicBezTo>
                  <a:pt x="156217" y="201211"/>
                  <a:pt x="158145" y="201656"/>
                  <a:pt x="160072" y="201656"/>
                </a:cubicBezTo>
                <a:cubicBezTo>
                  <a:pt x="161999" y="201656"/>
                  <a:pt x="163963" y="201211"/>
                  <a:pt x="165705" y="200396"/>
                </a:cubicBezTo>
                <a:lnTo>
                  <a:pt x="172562" y="197171"/>
                </a:lnTo>
                <a:cubicBezTo>
                  <a:pt x="197542" y="185422"/>
                  <a:pt x="213479" y="160331"/>
                  <a:pt x="213479" y="132757"/>
                </a:cubicBezTo>
                <a:lnTo>
                  <a:pt x="213479" y="121231"/>
                </a:lnTo>
                <a:cubicBezTo>
                  <a:pt x="213479" y="116116"/>
                  <a:pt x="210217" y="111594"/>
                  <a:pt x="205362" y="109964"/>
                </a:cubicBezTo>
                <a:lnTo>
                  <a:pt x="163852" y="96139"/>
                </a:lnTo>
                <a:cubicBezTo>
                  <a:pt x="161406" y="95324"/>
                  <a:pt x="158775" y="95324"/>
                  <a:pt x="156366" y="96139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14456" y="4070184"/>
            <a:ext cx="1546534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Secrets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14456" y="4373798"/>
            <a:ext cx="1508582" cy="15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6" b="1" dirty="0">
                <a:solidFill>
                  <a:srgbClr val="26A2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DEVELOPMENT ONLY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7228" y="4639460"/>
            <a:ext cx="5303757" cy="246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development secrets are managed through ASP.NET Core User Secrets.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7228" y="5000002"/>
            <a:ext cx="5227854" cy="426957"/>
          </a:xfrm>
          <a:custGeom>
            <a:avLst/>
            <a:gdLst/>
            <a:ahLst/>
            <a:cxnLst/>
            <a:rect l="l" t="t" r="r" b="b"/>
            <a:pathLst>
              <a:path w="5227854" h="426957">
                <a:moveTo>
                  <a:pt x="75904" y="0"/>
                </a:moveTo>
                <a:lnTo>
                  <a:pt x="5151949" y="0"/>
                </a:lnTo>
                <a:cubicBezTo>
                  <a:pt x="5193870" y="0"/>
                  <a:pt x="5227854" y="33984"/>
                  <a:pt x="5227854" y="75904"/>
                </a:cubicBezTo>
                <a:lnTo>
                  <a:pt x="5227854" y="351053"/>
                </a:lnTo>
                <a:cubicBezTo>
                  <a:pt x="5227854" y="392974"/>
                  <a:pt x="5193870" y="426957"/>
                  <a:pt x="5151949" y="426957"/>
                </a:cubicBezTo>
                <a:lnTo>
                  <a:pt x="75904" y="426957"/>
                </a:lnTo>
                <a:cubicBezTo>
                  <a:pt x="34012" y="426957"/>
                  <a:pt x="0" y="392946"/>
                  <a:pt x="0" y="351053"/>
                </a:cubicBezTo>
                <a:lnTo>
                  <a:pt x="0" y="75904"/>
                </a:lnTo>
                <a:cubicBezTo>
                  <a:pt x="0" y="34012"/>
                  <a:pt x="34012" y="0"/>
                  <a:pt x="75904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0059" y="5151809"/>
            <a:ext cx="132831" cy="132831"/>
          </a:xfrm>
          <a:custGeom>
            <a:avLst/>
            <a:gdLst/>
            <a:ahLst/>
            <a:cxnLst/>
            <a:rect l="l" t="t" r="r" b="b"/>
            <a:pathLst>
              <a:path w="132831" h="132831">
                <a:moveTo>
                  <a:pt x="2439" y="30769"/>
                </a:moveTo>
                <a:cubicBezTo>
                  <a:pt x="-804" y="27526"/>
                  <a:pt x="-804" y="22260"/>
                  <a:pt x="2439" y="19017"/>
                </a:cubicBezTo>
                <a:cubicBezTo>
                  <a:pt x="5682" y="15774"/>
                  <a:pt x="10948" y="15774"/>
                  <a:pt x="14191" y="19017"/>
                </a:cubicBezTo>
                <a:lnTo>
                  <a:pt x="55701" y="60526"/>
                </a:lnTo>
                <a:cubicBezTo>
                  <a:pt x="58944" y="63769"/>
                  <a:pt x="58944" y="69036"/>
                  <a:pt x="55701" y="72279"/>
                </a:cubicBezTo>
                <a:lnTo>
                  <a:pt x="14191" y="113789"/>
                </a:lnTo>
                <a:cubicBezTo>
                  <a:pt x="10948" y="117031"/>
                  <a:pt x="5682" y="117031"/>
                  <a:pt x="2439" y="113789"/>
                </a:cubicBezTo>
                <a:cubicBezTo>
                  <a:pt x="-804" y="110546"/>
                  <a:pt x="-804" y="105279"/>
                  <a:pt x="2439" y="102036"/>
                </a:cubicBezTo>
                <a:lnTo>
                  <a:pt x="38059" y="66416"/>
                </a:lnTo>
                <a:lnTo>
                  <a:pt x="2439" y="30769"/>
                </a:lnTo>
                <a:close/>
                <a:moveTo>
                  <a:pt x="58114" y="99623"/>
                </a:moveTo>
                <a:lnTo>
                  <a:pt x="124529" y="99623"/>
                </a:lnTo>
                <a:cubicBezTo>
                  <a:pt x="129121" y="99623"/>
                  <a:pt x="132831" y="103333"/>
                  <a:pt x="132831" y="107925"/>
                </a:cubicBezTo>
                <a:cubicBezTo>
                  <a:pt x="132831" y="112517"/>
                  <a:pt x="129121" y="116227"/>
                  <a:pt x="124529" y="116227"/>
                </a:cubicBezTo>
                <a:lnTo>
                  <a:pt x="58114" y="116227"/>
                </a:lnTo>
                <a:cubicBezTo>
                  <a:pt x="53522" y="116227"/>
                  <a:pt x="49812" y="112517"/>
                  <a:pt x="49812" y="107925"/>
                </a:cubicBezTo>
                <a:cubicBezTo>
                  <a:pt x="49812" y="103333"/>
                  <a:pt x="53522" y="99623"/>
                  <a:pt x="58114" y="99623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3026" y="5129039"/>
            <a:ext cx="2768580" cy="15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A202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dotnet user-secrets set "Key" "Value"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2422" y="3880425"/>
            <a:ext cx="5626347" cy="1973491"/>
          </a:xfrm>
          <a:custGeom>
            <a:avLst/>
            <a:gdLst/>
            <a:ahLst/>
            <a:cxnLst/>
            <a:rect l="l" t="t" r="r" b="b"/>
            <a:pathLst>
              <a:path w="5626347" h="1973491">
                <a:moveTo>
                  <a:pt x="37952" y="0"/>
                </a:moveTo>
                <a:lnTo>
                  <a:pt x="5512496" y="0"/>
                </a:lnTo>
                <a:cubicBezTo>
                  <a:pt x="5575374" y="0"/>
                  <a:pt x="5626347" y="50973"/>
                  <a:pt x="5626347" y="113851"/>
                </a:cubicBezTo>
                <a:lnTo>
                  <a:pt x="5626347" y="1859640"/>
                </a:lnTo>
                <a:cubicBezTo>
                  <a:pt x="5626347" y="1922518"/>
                  <a:pt x="5575374" y="1973491"/>
                  <a:pt x="5512496" y="1973491"/>
                </a:cubicBezTo>
                <a:lnTo>
                  <a:pt x="37952" y="1973491"/>
                </a:lnTo>
                <a:cubicBezTo>
                  <a:pt x="16992" y="1973491"/>
                  <a:pt x="0" y="1956499"/>
                  <a:pt x="0" y="1935539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319" dist="9487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92422" y="3880425"/>
            <a:ext cx="37952" cy="1973491"/>
          </a:xfrm>
          <a:custGeom>
            <a:avLst/>
            <a:gdLst/>
            <a:ahLst/>
            <a:cxnLst/>
            <a:rect l="l" t="t" r="r" b="b"/>
            <a:pathLst>
              <a:path w="37952" h="1973491">
                <a:moveTo>
                  <a:pt x="37952" y="0"/>
                </a:moveTo>
                <a:lnTo>
                  <a:pt x="37952" y="0"/>
                </a:lnTo>
                <a:lnTo>
                  <a:pt x="37952" y="1973491"/>
                </a:lnTo>
                <a:lnTo>
                  <a:pt x="37952" y="1973491"/>
                </a:lnTo>
                <a:cubicBezTo>
                  <a:pt x="16992" y="1973491"/>
                  <a:pt x="0" y="1956499"/>
                  <a:pt x="0" y="1935539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01156" y="4070184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113855" y="0"/>
                </a:moveTo>
                <a:lnTo>
                  <a:pt x="341566" y="0"/>
                </a:lnTo>
                <a:cubicBezTo>
                  <a:pt x="404404" y="0"/>
                  <a:pt x="455421" y="51017"/>
                  <a:pt x="455421" y="113855"/>
                </a:cubicBezTo>
                <a:lnTo>
                  <a:pt x="455421" y="341566"/>
                </a:lnTo>
                <a:cubicBezTo>
                  <a:pt x="455421" y="404404"/>
                  <a:pt x="404404" y="455421"/>
                  <a:pt x="341566" y="455421"/>
                </a:cubicBezTo>
                <a:lnTo>
                  <a:pt x="113855" y="455421"/>
                </a:lnTo>
                <a:cubicBezTo>
                  <a:pt x="51017" y="455421"/>
                  <a:pt x="0" y="404404"/>
                  <a:pt x="0" y="341566"/>
                </a:cubicBezTo>
                <a:lnTo>
                  <a:pt x="0" y="113855"/>
                </a:lnTo>
                <a:cubicBezTo>
                  <a:pt x="0" y="51017"/>
                  <a:pt x="51017" y="0"/>
                  <a:pt x="113855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22127" y="4203015"/>
            <a:ext cx="213479" cy="189759"/>
          </a:xfrm>
          <a:custGeom>
            <a:avLst/>
            <a:gdLst/>
            <a:ahLst/>
            <a:cxnLst/>
            <a:rect l="l" t="t" r="r" b="b"/>
            <a:pathLst>
              <a:path w="213479" h="189759">
                <a:moveTo>
                  <a:pt x="53370" y="177899"/>
                </a:moveTo>
                <a:cubicBezTo>
                  <a:pt x="23905" y="177899"/>
                  <a:pt x="0" y="153994"/>
                  <a:pt x="0" y="124529"/>
                </a:cubicBezTo>
                <a:cubicBezTo>
                  <a:pt x="0" y="101032"/>
                  <a:pt x="15196" y="81092"/>
                  <a:pt x="36284" y="73939"/>
                </a:cubicBezTo>
                <a:cubicBezTo>
                  <a:pt x="35802" y="71085"/>
                  <a:pt x="35580" y="68195"/>
                  <a:pt x="35580" y="65230"/>
                </a:cubicBezTo>
                <a:cubicBezTo>
                  <a:pt x="35580" y="35765"/>
                  <a:pt x="59485" y="11860"/>
                  <a:pt x="88949" y="11860"/>
                </a:cubicBezTo>
                <a:cubicBezTo>
                  <a:pt x="109482" y="11860"/>
                  <a:pt x="127309" y="23460"/>
                  <a:pt x="136241" y="40435"/>
                </a:cubicBezTo>
                <a:cubicBezTo>
                  <a:pt x="141504" y="37359"/>
                  <a:pt x="147656" y="35580"/>
                  <a:pt x="154179" y="35580"/>
                </a:cubicBezTo>
                <a:cubicBezTo>
                  <a:pt x="173822" y="35580"/>
                  <a:pt x="189759" y="51517"/>
                  <a:pt x="189759" y="71160"/>
                </a:cubicBezTo>
                <a:cubicBezTo>
                  <a:pt x="189759" y="76978"/>
                  <a:pt x="188350" y="82501"/>
                  <a:pt x="185867" y="87356"/>
                </a:cubicBezTo>
                <a:cubicBezTo>
                  <a:pt x="202175" y="94879"/>
                  <a:pt x="213479" y="111335"/>
                  <a:pt x="213479" y="130459"/>
                </a:cubicBezTo>
                <a:cubicBezTo>
                  <a:pt x="213479" y="156662"/>
                  <a:pt x="192242" y="177899"/>
                  <a:pt x="166039" y="177899"/>
                </a:cubicBezTo>
                <a:lnTo>
                  <a:pt x="53370" y="177899"/>
                </a:lnTo>
                <a:close/>
                <a:moveTo>
                  <a:pt x="113040" y="70789"/>
                </a:moveTo>
                <a:cubicBezTo>
                  <a:pt x="109556" y="67305"/>
                  <a:pt x="103923" y="67305"/>
                  <a:pt x="100476" y="70789"/>
                </a:cubicBezTo>
                <a:lnTo>
                  <a:pt x="73791" y="97474"/>
                </a:lnTo>
                <a:cubicBezTo>
                  <a:pt x="70307" y="100958"/>
                  <a:pt x="70307" y="106591"/>
                  <a:pt x="73791" y="110038"/>
                </a:cubicBezTo>
                <a:cubicBezTo>
                  <a:pt x="77275" y="113485"/>
                  <a:pt x="82908" y="113522"/>
                  <a:pt x="86355" y="110038"/>
                </a:cubicBezTo>
                <a:lnTo>
                  <a:pt x="97844" y="98549"/>
                </a:lnTo>
                <a:lnTo>
                  <a:pt x="97844" y="136389"/>
                </a:lnTo>
                <a:cubicBezTo>
                  <a:pt x="97844" y="141318"/>
                  <a:pt x="101810" y="145284"/>
                  <a:pt x="106739" y="145284"/>
                </a:cubicBezTo>
                <a:cubicBezTo>
                  <a:pt x="111669" y="145284"/>
                  <a:pt x="115634" y="141318"/>
                  <a:pt x="115634" y="136389"/>
                </a:cubicBezTo>
                <a:lnTo>
                  <a:pt x="115634" y="98549"/>
                </a:lnTo>
                <a:lnTo>
                  <a:pt x="127124" y="110038"/>
                </a:lnTo>
                <a:cubicBezTo>
                  <a:pt x="130607" y="113522"/>
                  <a:pt x="136241" y="113522"/>
                  <a:pt x="139688" y="110038"/>
                </a:cubicBezTo>
                <a:cubicBezTo>
                  <a:pt x="143134" y="106554"/>
                  <a:pt x="143171" y="100921"/>
                  <a:pt x="139688" y="97474"/>
                </a:cubicBezTo>
                <a:lnTo>
                  <a:pt x="113003" y="70789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08384" y="4070184"/>
            <a:ext cx="1802708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Secrets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08384" y="4373798"/>
            <a:ext cx="1764756" cy="151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1156" y="4639460"/>
            <a:ext cx="5303757" cy="493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Deployment-time secret management is owned by the deployment team and outside this guideline scope.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1156" y="5246688"/>
            <a:ext cx="5227854" cy="417469"/>
          </a:xfrm>
          <a:custGeom>
            <a:avLst/>
            <a:gdLst/>
            <a:ahLst/>
            <a:cxnLst/>
            <a:rect l="l" t="t" r="r" b="b"/>
            <a:pathLst>
              <a:path w="5227854" h="417469">
                <a:moveTo>
                  <a:pt x="75904" y="0"/>
                </a:moveTo>
                <a:lnTo>
                  <a:pt x="5151949" y="0"/>
                </a:lnTo>
                <a:cubicBezTo>
                  <a:pt x="5193870" y="0"/>
                  <a:pt x="5227854" y="33983"/>
                  <a:pt x="5227854" y="75904"/>
                </a:cubicBezTo>
                <a:lnTo>
                  <a:pt x="5227854" y="341565"/>
                </a:lnTo>
                <a:cubicBezTo>
                  <a:pt x="5227854" y="383486"/>
                  <a:pt x="5193870" y="417469"/>
                  <a:pt x="5151949" y="417469"/>
                </a:cubicBezTo>
                <a:lnTo>
                  <a:pt x="75904" y="417469"/>
                </a:lnTo>
                <a:cubicBezTo>
                  <a:pt x="34012" y="417469"/>
                  <a:pt x="0" y="383458"/>
                  <a:pt x="0" y="341565"/>
                </a:cubicBezTo>
                <a:lnTo>
                  <a:pt x="0" y="75904"/>
                </a:lnTo>
                <a:cubicBezTo>
                  <a:pt x="0" y="34012"/>
                  <a:pt x="34012" y="0"/>
                  <a:pt x="75904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33987" y="5390907"/>
            <a:ext cx="132831" cy="132831"/>
          </a:xfrm>
          <a:custGeom>
            <a:avLst/>
            <a:gdLst/>
            <a:ahLst/>
            <a:cxnLst/>
            <a:rect l="l" t="t" r="r" b="b"/>
            <a:pathLst>
              <a:path w="132831" h="132831">
                <a:moveTo>
                  <a:pt x="66416" y="132831"/>
                </a:moveTo>
                <a:cubicBezTo>
                  <a:pt x="103071" y="132831"/>
                  <a:pt x="132831" y="103071"/>
                  <a:pt x="132831" y="66416"/>
                </a:cubicBezTo>
                <a:cubicBezTo>
                  <a:pt x="132831" y="29760"/>
                  <a:pt x="103071" y="0"/>
                  <a:pt x="66416" y="0"/>
                </a:cubicBezTo>
                <a:cubicBezTo>
                  <a:pt x="29760" y="0"/>
                  <a:pt x="0" y="29760"/>
                  <a:pt x="0" y="66416"/>
                </a:cubicBezTo>
                <a:cubicBezTo>
                  <a:pt x="0" y="103071"/>
                  <a:pt x="29760" y="132831"/>
                  <a:pt x="66416" y="132831"/>
                </a:cubicBezTo>
                <a:close/>
                <a:moveTo>
                  <a:pt x="58114" y="41510"/>
                </a:moveTo>
                <a:cubicBezTo>
                  <a:pt x="58114" y="36928"/>
                  <a:pt x="61834" y="33208"/>
                  <a:pt x="66416" y="33208"/>
                </a:cubicBezTo>
                <a:cubicBezTo>
                  <a:pt x="70998" y="33208"/>
                  <a:pt x="74718" y="36928"/>
                  <a:pt x="74718" y="41510"/>
                </a:cubicBezTo>
                <a:cubicBezTo>
                  <a:pt x="74718" y="46092"/>
                  <a:pt x="70998" y="49812"/>
                  <a:pt x="66416" y="49812"/>
                </a:cubicBezTo>
                <a:cubicBezTo>
                  <a:pt x="61834" y="49812"/>
                  <a:pt x="58114" y="46092"/>
                  <a:pt x="58114" y="41510"/>
                </a:cubicBezTo>
                <a:close/>
                <a:moveTo>
                  <a:pt x="56038" y="58114"/>
                </a:moveTo>
                <a:lnTo>
                  <a:pt x="68491" y="58114"/>
                </a:lnTo>
                <a:cubicBezTo>
                  <a:pt x="71942" y="58114"/>
                  <a:pt x="74718" y="60890"/>
                  <a:pt x="74718" y="64340"/>
                </a:cubicBezTo>
                <a:lnTo>
                  <a:pt x="74718" y="87170"/>
                </a:lnTo>
                <a:lnTo>
                  <a:pt x="76793" y="87170"/>
                </a:lnTo>
                <a:cubicBezTo>
                  <a:pt x="80243" y="87170"/>
                  <a:pt x="83019" y="89946"/>
                  <a:pt x="83019" y="93397"/>
                </a:cubicBezTo>
                <a:cubicBezTo>
                  <a:pt x="83019" y="96847"/>
                  <a:pt x="80243" y="99623"/>
                  <a:pt x="76793" y="99623"/>
                </a:cubicBezTo>
                <a:lnTo>
                  <a:pt x="56038" y="99623"/>
                </a:lnTo>
                <a:cubicBezTo>
                  <a:pt x="52588" y="99623"/>
                  <a:pt x="49812" y="96847"/>
                  <a:pt x="49812" y="93397"/>
                </a:cubicBezTo>
                <a:cubicBezTo>
                  <a:pt x="49812" y="89946"/>
                  <a:pt x="52588" y="87170"/>
                  <a:pt x="56038" y="87170"/>
                </a:cubicBezTo>
                <a:lnTo>
                  <a:pt x="62265" y="87170"/>
                </a:lnTo>
                <a:lnTo>
                  <a:pt x="62265" y="70567"/>
                </a:lnTo>
                <a:lnTo>
                  <a:pt x="56038" y="70567"/>
                </a:lnTo>
                <a:cubicBezTo>
                  <a:pt x="52588" y="70567"/>
                  <a:pt x="49812" y="67791"/>
                  <a:pt x="49812" y="64340"/>
                </a:cubicBezTo>
                <a:cubicBezTo>
                  <a:pt x="49812" y="60890"/>
                  <a:pt x="52588" y="58114"/>
                  <a:pt x="56038" y="58114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42500" y="5360543"/>
            <a:ext cx="4839070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Handled via Azure Key Vault, CI/CD pipelines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3313" y="6009518"/>
            <a:ext cx="11431067" cy="766625"/>
          </a:xfrm>
          <a:custGeom>
            <a:avLst/>
            <a:gdLst/>
            <a:ahLst/>
            <a:cxnLst/>
            <a:rect l="l" t="t" r="r" b="b"/>
            <a:pathLst>
              <a:path w="11431067" h="766625">
                <a:moveTo>
                  <a:pt x="113852" y="0"/>
                </a:moveTo>
                <a:lnTo>
                  <a:pt x="11317216" y="0"/>
                </a:lnTo>
                <a:cubicBezTo>
                  <a:pt x="11380094" y="0"/>
                  <a:pt x="11431067" y="50973"/>
                  <a:pt x="11431067" y="113852"/>
                </a:cubicBezTo>
                <a:lnTo>
                  <a:pt x="11431067" y="652774"/>
                </a:lnTo>
                <a:cubicBezTo>
                  <a:pt x="11431067" y="715652"/>
                  <a:pt x="11380094" y="766625"/>
                  <a:pt x="11317216" y="766625"/>
                </a:cubicBezTo>
                <a:lnTo>
                  <a:pt x="113852" y="766625"/>
                </a:lnTo>
                <a:cubicBezTo>
                  <a:pt x="51015" y="766625"/>
                  <a:pt x="0" y="715610"/>
                  <a:pt x="0" y="652774"/>
                </a:cubicBezTo>
                <a:lnTo>
                  <a:pt x="0" y="113852"/>
                </a:lnTo>
                <a:cubicBezTo>
                  <a:pt x="0" y="51015"/>
                  <a:pt x="51015" y="0"/>
                  <a:pt x="113852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 w="10160">
            <a:solidFill>
              <a:srgbClr val="26A2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67379" y="6278978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13855" y="227711"/>
                </a:moveTo>
                <a:cubicBezTo>
                  <a:pt x="176694" y="227711"/>
                  <a:pt x="227711" y="176694"/>
                  <a:pt x="227711" y="113855"/>
                </a:cubicBezTo>
                <a:cubicBezTo>
                  <a:pt x="227711" y="51017"/>
                  <a:pt x="176694" y="0"/>
                  <a:pt x="113855" y="0"/>
                </a:cubicBezTo>
                <a:cubicBezTo>
                  <a:pt x="51017" y="0"/>
                  <a:pt x="0" y="51017"/>
                  <a:pt x="0" y="113855"/>
                </a:cubicBezTo>
                <a:cubicBezTo>
                  <a:pt x="0" y="176694"/>
                  <a:pt x="51017" y="227711"/>
                  <a:pt x="113855" y="227711"/>
                </a:cubicBezTo>
                <a:close/>
                <a:moveTo>
                  <a:pt x="151392" y="94598"/>
                </a:moveTo>
                <a:lnTo>
                  <a:pt x="115812" y="151525"/>
                </a:lnTo>
                <a:cubicBezTo>
                  <a:pt x="113944" y="154505"/>
                  <a:pt x="110742" y="156373"/>
                  <a:pt x="107229" y="156551"/>
                </a:cubicBezTo>
                <a:cubicBezTo>
                  <a:pt x="103715" y="156729"/>
                  <a:pt x="100335" y="155128"/>
                  <a:pt x="98245" y="152281"/>
                </a:cubicBezTo>
                <a:lnTo>
                  <a:pt x="76897" y="123818"/>
                </a:lnTo>
                <a:cubicBezTo>
                  <a:pt x="73339" y="119103"/>
                  <a:pt x="74317" y="112432"/>
                  <a:pt x="79032" y="108874"/>
                </a:cubicBezTo>
                <a:cubicBezTo>
                  <a:pt x="83746" y="105316"/>
                  <a:pt x="90417" y="106295"/>
                  <a:pt x="93975" y="111009"/>
                </a:cubicBezTo>
                <a:lnTo>
                  <a:pt x="105983" y="127020"/>
                </a:lnTo>
                <a:lnTo>
                  <a:pt x="133291" y="83301"/>
                </a:lnTo>
                <a:cubicBezTo>
                  <a:pt x="136404" y="78320"/>
                  <a:pt x="142986" y="76763"/>
                  <a:pt x="148012" y="79921"/>
                </a:cubicBezTo>
                <a:cubicBezTo>
                  <a:pt x="153037" y="83079"/>
                  <a:pt x="154550" y="89617"/>
                  <a:pt x="151392" y="94642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75360" y="6165123"/>
            <a:ext cx="4345475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appsettings.json Retains Only Non-Sensitive Values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75360" y="6430785"/>
            <a:ext cx="4335988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policy values, feature flags, and non-secret configuration only.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302" y="327302"/>
            <a:ext cx="32730" cy="261842"/>
          </a:xfrm>
          <a:custGeom>
            <a:avLst/>
            <a:gdLst/>
            <a:ahLst/>
            <a:cxnLst/>
            <a:rect l="l" t="t" r="r" b="b"/>
            <a:pathLst>
              <a:path w="32730" h="261842">
                <a:moveTo>
                  <a:pt x="0" y="0"/>
                </a:moveTo>
                <a:lnTo>
                  <a:pt x="32730" y="0"/>
                </a:lnTo>
                <a:lnTo>
                  <a:pt x="32730" y="261842"/>
                </a:lnTo>
                <a:lnTo>
                  <a:pt x="0" y="261842"/>
                </a:lnTo>
                <a:lnTo>
                  <a:pt x="0" y="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8223" y="376397"/>
            <a:ext cx="132557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b="1" kern="0" spc="45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7302" y="654604"/>
            <a:ext cx="11684682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9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Standard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7302" y="1014636"/>
            <a:ext cx="1161103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testing is mandatory — not optional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7302" y="1374668"/>
            <a:ext cx="11537396" cy="949176"/>
          </a:xfrm>
          <a:custGeom>
            <a:avLst/>
            <a:gdLst/>
            <a:ahLst/>
            <a:cxnLst/>
            <a:rect l="l" t="t" r="r" b="b"/>
            <a:pathLst>
              <a:path w="11537396" h="949176">
                <a:moveTo>
                  <a:pt x="98192" y="0"/>
                </a:moveTo>
                <a:lnTo>
                  <a:pt x="11439204" y="0"/>
                </a:lnTo>
                <a:cubicBezTo>
                  <a:pt x="11493434" y="0"/>
                  <a:pt x="11537396" y="43962"/>
                  <a:pt x="11537396" y="98192"/>
                </a:cubicBezTo>
                <a:lnTo>
                  <a:pt x="11537396" y="850984"/>
                </a:lnTo>
                <a:cubicBezTo>
                  <a:pt x="11537396" y="905214"/>
                  <a:pt x="11493434" y="949176"/>
                  <a:pt x="11439204" y="949176"/>
                </a:cubicBezTo>
                <a:lnTo>
                  <a:pt x="98192" y="949176"/>
                </a:lnTo>
                <a:cubicBezTo>
                  <a:pt x="43962" y="949176"/>
                  <a:pt x="0" y="905214"/>
                  <a:pt x="0" y="850984"/>
                </a:cubicBezTo>
                <a:lnTo>
                  <a:pt x="0" y="98192"/>
                </a:lnTo>
                <a:cubicBezTo>
                  <a:pt x="0" y="43962"/>
                  <a:pt x="43962" y="0"/>
                  <a:pt x="98192" y="0"/>
                </a:cubicBezTo>
                <a:close/>
              </a:path>
            </a:pathLst>
          </a:custGeom>
          <a:solidFill>
            <a:srgbClr val="0F2D63"/>
          </a:solidFill>
          <a:ln/>
          <a:effectLst>
            <a:outerShdw blurRad="122738" dist="8182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3683" y="1587415"/>
            <a:ext cx="523683" cy="523683"/>
          </a:xfrm>
          <a:custGeom>
            <a:avLst/>
            <a:gdLst/>
            <a:ahLst/>
            <a:cxnLst/>
            <a:rect l="l" t="t" r="r" b="b"/>
            <a:pathLst>
              <a:path w="523683" h="523683">
                <a:moveTo>
                  <a:pt x="98191" y="0"/>
                </a:moveTo>
                <a:lnTo>
                  <a:pt x="425493" y="0"/>
                </a:lnTo>
                <a:cubicBezTo>
                  <a:pt x="479722" y="0"/>
                  <a:pt x="523683" y="43961"/>
                  <a:pt x="523683" y="98191"/>
                </a:cubicBezTo>
                <a:lnTo>
                  <a:pt x="523683" y="425493"/>
                </a:lnTo>
                <a:cubicBezTo>
                  <a:pt x="523683" y="479722"/>
                  <a:pt x="479722" y="523683"/>
                  <a:pt x="425493" y="523683"/>
                </a:cubicBezTo>
                <a:lnTo>
                  <a:pt x="98191" y="523683"/>
                </a:lnTo>
                <a:cubicBezTo>
                  <a:pt x="43961" y="523683"/>
                  <a:pt x="0" y="479722"/>
                  <a:pt x="0" y="425493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solidFill>
            <a:srgbClr val="26A2D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4832" y="1726518"/>
            <a:ext cx="245477" cy="245477"/>
          </a:xfrm>
          <a:custGeom>
            <a:avLst/>
            <a:gdLst/>
            <a:ahLst/>
            <a:cxnLst/>
            <a:rect l="l" t="t" r="r" b="b"/>
            <a:pathLst>
              <a:path w="245477" h="245477">
                <a:moveTo>
                  <a:pt x="164258" y="4507"/>
                </a:moveTo>
                <a:cubicBezTo>
                  <a:pt x="158265" y="-1486"/>
                  <a:pt x="148532" y="-1486"/>
                  <a:pt x="142539" y="4507"/>
                </a:cubicBezTo>
                <a:cubicBezTo>
                  <a:pt x="136546" y="10500"/>
                  <a:pt x="136546" y="20233"/>
                  <a:pt x="142539" y="26226"/>
                </a:cubicBezTo>
                <a:lnTo>
                  <a:pt x="147046" y="30685"/>
                </a:lnTo>
                <a:lnTo>
                  <a:pt x="13472" y="164258"/>
                </a:lnTo>
                <a:cubicBezTo>
                  <a:pt x="4842" y="172888"/>
                  <a:pt x="0" y="184587"/>
                  <a:pt x="0" y="196813"/>
                </a:cubicBezTo>
                <a:lnTo>
                  <a:pt x="0" y="199450"/>
                </a:lnTo>
                <a:cubicBezTo>
                  <a:pt x="0" y="224860"/>
                  <a:pt x="20616" y="245477"/>
                  <a:pt x="46027" y="245477"/>
                </a:cubicBezTo>
                <a:lnTo>
                  <a:pt x="48664" y="245477"/>
                </a:lnTo>
                <a:cubicBezTo>
                  <a:pt x="60890" y="245477"/>
                  <a:pt x="72588" y="240634"/>
                  <a:pt x="81218" y="232004"/>
                </a:cubicBezTo>
                <a:lnTo>
                  <a:pt x="214792" y="98430"/>
                </a:lnTo>
                <a:lnTo>
                  <a:pt x="219299" y="102937"/>
                </a:lnTo>
                <a:cubicBezTo>
                  <a:pt x="225292" y="108930"/>
                  <a:pt x="235025" y="108930"/>
                  <a:pt x="241018" y="102937"/>
                </a:cubicBezTo>
                <a:cubicBezTo>
                  <a:pt x="247011" y="96944"/>
                  <a:pt x="247011" y="87211"/>
                  <a:pt x="241018" y="81218"/>
                </a:cubicBezTo>
                <a:lnTo>
                  <a:pt x="164306" y="4507"/>
                </a:lnTo>
                <a:close/>
                <a:moveTo>
                  <a:pt x="98430" y="122738"/>
                </a:moveTo>
                <a:lnTo>
                  <a:pt x="168765" y="52403"/>
                </a:lnTo>
                <a:lnTo>
                  <a:pt x="193073" y="76711"/>
                </a:lnTo>
                <a:lnTo>
                  <a:pt x="147046" y="122738"/>
                </a:lnTo>
                <a:lnTo>
                  <a:pt x="98382" y="122738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11017" y="1603780"/>
            <a:ext cx="3485766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Testing is Mandatory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1017" y="1898252"/>
            <a:ext cx="345303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is treated as a release gate, not a best-effort activity.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00361" y="1571050"/>
            <a:ext cx="1170105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093" b="1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39464" y="1963812"/>
            <a:ext cx="1031001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2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Coverage Required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7302" y="2471130"/>
            <a:ext cx="5703238" cy="1554685"/>
          </a:xfrm>
          <a:custGeom>
            <a:avLst/>
            <a:gdLst/>
            <a:ahLst/>
            <a:cxnLst/>
            <a:rect l="l" t="t" r="r" b="b"/>
            <a:pathLst>
              <a:path w="5703238" h="1554685">
                <a:moveTo>
                  <a:pt x="32730" y="0"/>
                </a:moveTo>
                <a:lnTo>
                  <a:pt x="5670507" y="0"/>
                </a:lnTo>
                <a:cubicBezTo>
                  <a:pt x="5688584" y="0"/>
                  <a:pt x="5703238" y="14654"/>
                  <a:pt x="5703238" y="32730"/>
                </a:cubicBezTo>
                <a:lnTo>
                  <a:pt x="5703238" y="1456491"/>
                </a:lnTo>
                <a:cubicBezTo>
                  <a:pt x="5703238" y="1510722"/>
                  <a:pt x="5659275" y="1554685"/>
                  <a:pt x="5605044" y="1554685"/>
                </a:cubicBezTo>
                <a:lnTo>
                  <a:pt x="98194" y="1554685"/>
                </a:lnTo>
                <a:cubicBezTo>
                  <a:pt x="43963" y="1554685"/>
                  <a:pt x="0" y="1510722"/>
                  <a:pt x="0" y="1456491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2738" dist="8182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02" y="2471130"/>
            <a:ext cx="5703238" cy="32730"/>
          </a:xfrm>
          <a:custGeom>
            <a:avLst/>
            <a:gdLst/>
            <a:ahLst/>
            <a:cxnLst/>
            <a:rect l="l" t="t" r="r" b="b"/>
            <a:pathLst>
              <a:path w="5703238" h="32730">
                <a:moveTo>
                  <a:pt x="32730" y="0"/>
                </a:moveTo>
                <a:lnTo>
                  <a:pt x="5670507" y="0"/>
                </a:lnTo>
                <a:cubicBezTo>
                  <a:pt x="5688584" y="0"/>
                  <a:pt x="5703238" y="14654"/>
                  <a:pt x="5703238" y="32730"/>
                </a:cubicBezTo>
                <a:lnTo>
                  <a:pt x="5703238" y="32730"/>
                </a:lnTo>
                <a:lnTo>
                  <a:pt x="0" y="32730"/>
                </a:ln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0953" y="2651146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5509" y="2765702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56255" y="0"/>
                </a:moveTo>
                <a:cubicBezTo>
                  <a:pt x="47785" y="0"/>
                  <a:pt x="40913" y="6872"/>
                  <a:pt x="40913" y="15342"/>
                </a:cubicBezTo>
                <a:lnTo>
                  <a:pt x="40913" y="81826"/>
                </a:lnTo>
                <a:cubicBezTo>
                  <a:pt x="40913" y="90296"/>
                  <a:pt x="47785" y="97168"/>
                  <a:pt x="56255" y="97168"/>
                </a:cubicBezTo>
                <a:lnTo>
                  <a:pt x="76711" y="97168"/>
                </a:lnTo>
                <a:cubicBezTo>
                  <a:pt x="85182" y="97168"/>
                  <a:pt x="92054" y="90296"/>
                  <a:pt x="92054" y="81826"/>
                </a:cubicBezTo>
                <a:lnTo>
                  <a:pt x="92054" y="61369"/>
                </a:lnTo>
                <a:lnTo>
                  <a:pt x="102282" y="61369"/>
                </a:lnTo>
                <a:cubicBezTo>
                  <a:pt x="124880" y="61369"/>
                  <a:pt x="143195" y="79684"/>
                  <a:pt x="143195" y="102282"/>
                </a:cubicBezTo>
                <a:cubicBezTo>
                  <a:pt x="143195" y="124880"/>
                  <a:pt x="124880" y="143195"/>
                  <a:pt x="102282" y="143195"/>
                </a:cubicBezTo>
                <a:lnTo>
                  <a:pt x="10228" y="143195"/>
                </a:lnTo>
                <a:cubicBezTo>
                  <a:pt x="4571" y="143195"/>
                  <a:pt x="0" y="147765"/>
                  <a:pt x="0" y="153423"/>
                </a:cubicBezTo>
                <a:cubicBezTo>
                  <a:pt x="0" y="159080"/>
                  <a:pt x="4571" y="163651"/>
                  <a:pt x="10228" y="163651"/>
                </a:cubicBezTo>
                <a:lnTo>
                  <a:pt x="153423" y="163651"/>
                </a:lnTo>
                <a:cubicBezTo>
                  <a:pt x="159080" y="163651"/>
                  <a:pt x="163651" y="159080"/>
                  <a:pt x="163651" y="153423"/>
                </a:cubicBezTo>
                <a:cubicBezTo>
                  <a:pt x="163651" y="147765"/>
                  <a:pt x="159080" y="143195"/>
                  <a:pt x="153423" y="143195"/>
                </a:cubicBezTo>
                <a:lnTo>
                  <a:pt x="148021" y="143195"/>
                </a:lnTo>
                <a:cubicBezTo>
                  <a:pt x="157738" y="132327"/>
                  <a:pt x="163651" y="118008"/>
                  <a:pt x="163651" y="102282"/>
                </a:cubicBezTo>
                <a:cubicBezTo>
                  <a:pt x="163651" y="68401"/>
                  <a:pt x="136163" y="40913"/>
                  <a:pt x="102282" y="40913"/>
                </a:cubicBezTo>
                <a:lnTo>
                  <a:pt x="92054" y="40913"/>
                </a:lnTo>
                <a:lnTo>
                  <a:pt x="92054" y="15342"/>
                </a:lnTo>
                <a:cubicBezTo>
                  <a:pt x="92054" y="6872"/>
                  <a:pt x="85182" y="0"/>
                  <a:pt x="76711" y="0"/>
                </a:cubicBezTo>
                <a:lnTo>
                  <a:pt x="56255" y="0"/>
                </a:lnTo>
                <a:close/>
                <a:moveTo>
                  <a:pt x="38356" y="112510"/>
                </a:moveTo>
                <a:cubicBezTo>
                  <a:pt x="34105" y="112510"/>
                  <a:pt x="30685" y="115930"/>
                  <a:pt x="30685" y="120181"/>
                </a:cubicBezTo>
                <a:cubicBezTo>
                  <a:pt x="30685" y="124432"/>
                  <a:pt x="34105" y="127852"/>
                  <a:pt x="38356" y="127852"/>
                </a:cubicBezTo>
                <a:lnTo>
                  <a:pt x="94611" y="127852"/>
                </a:lnTo>
                <a:cubicBezTo>
                  <a:pt x="98862" y="127852"/>
                  <a:pt x="102282" y="124432"/>
                  <a:pt x="102282" y="120181"/>
                </a:cubicBezTo>
                <a:cubicBezTo>
                  <a:pt x="102282" y="115930"/>
                  <a:pt x="98862" y="112510"/>
                  <a:pt x="94611" y="112510"/>
                </a:cubicBezTo>
                <a:lnTo>
                  <a:pt x="38356" y="11251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1906" y="2732972"/>
            <a:ext cx="95735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Testing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0953" y="3142099"/>
            <a:ext cx="5441396" cy="212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Isolate and test individual components, services, and business logic in isolation.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0953" y="3453036"/>
            <a:ext cx="5375936" cy="360032"/>
          </a:xfrm>
          <a:custGeom>
            <a:avLst/>
            <a:gdLst/>
            <a:ahLst/>
            <a:cxnLst/>
            <a:rect l="l" t="t" r="r" b="b"/>
            <a:pathLst>
              <a:path w="5375936" h="360032">
                <a:moveTo>
                  <a:pt x="65461" y="0"/>
                </a:moveTo>
                <a:lnTo>
                  <a:pt x="5310475" y="0"/>
                </a:lnTo>
                <a:cubicBezTo>
                  <a:pt x="5346628" y="0"/>
                  <a:pt x="5375936" y="29308"/>
                  <a:pt x="5375936" y="65461"/>
                </a:cubicBezTo>
                <a:lnTo>
                  <a:pt x="5375936" y="294571"/>
                </a:lnTo>
                <a:cubicBezTo>
                  <a:pt x="5375936" y="330724"/>
                  <a:pt x="5346628" y="360032"/>
                  <a:pt x="5310475" y="360032"/>
                </a:cubicBezTo>
                <a:lnTo>
                  <a:pt x="65461" y="360032"/>
                </a:lnTo>
                <a:cubicBezTo>
                  <a:pt x="29308" y="360032"/>
                  <a:pt x="0" y="330724"/>
                  <a:pt x="0" y="294571"/>
                </a:cubicBezTo>
                <a:lnTo>
                  <a:pt x="0" y="65461"/>
                </a:lnTo>
                <a:cubicBezTo>
                  <a:pt x="0" y="29332"/>
                  <a:pt x="29332" y="0"/>
                  <a:pt x="65461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68" y="3577413"/>
            <a:ext cx="100236" cy="114556"/>
          </a:xfrm>
          <a:custGeom>
            <a:avLst/>
            <a:gdLst/>
            <a:ahLst/>
            <a:cxnLst/>
            <a:rect l="l" t="t" r="r" b="b"/>
            <a:pathLst>
              <a:path w="100236" h="114556">
                <a:moveTo>
                  <a:pt x="97283" y="15684"/>
                </a:moveTo>
                <a:cubicBezTo>
                  <a:pt x="100482" y="18011"/>
                  <a:pt x="101198" y="22486"/>
                  <a:pt x="98871" y="25686"/>
                </a:cubicBezTo>
                <a:lnTo>
                  <a:pt x="41594" y="104443"/>
                </a:lnTo>
                <a:cubicBezTo>
                  <a:pt x="40363" y="106143"/>
                  <a:pt x="38461" y="107195"/>
                  <a:pt x="36358" y="107374"/>
                </a:cubicBezTo>
                <a:cubicBezTo>
                  <a:pt x="34255" y="107553"/>
                  <a:pt x="32219" y="106769"/>
                  <a:pt x="30742" y="105293"/>
                </a:cubicBezTo>
                <a:lnTo>
                  <a:pt x="2103" y="76654"/>
                </a:lnTo>
                <a:cubicBezTo>
                  <a:pt x="-694" y="73857"/>
                  <a:pt x="-694" y="69315"/>
                  <a:pt x="2103" y="66518"/>
                </a:cubicBezTo>
                <a:cubicBezTo>
                  <a:pt x="4900" y="63722"/>
                  <a:pt x="9442" y="63722"/>
                  <a:pt x="12239" y="66518"/>
                </a:cubicBezTo>
                <a:lnTo>
                  <a:pt x="34948" y="89228"/>
                </a:lnTo>
                <a:lnTo>
                  <a:pt x="87304" y="17250"/>
                </a:lnTo>
                <a:cubicBezTo>
                  <a:pt x="89631" y="14051"/>
                  <a:pt x="94106" y="13335"/>
                  <a:pt x="97305" y="15662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8605" y="3551227"/>
            <a:ext cx="5047370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execution, deterministic results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60540" y="2471130"/>
            <a:ext cx="5703238" cy="1554685"/>
          </a:xfrm>
          <a:custGeom>
            <a:avLst/>
            <a:gdLst/>
            <a:ahLst/>
            <a:cxnLst/>
            <a:rect l="l" t="t" r="r" b="b"/>
            <a:pathLst>
              <a:path w="5703238" h="1554685">
                <a:moveTo>
                  <a:pt x="32730" y="0"/>
                </a:moveTo>
                <a:lnTo>
                  <a:pt x="5670507" y="0"/>
                </a:lnTo>
                <a:cubicBezTo>
                  <a:pt x="5688584" y="0"/>
                  <a:pt x="5703238" y="14654"/>
                  <a:pt x="5703238" y="32730"/>
                </a:cubicBezTo>
                <a:lnTo>
                  <a:pt x="5703238" y="1456491"/>
                </a:lnTo>
                <a:cubicBezTo>
                  <a:pt x="5703238" y="1510722"/>
                  <a:pt x="5659275" y="1554685"/>
                  <a:pt x="5605044" y="1554685"/>
                </a:cubicBezTo>
                <a:lnTo>
                  <a:pt x="98194" y="1554685"/>
                </a:lnTo>
                <a:cubicBezTo>
                  <a:pt x="43963" y="1554685"/>
                  <a:pt x="0" y="1510722"/>
                  <a:pt x="0" y="1456491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2738" dist="8182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60540" y="2471130"/>
            <a:ext cx="5703238" cy="32730"/>
          </a:xfrm>
          <a:custGeom>
            <a:avLst/>
            <a:gdLst/>
            <a:ahLst/>
            <a:cxnLst/>
            <a:rect l="l" t="t" r="r" b="b"/>
            <a:pathLst>
              <a:path w="5703238" h="32730">
                <a:moveTo>
                  <a:pt x="32730" y="0"/>
                </a:moveTo>
                <a:lnTo>
                  <a:pt x="5670507" y="0"/>
                </a:lnTo>
                <a:cubicBezTo>
                  <a:pt x="5688584" y="0"/>
                  <a:pt x="5703238" y="14654"/>
                  <a:pt x="5703238" y="32730"/>
                </a:cubicBezTo>
                <a:lnTo>
                  <a:pt x="5703238" y="32730"/>
                </a:lnTo>
                <a:lnTo>
                  <a:pt x="0" y="32730"/>
                </a:ln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24191" y="2651146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38747" y="2765702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0" y="25570"/>
                </a:moveTo>
                <a:cubicBezTo>
                  <a:pt x="0" y="17100"/>
                  <a:pt x="6872" y="10228"/>
                  <a:pt x="15342" y="10228"/>
                </a:cubicBezTo>
                <a:lnTo>
                  <a:pt x="46027" y="10228"/>
                </a:lnTo>
                <a:cubicBezTo>
                  <a:pt x="54497" y="10228"/>
                  <a:pt x="61369" y="17100"/>
                  <a:pt x="61369" y="25570"/>
                </a:cubicBezTo>
                <a:lnTo>
                  <a:pt x="61369" y="30685"/>
                </a:lnTo>
                <a:lnTo>
                  <a:pt x="102282" y="30685"/>
                </a:lnTo>
                <a:lnTo>
                  <a:pt x="102282" y="25570"/>
                </a:lnTo>
                <a:cubicBezTo>
                  <a:pt x="102282" y="17100"/>
                  <a:pt x="109154" y="10228"/>
                  <a:pt x="117624" y="10228"/>
                </a:cubicBezTo>
                <a:lnTo>
                  <a:pt x="148309" y="10228"/>
                </a:lnTo>
                <a:cubicBezTo>
                  <a:pt x="156779" y="10228"/>
                  <a:pt x="163651" y="17100"/>
                  <a:pt x="163651" y="25570"/>
                </a:cubicBezTo>
                <a:lnTo>
                  <a:pt x="163651" y="56255"/>
                </a:lnTo>
                <a:cubicBezTo>
                  <a:pt x="163651" y="64725"/>
                  <a:pt x="156779" y="71597"/>
                  <a:pt x="148309" y="71597"/>
                </a:cubicBezTo>
                <a:lnTo>
                  <a:pt x="117624" y="71597"/>
                </a:lnTo>
                <a:cubicBezTo>
                  <a:pt x="109154" y="71597"/>
                  <a:pt x="102282" y="64725"/>
                  <a:pt x="102282" y="56255"/>
                </a:cubicBezTo>
                <a:lnTo>
                  <a:pt x="102282" y="51141"/>
                </a:lnTo>
                <a:lnTo>
                  <a:pt x="61369" y="51141"/>
                </a:lnTo>
                <a:lnTo>
                  <a:pt x="61369" y="56255"/>
                </a:lnTo>
                <a:cubicBezTo>
                  <a:pt x="61369" y="58588"/>
                  <a:pt x="60826" y="60826"/>
                  <a:pt x="59899" y="62807"/>
                </a:cubicBezTo>
                <a:lnTo>
                  <a:pt x="81826" y="92054"/>
                </a:lnTo>
                <a:lnTo>
                  <a:pt x="107396" y="92054"/>
                </a:lnTo>
                <a:cubicBezTo>
                  <a:pt x="115866" y="92054"/>
                  <a:pt x="122738" y="98926"/>
                  <a:pt x="122738" y="107396"/>
                </a:cubicBezTo>
                <a:lnTo>
                  <a:pt x="122738" y="138081"/>
                </a:lnTo>
                <a:cubicBezTo>
                  <a:pt x="122738" y="146551"/>
                  <a:pt x="115866" y="153423"/>
                  <a:pt x="107396" y="153423"/>
                </a:cubicBezTo>
                <a:lnTo>
                  <a:pt x="76711" y="153423"/>
                </a:lnTo>
                <a:cubicBezTo>
                  <a:pt x="68241" y="153423"/>
                  <a:pt x="61369" y="146551"/>
                  <a:pt x="61369" y="138081"/>
                </a:cubicBezTo>
                <a:lnTo>
                  <a:pt x="61369" y="107396"/>
                </a:lnTo>
                <a:cubicBezTo>
                  <a:pt x="61369" y="105063"/>
                  <a:pt x="61912" y="102825"/>
                  <a:pt x="62839" y="100844"/>
                </a:cubicBezTo>
                <a:lnTo>
                  <a:pt x="40913" y="71597"/>
                </a:lnTo>
                <a:lnTo>
                  <a:pt x="15342" y="71597"/>
                </a:lnTo>
                <a:cubicBezTo>
                  <a:pt x="6872" y="71597"/>
                  <a:pt x="0" y="64725"/>
                  <a:pt x="0" y="56255"/>
                </a:cubicBezTo>
                <a:lnTo>
                  <a:pt x="0" y="25570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15144" y="2732972"/>
            <a:ext cx="1448311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Testing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24191" y="3142099"/>
            <a:ext cx="5441396" cy="212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component interactions, database operations, and external service integrations.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24191" y="3453036"/>
            <a:ext cx="5375936" cy="360032"/>
          </a:xfrm>
          <a:custGeom>
            <a:avLst/>
            <a:gdLst/>
            <a:ahLst/>
            <a:cxnLst/>
            <a:rect l="l" t="t" r="r" b="b"/>
            <a:pathLst>
              <a:path w="5375936" h="360032">
                <a:moveTo>
                  <a:pt x="65461" y="0"/>
                </a:moveTo>
                <a:lnTo>
                  <a:pt x="5310475" y="0"/>
                </a:lnTo>
                <a:cubicBezTo>
                  <a:pt x="5346628" y="0"/>
                  <a:pt x="5375936" y="29308"/>
                  <a:pt x="5375936" y="65461"/>
                </a:cubicBezTo>
                <a:lnTo>
                  <a:pt x="5375936" y="294571"/>
                </a:lnTo>
                <a:cubicBezTo>
                  <a:pt x="5375936" y="330724"/>
                  <a:pt x="5346628" y="360032"/>
                  <a:pt x="5310475" y="360032"/>
                </a:cubicBezTo>
                <a:lnTo>
                  <a:pt x="65461" y="360032"/>
                </a:lnTo>
                <a:cubicBezTo>
                  <a:pt x="29308" y="360032"/>
                  <a:pt x="0" y="330724"/>
                  <a:pt x="0" y="294571"/>
                </a:cubicBezTo>
                <a:lnTo>
                  <a:pt x="0" y="65461"/>
                </a:lnTo>
                <a:cubicBezTo>
                  <a:pt x="0" y="29332"/>
                  <a:pt x="29332" y="0"/>
                  <a:pt x="65461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45906" y="3577413"/>
            <a:ext cx="100236" cy="114556"/>
          </a:xfrm>
          <a:custGeom>
            <a:avLst/>
            <a:gdLst/>
            <a:ahLst/>
            <a:cxnLst/>
            <a:rect l="l" t="t" r="r" b="b"/>
            <a:pathLst>
              <a:path w="100236" h="114556">
                <a:moveTo>
                  <a:pt x="97283" y="15684"/>
                </a:moveTo>
                <a:cubicBezTo>
                  <a:pt x="100482" y="18011"/>
                  <a:pt x="101198" y="22486"/>
                  <a:pt x="98871" y="25686"/>
                </a:cubicBezTo>
                <a:lnTo>
                  <a:pt x="41594" y="104443"/>
                </a:lnTo>
                <a:cubicBezTo>
                  <a:pt x="40363" y="106143"/>
                  <a:pt x="38461" y="107195"/>
                  <a:pt x="36358" y="107374"/>
                </a:cubicBezTo>
                <a:cubicBezTo>
                  <a:pt x="34255" y="107553"/>
                  <a:pt x="32219" y="106769"/>
                  <a:pt x="30742" y="105293"/>
                </a:cubicBezTo>
                <a:lnTo>
                  <a:pt x="2103" y="76654"/>
                </a:lnTo>
                <a:cubicBezTo>
                  <a:pt x="-694" y="73857"/>
                  <a:pt x="-694" y="69315"/>
                  <a:pt x="2103" y="66518"/>
                </a:cubicBezTo>
                <a:cubicBezTo>
                  <a:pt x="4900" y="63722"/>
                  <a:pt x="9442" y="63722"/>
                  <a:pt x="12239" y="66518"/>
                </a:cubicBezTo>
                <a:lnTo>
                  <a:pt x="34948" y="89228"/>
                </a:lnTo>
                <a:lnTo>
                  <a:pt x="87304" y="17250"/>
                </a:lnTo>
                <a:cubicBezTo>
                  <a:pt x="89631" y="14051"/>
                  <a:pt x="94106" y="13335"/>
                  <a:pt x="97305" y="15662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11843" y="3551227"/>
            <a:ext cx="5047370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TestContainers for isolated dependencies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302" y="4174839"/>
            <a:ext cx="5703238" cy="1554685"/>
          </a:xfrm>
          <a:custGeom>
            <a:avLst/>
            <a:gdLst/>
            <a:ahLst/>
            <a:cxnLst/>
            <a:rect l="l" t="t" r="r" b="b"/>
            <a:pathLst>
              <a:path w="5703238" h="1554685">
                <a:moveTo>
                  <a:pt x="32730" y="0"/>
                </a:moveTo>
                <a:lnTo>
                  <a:pt x="5670507" y="0"/>
                </a:lnTo>
                <a:cubicBezTo>
                  <a:pt x="5688584" y="0"/>
                  <a:pt x="5703238" y="14654"/>
                  <a:pt x="5703238" y="32730"/>
                </a:cubicBezTo>
                <a:lnTo>
                  <a:pt x="5703238" y="1456491"/>
                </a:lnTo>
                <a:cubicBezTo>
                  <a:pt x="5703238" y="1510722"/>
                  <a:pt x="5659275" y="1554685"/>
                  <a:pt x="5605044" y="1554685"/>
                </a:cubicBezTo>
                <a:lnTo>
                  <a:pt x="98194" y="1554685"/>
                </a:lnTo>
                <a:cubicBezTo>
                  <a:pt x="43963" y="1554685"/>
                  <a:pt x="0" y="1510722"/>
                  <a:pt x="0" y="1456491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2738" dist="8182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7302" y="4174839"/>
            <a:ext cx="5703238" cy="32730"/>
          </a:xfrm>
          <a:custGeom>
            <a:avLst/>
            <a:gdLst/>
            <a:ahLst/>
            <a:cxnLst/>
            <a:rect l="l" t="t" r="r" b="b"/>
            <a:pathLst>
              <a:path w="5703238" h="32730">
                <a:moveTo>
                  <a:pt x="32730" y="0"/>
                </a:moveTo>
                <a:lnTo>
                  <a:pt x="5670507" y="0"/>
                </a:lnTo>
                <a:cubicBezTo>
                  <a:pt x="5688584" y="0"/>
                  <a:pt x="5703238" y="14654"/>
                  <a:pt x="5703238" y="32730"/>
                </a:cubicBezTo>
                <a:lnTo>
                  <a:pt x="5703238" y="32730"/>
                </a:lnTo>
                <a:lnTo>
                  <a:pt x="0" y="32730"/>
                </a:ln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0953" y="4354855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5281" y="4469410"/>
            <a:ext cx="184107" cy="163651"/>
          </a:xfrm>
          <a:custGeom>
            <a:avLst/>
            <a:gdLst/>
            <a:ahLst/>
            <a:cxnLst/>
            <a:rect l="l" t="t" r="r" b="b"/>
            <a:pathLst>
              <a:path w="184107" h="163651">
                <a:moveTo>
                  <a:pt x="79268" y="28128"/>
                </a:moveTo>
                <a:lnTo>
                  <a:pt x="104839" y="28128"/>
                </a:lnTo>
                <a:lnTo>
                  <a:pt x="104839" y="43470"/>
                </a:lnTo>
                <a:lnTo>
                  <a:pt x="79268" y="43470"/>
                </a:lnTo>
                <a:lnTo>
                  <a:pt x="79268" y="28128"/>
                </a:lnTo>
                <a:close/>
                <a:moveTo>
                  <a:pt x="76711" y="10228"/>
                </a:moveTo>
                <a:cubicBezTo>
                  <a:pt x="68241" y="10228"/>
                  <a:pt x="61369" y="17100"/>
                  <a:pt x="61369" y="25570"/>
                </a:cubicBezTo>
                <a:lnTo>
                  <a:pt x="61369" y="46027"/>
                </a:lnTo>
                <a:cubicBezTo>
                  <a:pt x="61369" y="54497"/>
                  <a:pt x="68241" y="61369"/>
                  <a:pt x="76711" y="61369"/>
                </a:cubicBezTo>
                <a:lnTo>
                  <a:pt x="81826" y="61369"/>
                </a:lnTo>
                <a:lnTo>
                  <a:pt x="81826" y="71597"/>
                </a:lnTo>
                <a:lnTo>
                  <a:pt x="10228" y="71597"/>
                </a:lnTo>
                <a:cubicBezTo>
                  <a:pt x="4571" y="71597"/>
                  <a:pt x="0" y="76168"/>
                  <a:pt x="0" y="81826"/>
                </a:cubicBezTo>
                <a:cubicBezTo>
                  <a:pt x="0" y="87483"/>
                  <a:pt x="4571" y="92054"/>
                  <a:pt x="10228" y="92054"/>
                </a:cubicBezTo>
                <a:lnTo>
                  <a:pt x="40913" y="92054"/>
                </a:lnTo>
                <a:lnTo>
                  <a:pt x="40913" y="102282"/>
                </a:lnTo>
                <a:lnTo>
                  <a:pt x="35799" y="102282"/>
                </a:lnTo>
                <a:cubicBezTo>
                  <a:pt x="27328" y="102282"/>
                  <a:pt x="20456" y="109154"/>
                  <a:pt x="20456" y="117624"/>
                </a:cubicBezTo>
                <a:lnTo>
                  <a:pt x="20456" y="138081"/>
                </a:lnTo>
                <a:cubicBezTo>
                  <a:pt x="20456" y="146551"/>
                  <a:pt x="27328" y="153423"/>
                  <a:pt x="35799" y="153423"/>
                </a:cubicBezTo>
                <a:lnTo>
                  <a:pt x="66483" y="153423"/>
                </a:lnTo>
                <a:cubicBezTo>
                  <a:pt x="74953" y="153423"/>
                  <a:pt x="81826" y="146551"/>
                  <a:pt x="81826" y="138081"/>
                </a:cubicBezTo>
                <a:lnTo>
                  <a:pt x="81826" y="117624"/>
                </a:lnTo>
                <a:cubicBezTo>
                  <a:pt x="81826" y="109154"/>
                  <a:pt x="74953" y="102282"/>
                  <a:pt x="66483" y="102282"/>
                </a:cubicBezTo>
                <a:lnTo>
                  <a:pt x="61369" y="102282"/>
                </a:lnTo>
                <a:lnTo>
                  <a:pt x="61369" y="92054"/>
                </a:lnTo>
                <a:lnTo>
                  <a:pt x="122738" y="92054"/>
                </a:lnTo>
                <a:lnTo>
                  <a:pt x="122738" y="102282"/>
                </a:lnTo>
                <a:lnTo>
                  <a:pt x="117624" y="102282"/>
                </a:lnTo>
                <a:cubicBezTo>
                  <a:pt x="109154" y="102282"/>
                  <a:pt x="102282" y="109154"/>
                  <a:pt x="102282" y="117624"/>
                </a:cubicBezTo>
                <a:lnTo>
                  <a:pt x="102282" y="138081"/>
                </a:lnTo>
                <a:cubicBezTo>
                  <a:pt x="102282" y="146551"/>
                  <a:pt x="109154" y="153423"/>
                  <a:pt x="117624" y="153423"/>
                </a:cubicBezTo>
                <a:lnTo>
                  <a:pt x="148309" y="153423"/>
                </a:lnTo>
                <a:cubicBezTo>
                  <a:pt x="156779" y="153423"/>
                  <a:pt x="163651" y="146551"/>
                  <a:pt x="163651" y="138081"/>
                </a:cubicBezTo>
                <a:lnTo>
                  <a:pt x="163651" y="117624"/>
                </a:lnTo>
                <a:cubicBezTo>
                  <a:pt x="163651" y="109154"/>
                  <a:pt x="156779" y="102282"/>
                  <a:pt x="148309" y="102282"/>
                </a:cubicBezTo>
                <a:lnTo>
                  <a:pt x="143195" y="102282"/>
                </a:lnTo>
                <a:lnTo>
                  <a:pt x="143195" y="92054"/>
                </a:lnTo>
                <a:lnTo>
                  <a:pt x="173879" y="92054"/>
                </a:lnTo>
                <a:cubicBezTo>
                  <a:pt x="179537" y="92054"/>
                  <a:pt x="184107" y="87483"/>
                  <a:pt x="184107" y="81826"/>
                </a:cubicBezTo>
                <a:cubicBezTo>
                  <a:pt x="184107" y="76168"/>
                  <a:pt x="179537" y="71597"/>
                  <a:pt x="173879" y="71597"/>
                </a:cubicBezTo>
                <a:lnTo>
                  <a:pt x="102282" y="71597"/>
                </a:lnTo>
                <a:lnTo>
                  <a:pt x="102282" y="61369"/>
                </a:lnTo>
                <a:lnTo>
                  <a:pt x="107396" y="61369"/>
                </a:lnTo>
                <a:cubicBezTo>
                  <a:pt x="115866" y="61369"/>
                  <a:pt x="122738" y="54497"/>
                  <a:pt x="122738" y="46027"/>
                </a:cubicBezTo>
                <a:lnTo>
                  <a:pt x="122738" y="25570"/>
                </a:lnTo>
                <a:cubicBezTo>
                  <a:pt x="122738" y="17100"/>
                  <a:pt x="115866" y="10228"/>
                  <a:pt x="107396" y="10228"/>
                </a:cubicBezTo>
                <a:lnTo>
                  <a:pt x="76711" y="10228"/>
                </a:lnTo>
                <a:close/>
                <a:moveTo>
                  <a:pt x="143195" y="120181"/>
                </a:moveTo>
                <a:lnTo>
                  <a:pt x="145752" y="120181"/>
                </a:lnTo>
                <a:lnTo>
                  <a:pt x="145752" y="135523"/>
                </a:lnTo>
                <a:lnTo>
                  <a:pt x="120181" y="135523"/>
                </a:lnTo>
                <a:lnTo>
                  <a:pt x="120181" y="120181"/>
                </a:lnTo>
                <a:lnTo>
                  <a:pt x="143195" y="120181"/>
                </a:lnTo>
                <a:close/>
                <a:moveTo>
                  <a:pt x="61369" y="120181"/>
                </a:moveTo>
                <a:lnTo>
                  <a:pt x="63926" y="120181"/>
                </a:lnTo>
                <a:lnTo>
                  <a:pt x="63926" y="135523"/>
                </a:lnTo>
                <a:lnTo>
                  <a:pt x="38356" y="135523"/>
                </a:lnTo>
                <a:lnTo>
                  <a:pt x="38356" y="120181"/>
                </a:lnTo>
                <a:lnTo>
                  <a:pt x="61369" y="120181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81906" y="4436680"/>
            <a:ext cx="1751066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Behavior Validation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0953" y="4845808"/>
            <a:ext cx="5441396" cy="212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API contract testing, response validation, and error scenario coverage.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0953" y="5156745"/>
            <a:ext cx="5375936" cy="360032"/>
          </a:xfrm>
          <a:custGeom>
            <a:avLst/>
            <a:gdLst/>
            <a:ahLst/>
            <a:cxnLst/>
            <a:rect l="l" t="t" r="r" b="b"/>
            <a:pathLst>
              <a:path w="5375936" h="360032">
                <a:moveTo>
                  <a:pt x="65461" y="0"/>
                </a:moveTo>
                <a:lnTo>
                  <a:pt x="5310475" y="0"/>
                </a:lnTo>
                <a:cubicBezTo>
                  <a:pt x="5346628" y="0"/>
                  <a:pt x="5375936" y="29308"/>
                  <a:pt x="5375936" y="65461"/>
                </a:cubicBezTo>
                <a:lnTo>
                  <a:pt x="5375936" y="294571"/>
                </a:lnTo>
                <a:cubicBezTo>
                  <a:pt x="5375936" y="330724"/>
                  <a:pt x="5346628" y="360032"/>
                  <a:pt x="5310475" y="360032"/>
                </a:cubicBezTo>
                <a:lnTo>
                  <a:pt x="65461" y="360032"/>
                </a:lnTo>
                <a:cubicBezTo>
                  <a:pt x="29308" y="360032"/>
                  <a:pt x="0" y="330724"/>
                  <a:pt x="0" y="294571"/>
                </a:cubicBezTo>
                <a:lnTo>
                  <a:pt x="0" y="65461"/>
                </a:lnTo>
                <a:cubicBezTo>
                  <a:pt x="0" y="29332"/>
                  <a:pt x="29332" y="0"/>
                  <a:pt x="65461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2668" y="5281121"/>
            <a:ext cx="100236" cy="114556"/>
          </a:xfrm>
          <a:custGeom>
            <a:avLst/>
            <a:gdLst/>
            <a:ahLst/>
            <a:cxnLst/>
            <a:rect l="l" t="t" r="r" b="b"/>
            <a:pathLst>
              <a:path w="100236" h="114556">
                <a:moveTo>
                  <a:pt x="97283" y="15684"/>
                </a:moveTo>
                <a:cubicBezTo>
                  <a:pt x="100482" y="18011"/>
                  <a:pt x="101198" y="22486"/>
                  <a:pt x="98871" y="25686"/>
                </a:cubicBezTo>
                <a:lnTo>
                  <a:pt x="41594" y="104443"/>
                </a:lnTo>
                <a:cubicBezTo>
                  <a:pt x="40363" y="106143"/>
                  <a:pt x="38461" y="107195"/>
                  <a:pt x="36358" y="107374"/>
                </a:cubicBezTo>
                <a:cubicBezTo>
                  <a:pt x="34255" y="107553"/>
                  <a:pt x="32219" y="106769"/>
                  <a:pt x="30742" y="105293"/>
                </a:cubicBezTo>
                <a:lnTo>
                  <a:pt x="2103" y="76654"/>
                </a:lnTo>
                <a:cubicBezTo>
                  <a:pt x="-694" y="73857"/>
                  <a:pt x="-694" y="69315"/>
                  <a:pt x="2103" y="66518"/>
                </a:cubicBezTo>
                <a:cubicBezTo>
                  <a:pt x="4900" y="63722"/>
                  <a:pt x="9442" y="63722"/>
                  <a:pt x="12239" y="66518"/>
                </a:cubicBezTo>
                <a:lnTo>
                  <a:pt x="34948" y="89228"/>
                </a:lnTo>
                <a:lnTo>
                  <a:pt x="87304" y="17250"/>
                </a:lnTo>
                <a:cubicBezTo>
                  <a:pt x="89631" y="14051"/>
                  <a:pt x="94106" y="13335"/>
                  <a:pt x="97305" y="15662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8605" y="5254935"/>
            <a:ext cx="5047370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Contract compliance verification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60540" y="4174839"/>
            <a:ext cx="5703238" cy="1554685"/>
          </a:xfrm>
          <a:custGeom>
            <a:avLst/>
            <a:gdLst/>
            <a:ahLst/>
            <a:cxnLst/>
            <a:rect l="l" t="t" r="r" b="b"/>
            <a:pathLst>
              <a:path w="5703238" h="1554685">
                <a:moveTo>
                  <a:pt x="32730" y="0"/>
                </a:moveTo>
                <a:lnTo>
                  <a:pt x="5670507" y="0"/>
                </a:lnTo>
                <a:cubicBezTo>
                  <a:pt x="5688584" y="0"/>
                  <a:pt x="5703238" y="14654"/>
                  <a:pt x="5703238" y="32730"/>
                </a:cubicBezTo>
                <a:lnTo>
                  <a:pt x="5703238" y="1456491"/>
                </a:lnTo>
                <a:cubicBezTo>
                  <a:pt x="5703238" y="1510722"/>
                  <a:pt x="5659275" y="1554685"/>
                  <a:pt x="5605044" y="1554685"/>
                </a:cubicBezTo>
                <a:lnTo>
                  <a:pt x="98194" y="1554685"/>
                </a:lnTo>
                <a:cubicBezTo>
                  <a:pt x="43963" y="1554685"/>
                  <a:pt x="0" y="1510722"/>
                  <a:pt x="0" y="1456491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2738" dist="8182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60540" y="4174839"/>
            <a:ext cx="5703238" cy="32730"/>
          </a:xfrm>
          <a:custGeom>
            <a:avLst/>
            <a:gdLst/>
            <a:ahLst/>
            <a:cxnLst/>
            <a:rect l="l" t="t" r="r" b="b"/>
            <a:pathLst>
              <a:path w="5703238" h="32730">
                <a:moveTo>
                  <a:pt x="32730" y="0"/>
                </a:moveTo>
                <a:lnTo>
                  <a:pt x="5670507" y="0"/>
                </a:lnTo>
                <a:cubicBezTo>
                  <a:pt x="5688584" y="0"/>
                  <a:pt x="5703238" y="14654"/>
                  <a:pt x="5703238" y="32730"/>
                </a:cubicBezTo>
                <a:lnTo>
                  <a:pt x="5703238" y="32730"/>
                </a:lnTo>
                <a:lnTo>
                  <a:pt x="0" y="32730"/>
                </a:ln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24191" y="4354855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38747" y="4469410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0"/>
                </a:moveTo>
                <a:cubicBezTo>
                  <a:pt x="83296" y="0"/>
                  <a:pt x="84766" y="320"/>
                  <a:pt x="86109" y="927"/>
                </a:cubicBezTo>
                <a:lnTo>
                  <a:pt x="146327" y="26465"/>
                </a:lnTo>
                <a:cubicBezTo>
                  <a:pt x="153359" y="29438"/>
                  <a:pt x="158601" y="36374"/>
                  <a:pt x="158569" y="44748"/>
                </a:cubicBezTo>
                <a:cubicBezTo>
                  <a:pt x="158409" y="76456"/>
                  <a:pt x="145368" y="134469"/>
                  <a:pt x="90296" y="160838"/>
                </a:cubicBezTo>
                <a:cubicBezTo>
                  <a:pt x="84958" y="163395"/>
                  <a:pt x="78757" y="163395"/>
                  <a:pt x="73419" y="160838"/>
                </a:cubicBezTo>
                <a:cubicBezTo>
                  <a:pt x="18315" y="134469"/>
                  <a:pt x="5306" y="76456"/>
                  <a:pt x="5146" y="44748"/>
                </a:cubicBezTo>
                <a:cubicBezTo>
                  <a:pt x="5114" y="36374"/>
                  <a:pt x="10356" y="29438"/>
                  <a:pt x="17388" y="26465"/>
                </a:cubicBezTo>
                <a:lnTo>
                  <a:pt x="77574" y="927"/>
                </a:lnTo>
                <a:cubicBezTo>
                  <a:pt x="78917" y="320"/>
                  <a:pt x="80355" y="0"/>
                  <a:pt x="81826" y="0"/>
                </a:cubicBezTo>
                <a:close/>
                <a:moveTo>
                  <a:pt x="81826" y="21351"/>
                </a:moveTo>
                <a:lnTo>
                  <a:pt x="81826" y="142204"/>
                </a:lnTo>
                <a:cubicBezTo>
                  <a:pt x="125935" y="120852"/>
                  <a:pt x="137793" y="73547"/>
                  <a:pt x="138081" y="45228"/>
                </a:cubicBezTo>
                <a:lnTo>
                  <a:pt x="81826" y="21383"/>
                </a:lnTo>
                <a:lnTo>
                  <a:pt x="81826" y="21383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15144" y="4436680"/>
            <a:ext cx="177561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 &amp; Regression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24191" y="4845808"/>
            <a:ext cx="5441396" cy="212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1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Idempotency verification, retry policy validation, and regression safety checks.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4191" y="5156745"/>
            <a:ext cx="5375936" cy="360032"/>
          </a:xfrm>
          <a:custGeom>
            <a:avLst/>
            <a:gdLst/>
            <a:ahLst/>
            <a:cxnLst/>
            <a:rect l="l" t="t" r="r" b="b"/>
            <a:pathLst>
              <a:path w="5375936" h="360032">
                <a:moveTo>
                  <a:pt x="65461" y="0"/>
                </a:moveTo>
                <a:lnTo>
                  <a:pt x="5310475" y="0"/>
                </a:lnTo>
                <a:cubicBezTo>
                  <a:pt x="5346628" y="0"/>
                  <a:pt x="5375936" y="29308"/>
                  <a:pt x="5375936" y="65461"/>
                </a:cubicBezTo>
                <a:lnTo>
                  <a:pt x="5375936" y="294571"/>
                </a:lnTo>
                <a:cubicBezTo>
                  <a:pt x="5375936" y="330724"/>
                  <a:pt x="5346628" y="360032"/>
                  <a:pt x="5310475" y="360032"/>
                </a:cubicBezTo>
                <a:lnTo>
                  <a:pt x="65461" y="360032"/>
                </a:lnTo>
                <a:cubicBezTo>
                  <a:pt x="29308" y="360032"/>
                  <a:pt x="0" y="330724"/>
                  <a:pt x="0" y="294571"/>
                </a:cubicBezTo>
                <a:lnTo>
                  <a:pt x="0" y="65461"/>
                </a:lnTo>
                <a:cubicBezTo>
                  <a:pt x="0" y="29332"/>
                  <a:pt x="29332" y="0"/>
                  <a:pt x="65461" y="0"/>
                </a:cubicBezTo>
                <a:close/>
              </a:path>
            </a:pathLst>
          </a:cu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445906" y="5281121"/>
            <a:ext cx="100236" cy="114556"/>
          </a:xfrm>
          <a:custGeom>
            <a:avLst/>
            <a:gdLst/>
            <a:ahLst/>
            <a:cxnLst/>
            <a:rect l="l" t="t" r="r" b="b"/>
            <a:pathLst>
              <a:path w="100236" h="114556">
                <a:moveTo>
                  <a:pt x="97283" y="15684"/>
                </a:moveTo>
                <a:cubicBezTo>
                  <a:pt x="100482" y="18011"/>
                  <a:pt x="101198" y="22486"/>
                  <a:pt x="98871" y="25686"/>
                </a:cubicBezTo>
                <a:lnTo>
                  <a:pt x="41594" y="104443"/>
                </a:lnTo>
                <a:cubicBezTo>
                  <a:pt x="40363" y="106143"/>
                  <a:pt x="38461" y="107195"/>
                  <a:pt x="36358" y="107374"/>
                </a:cubicBezTo>
                <a:cubicBezTo>
                  <a:pt x="34255" y="107553"/>
                  <a:pt x="32219" y="106769"/>
                  <a:pt x="30742" y="105293"/>
                </a:cubicBezTo>
                <a:lnTo>
                  <a:pt x="2103" y="76654"/>
                </a:lnTo>
                <a:cubicBezTo>
                  <a:pt x="-694" y="73857"/>
                  <a:pt x="-694" y="69315"/>
                  <a:pt x="2103" y="66518"/>
                </a:cubicBezTo>
                <a:cubicBezTo>
                  <a:pt x="4900" y="63722"/>
                  <a:pt x="9442" y="63722"/>
                  <a:pt x="12239" y="66518"/>
                </a:cubicBezTo>
                <a:lnTo>
                  <a:pt x="34948" y="89228"/>
                </a:lnTo>
                <a:lnTo>
                  <a:pt x="87304" y="17250"/>
                </a:lnTo>
                <a:cubicBezTo>
                  <a:pt x="89631" y="14051"/>
                  <a:pt x="94106" y="13335"/>
                  <a:pt x="97305" y="15662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11843" y="5254935"/>
            <a:ext cx="5047370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breaking changes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30575" y="5865459"/>
            <a:ext cx="11527577" cy="661150"/>
          </a:xfrm>
          <a:custGeom>
            <a:avLst/>
            <a:gdLst/>
            <a:ahLst/>
            <a:cxnLst/>
            <a:rect l="l" t="t" r="r" b="b"/>
            <a:pathLst>
              <a:path w="11527577" h="661150">
                <a:moveTo>
                  <a:pt x="98187" y="0"/>
                </a:moveTo>
                <a:lnTo>
                  <a:pt x="11429390" y="0"/>
                </a:lnTo>
                <a:cubicBezTo>
                  <a:pt x="11483617" y="0"/>
                  <a:pt x="11527577" y="43960"/>
                  <a:pt x="11527577" y="98187"/>
                </a:cubicBezTo>
                <a:lnTo>
                  <a:pt x="11527577" y="562963"/>
                </a:lnTo>
                <a:cubicBezTo>
                  <a:pt x="11527577" y="617190"/>
                  <a:pt x="11483617" y="661150"/>
                  <a:pt x="11429390" y="661150"/>
                </a:cubicBezTo>
                <a:lnTo>
                  <a:pt x="98187" y="661150"/>
                </a:lnTo>
                <a:cubicBezTo>
                  <a:pt x="43960" y="661150"/>
                  <a:pt x="0" y="617190"/>
                  <a:pt x="0" y="562963"/>
                </a:cubicBezTo>
                <a:lnTo>
                  <a:pt x="0" y="98187"/>
                </a:lnTo>
                <a:cubicBezTo>
                  <a:pt x="0" y="43960"/>
                  <a:pt x="43960" y="0"/>
                  <a:pt x="98187" y="0"/>
                </a:cubicBezTo>
                <a:close/>
              </a:path>
            </a:pathLst>
          </a:custGeom>
          <a:solidFill>
            <a:srgbClr val="26A2DB">
              <a:alpha val="10196"/>
            </a:srgbClr>
          </a:solidFill>
          <a:ln w="10160">
            <a:solidFill>
              <a:srgbClr val="26A2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9317" y="6097738"/>
            <a:ext cx="196381" cy="196381"/>
          </a:xfrm>
          <a:custGeom>
            <a:avLst/>
            <a:gdLst/>
            <a:ahLst/>
            <a:cxnLst/>
            <a:rect l="l" t="t" r="r" b="b"/>
            <a:pathLst>
              <a:path w="196381" h="196381">
                <a:moveTo>
                  <a:pt x="98191" y="0"/>
                </a:moveTo>
                <a:cubicBezTo>
                  <a:pt x="103829" y="0"/>
                  <a:pt x="109007" y="3107"/>
                  <a:pt x="111692" y="8055"/>
                </a:cubicBezTo>
                <a:lnTo>
                  <a:pt x="194540" y="161478"/>
                </a:lnTo>
                <a:cubicBezTo>
                  <a:pt x="197110" y="166234"/>
                  <a:pt x="196995" y="171987"/>
                  <a:pt x="194233" y="176628"/>
                </a:cubicBezTo>
                <a:cubicBezTo>
                  <a:pt x="191472" y="181269"/>
                  <a:pt x="186447" y="184107"/>
                  <a:pt x="181039" y="184107"/>
                </a:cubicBezTo>
                <a:lnTo>
                  <a:pt x="15342" y="184107"/>
                </a:lnTo>
                <a:cubicBezTo>
                  <a:pt x="9934" y="184107"/>
                  <a:pt x="4948" y="181269"/>
                  <a:pt x="2148" y="176628"/>
                </a:cubicBezTo>
                <a:cubicBezTo>
                  <a:pt x="-652" y="171987"/>
                  <a:pt x="-729" y="166234"/>
                  <a:pt x="1841" y="161478"/>
                </a:cubicBezTo>
                <a:lnTo>
                  <a:pt x="84689" y="8055"/>
                </a:lnTo>
                <a:cubicBezTo>
                  <a:pt x="87374" y="3107"/>
                  <a:pt x="92552" y="0"/>
                  <a:pt x="98191" y="0"/>
                </a:cubicBezTo>
                <a:close/>
                <a:moveTo>
                  <a:pt x="98191" y="64438"/>
                </a:moveTo>
                <a:cubicBezTo>
                  <a:pt x="93089" y="64438"/>
                  <a:pt x="88985" y="68542"/>
                  <a:pt x="88985" y="73643"/>
                </a:cubicBezTo>
                <a:lnTo>
                  <a:pt x="88985" y="116601"/>
                </a:lnTo>
                <a:cubicBezTo>
                  <a:pt x="88985" y="121703"/>
                  <a:pt x="93089" y="125807"/>
                  <a:pt x="98191" y="125807"/>
                </a:cubicBezTo>
                <a:cubicBezTo>
                  <a:pt x="103292" y="125807"/>
                  <a:pt x="107396" y="121703"/>
                  <a:pt x="107396" y="116601"/>
                </a:cubicBezTo>
                <a:lnTo>
                  <a:pt x="107396" y="73643"/>
                </a:lnTo>
                <a:cubicBezTo>
                  <a:pt x="107396" y="68542"/>
                  <a:pt x="103292" y="64438"/>
                  <a:pt x="98191" y="64438"/>
                </a:cubicBezTo>
                <a:close/>
                <a:moveTo>
                  <a:pt x="108432" y="147286"/>
                </a:moveTo>
                <a:cubicBezTo>
                  <a:pt x="108665" y="143485"/>
                  <a:pt x="106769" y="139868"/>
                  <a:pt x="103510" y="137897"/>
                </a:cubicBezTo>
                <a:cubicBezTo>
                  <a:pt x="100251" y="135926"/>
                  <a:pt x="96168" y="135926"/>
                  <a:pt x="92909" y="137897"/>
                </a:cubicBezTo>
                <a:cubicBezTo>
                  <a:pt x="89651" y="139868"/>
                  <a:pt x="87755" y="143485"/>
                  <a:pt x="87988" y="147286"/>
                </a:cubicBezTo>
                <a:cubicBezTo>
                  <a:pt x="87755" y="151087"/>
                  <a:pt x="89651" y="154704"/>
                  <a:pt x="92909" y="156675"/>
                </a:cubicBezTo>
                <a:cubicBezTo>
                  <a:pt x="96168" y="158646"/>
                  <a:pt x="100251" y="158646"/>
                  <a:pt x="103510" y="156675"/>
                </a:cubicBezTo>
                <a:cubicBezTo>
                  <a:pt x="106769" y="154704"/>
                  <a:pt x="108665" y="151087"/>
                  <a:pt x="108432" y="147286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41166" y="6097738"/>
            <a:ext cx="347758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Release Gate:</a:t>
            </a:r>
            <a:r>
              <a:rPr lang="en-US" sz="1031" dirty="0">
                <a:solidFill>
                  <a:srgbClr val="0F2D6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deployment without passing all test stages.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23322" y="5999651"/>
            <a:ext cx="580961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46" b="1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xUnit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47870" y="6261389"/>
            <a:ext cx="531866" cy="13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3" dirty="0">
                <a:solidFill>
                  <a:srgbClr val="1A20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37832" y="5999651"/>
            <a:ext cx="1137374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46" b="1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NSubstitute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62379" y="6261389"/>
            <a:ext cx="1088279" cy="13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3" dirty="0">
                <a:solidFill>
                  <a:srgbClr val="1A20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Mocking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209471" y="5999651"/>
            <a:ext cx="1562867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46" b="1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FluentAssertions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234018" y="6261389"/>
            <a:ext cx="1513772" cy="13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73" dirty="0">
                <a:solidFill>
                  <a:srgbClr val="1A202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Assertions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17500" y="558948"/>
            <a:ext cx="11557000" cy="5794375"/>
          </a:xfrm>
          <a:custGeom>
            <a:avLst/>
            <a:gdLst/>
            <a:ahLst/>
            <a:cxnLst/>
            <a:rect l="l" t="t" r="r" b="b"/>
            <a:pathLst>
              <a:path w="11557000" h="6111875">
                <a:moveTo>
                  <a:pt x="95223" y="0"/>
                </a:moveTo>
                <a:lnTo>
                  <a:pt x="11461777" y="0"/>
                </a:lnTo>
                <a:cubicBezTo>
                  <a:pt x="11514367" y="0"/>
                  <a:pt x="11557000" y="42633"/>
                  <a:pt x="11557000" y="95223"/>
                </a:cubicBezTo>
                <a:lnTo>
                  <a:pt x="11557000" y="6016652"/>
                </a:lnTo>
                <a:cubicBezTo>
                  <a:pt x="11557000" y="6069242"/>
                  <a:pt x="11514367" y="6111875"/>
                  <a:pt x="11461777" y="6111875"/>
                </a:cubicBezTo>
                <a:lnTo>
                  <a:pt x="95223" y="6111875"/>
                </a:lnTo>
                <a:cubicBezTo>
                  <a:pt x="42633" y="6111875"/>
                  <a:pt x="0" y="6069242"/>
                  <a:pt x="0" y="6016652"/>
                </a:cubicBezTo>
                <a:lnTo>
                  <a:pt x="0" y="95223"/>
                </a:lnTo>
                <a:cubicBezTo>
                  <a:pt x="0" y="42668"/>
                  <a:pt x="42668" y="0"/>
                  <a:pt x="952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7063" y="100660"/>
            <a:ext cx="1117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dependencies only. Transitive dependencies are excluded.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280153"/>
              </p:ext>
            </p:extLst>
          </p:nvPr>
        </p:nvGraphicFramePr>
        <p:xfrm>
          <a:off x="412750" y="622448"/>
          <a:ext cx="11366501" cy="5646660"/>
        </p:xfrm>
        <a:graphic>
          <a:graphicData uri="http://schemas.openxmlformats.org/drawingml/2006/table">
            <a:tbl>
              <a:tblPr/>
              <a:tblGrid>
                <a:gridCol w="2722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363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0F2D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Category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F2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0F2D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Package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F2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0F2D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Pinned Version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F2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363">
                <a:tc rowSpan="4"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0F2D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API &amp; Versioning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0F2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Asp.Versioning.Mvc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0F2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8.1.0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0F2D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Asp.Versioning.Mvc.ApiExplorer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8.1.0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Microsoft.AspNetCore.OpenApi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10.0.3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Swashbuckle.AspNetCore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10.1.1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363">
                <a:tc rowSpan="4"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0F2D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&amp; Database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Microsoft.EntityFrameworkCore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10.0.3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Microsoft.EntityFrameworkCore.Design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10.0.3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Npgsql.EntityFrameworkCore.PostgreSQL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10.0.0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Microsoft.EntityFrameworkCore.SqlServer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10.0.3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363">
                <a:tc rowSpan="4"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0F2D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Resiliency &amp; Integration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Microsoft.Extensions.Http.Resilience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10.1.0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Microsoft.Extensions.Caching.Hybrid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10.0.0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StackExchange.Redis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2.11.0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Azure.Storage.Queues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12.25.0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363">
                <a:tc rowSpan="3"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0F2D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Functions Runtime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Microsoft.Azure.Functions.Worker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2.51.0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Microsoft.Azure.Functions.Worker.Sdk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2.0.7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Microsoft.Azure.Functions.Worker.Extensions.Storage.Queues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5.5.3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CDC4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8363">
                <a:tc rowSpan="5"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0F2D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Testing Baseline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Microsoft.NET.Test.Sdk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17.13.0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A2D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xunit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2.9.3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FluentAssertions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8.0.1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NSubstitute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5.3.0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83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coverlet.collector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1A20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6.0.4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17500" y="6439839"/>
            <a:ext cx="11557000" cy="372775"/>
          </a:xfrm>
          <a:custGeom>
            <a:avLst/>
            <a:gdLst/>
            <a:ahLst/>
            <a:cxnLst/>
            <a:rect l="l" t="t" r="r" b="b"/>
            <a:pathLst>
              <a:path w="11557000" h="571500">
                <a:moveTo>
                  <a:pt x="95252" y="0"/>
                </a:moveTo>
                <a:lnTo>
                  <a:pt x="11461748" y="0"/>
                </a:lnTo>
                <a:cubicBezTo>
                  <a:pt x="11514354" y="0"/>
                  <a:pt x="11557000" y="42646"/>
                  <a:pt x="11557000" y="95252"/>
                </a:cubicBezTo>
                <a:lnTo>
                  <a:pt x="11557000" y="476248"/>
                </a:lnTo>
                <a:cubicBezTo>
                  <a:pt x="11557000" y="528854"/>
                  <a:pt x="11514354" y="571500"/>
                  <a:pt x="11461748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F2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9"/>
          <p:cNvSpPr/>
          <p:nvPr/>
        </p:nvSpPr>
        <p:spPr>
          <a:xfrm>
            <a:off x="452438" y="652521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39688" y="29766"/>
                </a:moveTo>
                <a:lnTo>
                  <a:pt x="39688" y="49609"/>
                </a:lnTo>
                <a:lnTo>
                  <a:pt x="79375" y="49609"/>
                </a:lnTo>
                <a:lnTo>
                  <a:pt x="79375" y="29766"/>
                </a:lnTo>
                <a:cubicBezTo>
                  <a:pt x="79375" y="18821"/>
                  <a:pt x="70476" y="9922"/>
                  <a:pt x="59531" y="9922"/>
                </a:cubicBezTo>
                <a:cubicBezTo>
                  <a:pt x="48586" y="9922"/>
                  <a:pt x="39688" y="18821"/>
                  <a:pt x="39688" y="29766"/>
                </a:cubicBezTo>
                <a:close/>
                <a:moveTo>
                  <a:pt x="19844" y="49609"/>
                </a:moveTo>
                <a:lnTo>
                  <a:pt x="19844" y="29766"/>
                </a:lnTo>
                <a:cubicBezTo>
                  <a:pt x="19844" y="7844"/>
                  <a:pt x="37610" y="-9922"/>
                  <a:pt x="59531" y="-9922"/>
                </a:cubicBezTo>
                <a:cubicBezTo>
                  <a:pt x="81452" y="-9922"/>
                  <a:pt x="99219" y="7844"/>
                  <a:pt x="99219" y="29766"/>
                </a:cubicBezTo>
                <a:lnTo>
                  <a:pt x="99219" y="49609"/>
                </a:lnTo>
                <a:cubicBezTo>
                  <a:pt x="110164" y="49609"/>
                  <a:pt x="119062" y="58508"/>
                  <a:pt x="119062" y="69453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69453"/>
                </a:lnTo>
                <a:cubicBezTo>
                  <a:pt x="0" y="58508"/>
                  <a:pt x="8899" y="49609"/>
                  <a:pt x="19844" y="49609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8188" y="6525213"/>
            <a:ext cx="514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Package Management:</a:t>
            </a:r>
            <a:r>
              <a:rPr lang="en-US" sz="87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versions pinned in Directory.Packages.props for reproducible builds.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345964" y="6507978"/>
            <a:ext cx="746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081346" y="6561080"/>
            <a:ext cx="698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Packages</a:t>
            </a:r>
            <a:endParaRPr lang="en-US" sz="1600" dirty="0"/>
          </a:p>
        </p:txBody>
      </p:sp>
      <p:sp>
        <p:nvSpPr>
          <p:cNvPr id="16" name="Shape 0"/>
          <p:cNvSpPr/>
          <p:nvPr/>
        </p:nvSpPr>
        <p:spPr>
          <a:xfrm>
            <a:off x="317500" y="25671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0" y="0"/>
                </a:moveTo>
                <a:lnTo>
                  <a:pt x="31750" y="0"/>
                </a:lnTo>
                <a:lnTo>
                  <a:pt x="317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"/>
          <p:cNvSpPr/>
          <p:nvPr/>
        </p:nvSpPr>
        <p:spPr>
          <a:xfrm>
            <a:off x="444500" y="73296"/>
            <a:ext cx="170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DEPENDENCY MANAGEMENT</a:t>
            </a:r>
            <a:endParaRPr lang="en-US" sz="1600" dirty="0"/>
          </a:p>
        </p:txBody>
      </p:sp>
      <p:sp>
        <p:nvSpPr>
          <p:cNvPr id="18" name="Text 2"/>
          <p:cNvSpPr/>
          <p:nvPr/>
        </p:nvSpPr>
        <p:spPr>
          <a:xfrm>
            <a:off x="317500" y="304259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Dependency Governance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625" y="328625"/>
            <a:ext cx="32863" cy="262900"/>
          </a:xfrm>
          <a:custGeom>
            <a:avLst/>
            <a:gdLst/>
            <a:ahLst/>
            <a:cxnLst/>
            <a:rect l="l" t="t" r="r" b="b"/>
            <a:pathLst>
              <a:path w="32863" h="262900">
                <a:moveTo>
                  <a:pt x="0" y="0"/>
                </a:moveTo>
                <a:lnTo>
                  <a:pt x="32863" y="0"/>
                </a:lnTo>
                <a:lnTo>
                  <a:pt x="32863" y="262900"/>
                </a:lnTo>
                <a:lnTo>
                  <a:pt x="0" y="262900"/>
                </a:lnTo>
                <a:lnTo>
                  <a:pt x="0" y="0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0075" y="377919"/>
            <a:ext cx="755838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b="1" kern="0" spc="45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8625" y="657251"/>
            <a:ext cx="11682631" cy="3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9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Appendix: Key Technical Terms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8625" y="1018739"/>
            <a:ext cx="11608690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4" dirty="0">
                <a:solidFill>
                  <a:srgbClr val="1A202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Definitions for architectural concepts and patterns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5057" y="1380226"/>
            <a:ext cx="5701650" cy="870857"/>
          </a:xfrm>
          <a:custGeom>
            <a:avLst/>
            <a:gdLst/>
            <a:ahLst/>
            <a:cxnLst/>
            <a:rect l="l" t="t" r="r" b="b"/>
            <a:pathLst>
              <a:path w="5701650" h="870857">
                <a:moveTo>
                  <a:pt x="32863" y="0"/>
                </a:moveTo>
                <a:lnTo>
                  <a:pt x="5603060" y="0"/>
                </a:lnTo>
                <a:cubicBezTo>
                  <a:pt x="5657509" y="0"/>
                  <a:pt x="5701650" y="44140"/>
                  <a:pt x="5701650" y="98590"/>
                </a:cubicBezTo>
                <a:lnTo>
                  <a:pt x="5701650" y="772267"/>
                </a:lnTo>
                <a:cubicBezTo>
                  <a:pt x="5701650" y="826717"/>
                  <a:pt x="5657509" y="870857"/>
                  <a:pt x="5603060" y="870857"/>
                </a:cubicBez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294" dist="3286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5057" y="1380226"/>
            <a:ext cx="32863" cy="870857"/>
          </a:xfrm>
          <a:custGeom>
            <a:avLst/>
            <a:gdLst/>
            <a:ahLst/>
            <a:cxnLst/>
            <a:rect l="l" t="t" r="r" b="b"/>
            <a:pathLst>
              <a:path w="32863" h="870857">
                <a:moveTo>
                  <a:pt x="32863" y="0"/>
                </a:moveTo>
                <a:lnTo>
                  <a:pt x="32863" y="0"/>
                </a:lnTo>
                <a:lnTo>
                  <a:pt x="32863" y="870857"/>
                </a:ln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2938" y="1511677"/>
            <a:ext cx="5488043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Idempotency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2938" y="1741714"/>
            <a:ext cx="5479827" cy="37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6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Property where an operation produces the same result whether executed once or multiple times. Prevents duplicate processing.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63471" y="1380226"/>
            <a:ext cx="5701650" cy="870857"/>
          </a:xfrm>
          <a:custGeom>
            <a:avLst/>
            <a:gdLst/>
            <a:ahLst/>
            <a:cxnLst/>
            <a:rect l="l" t="t" r="r" b="b"/>
            <a:pathLst>
              <a:path w="5701650" h="870857">
                <a:moveTo>
                  <a:pt x="32863" y="0"/>
                </a:moveTo>
                <a:lnTo>
                  <a:pt x="5603060" y="0"/>
                </a:lnTo>
                <a:cubicBezTo>
                  <a:pt x="5657509" y="0"/>
                  <a:pt x="5701650" y="44140"/>
                  <a:pt x="5701650" y="98590"/>
                </a:cubicBezTo>
                <a:lnTo>
                  <a:pt x="5701650" y="772267"/>
                </a:lnTo>
                <a:cubicBezTo>
                  <a:pt x="5701650" y="826717"/>
                  <a:pt x="5657509" y="870857"/>
                  <a:pt x="5603060" y="870857"/>
                </a:cubicBez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294" dist="3286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63471" y="1380226"/>
            <a:ext cx="32863" cy="870857"/>
          </a:xfrm>
          <a:custGeom>
            <a:avLst/>
            <a:gdLst/>
            <a:ahLst/>
            <a:cxnLst/>
            <a:rect l="l" t="t" r="r" b="b"/>
            <a:pathLst>
              <a:path w="32863" h="870857">
                <a:moveTo>
                  <a:pt x="32863" y="0"/>
                </a:moveTo>
                <a:lnTo>
                  <a:pt x="32863" y="0"/>
                </a:lnTo>
                <a:lnTo>
                  <a:pt x="32863" y="870857"/>
                </a:ln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11352" y="1511677"/>
            <a:ext cx="5488043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Repository Pattern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11352" y="1741714"/>
            <a:ext cx="5479827" cy="37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6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Abstraction layer that mediates between domain and data mapping layers, providing collection-like access to domain objects.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5057" y="2345563"/>
            <a:ext cx="5701650" cy="870857"/>
          </a:xfrm>
          <a:custGeom>
            <a:avLst/>
            <a:gdLst/>
            <a:ahLst/>
            <a:cxnLst/>
            <a:rect l="l" t="t" r="r" b="b"/>
            <a:pathLst>
              <a:path w="5701650" h="870857">
                <a:moveTo>
                  <a:pt x="32863" y="0"/>
                </a:moveTo>
                <a:lnTo>
                  <a:pt x="5603060" y="0"/>
                </a:lnTo>
                <a:cubicBezTo>
                  <a:pt x="5657509" y="0"/>
                  <a:pt x="5701650" y="44140"/>
                  <a:pt x="5701650" y="98590"/>
                </a:cubicBezTo>
                <a:lnTo>
                  <a:pt x="5701650" y="772267"/>
                </a:lnTo>
                <a:cubicBezTo>
                  <a:pt x="5701650" y="826717"/>
                  <a:pt x="5657509" y="870857"/>
                  <a:pt x="5603060" y="870857"/>
                </a:cubicBez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294" dist="3286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5057" y="2345563"/>
            <a:ext cx="32863" cy="870857"/>
          </a:xfrm>
          <a:custGeom>
            <a:avLst/>
            <a:gdLst/>
            <a:ahLst/>
            <a:cxnLst/>
            <a:rect l="l" t="t" r="r" b="b"/>
            <a:pathLst>
              <a:path w="32863" h="870857">
                <a:moveTo>
                  <a:pt x="32863" y="0"/>
                </a:moveTo>
                <a:lnTo>
                  <a:pt x="32863" y="0"/>
                </a:lnTo>
                <a:lnTo>
                  <a:pt x="32863" y="870857"/>
                </a:ln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2938" y="2477013"/>
            <a:ext cx="5488043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of 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2938" y="2707051"/>
            <a:ext cx="5479827" cy="37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6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Maintains a list of objects affected by a business transaction and coordinates writing out changes as a single atomic operation.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63471" y="2345563"/>
            <a:ext cx="5701650" cy="870857"/>
          </a:xfrm>
          <a:custGeom>
            <a:avLst/>
            <a:gdLst/>
            <a:ahLst/>
            <a:cxnLst/>
            <a:rect l="l" t="t" r="r" b="b"/>
            <a:pathLst>
              <a:path w="5701650" h="870857">
                <a:moveTo>
                  <a:pt x="32863" y="0"/>
                </a:moveTo>
                <a:lnTo>
                  <a:pt x="5603060" y="0"/>
                </a:lnTo>
                <a:cubicBezTo>
                  <a:pt x="5657509" y="0"/>
                  <a:pt x="5701650" y="44140"/>
                  <a:pt x="5701650" y="98590"/>
                </a:cubicBezTo>
                <a:lnTo>
                  <a:pt x="5701650" y="772267"/>
                </a:lnTo>
                <a:cubicBezTo>
                  <a:pt x="5701650" y="826717"/>
                  <a:pt x="5657509" y="870857"/>
                  <a:pt x="5603060" y="870857"/>
                </a:cubicBez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294" dist="3286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63471" y="2345563"/>
            <a:ext cx="32863" cy="870857"/>
          </a:xfrm>
          <a:custGeom>
            <a:avLst/>
            <a:gdLst/>
            <a:ahLst/>
            <a:cxnLst/>
            <a:rect l="l" t="t" r="r" b="b"/>
            <a:pathLst>
              <a:path w="32863" h="870857">
                <a:moveTo>
                  <a:pt x="32863" y="0"/>
                </a:moveTo>
                <a:lnTo>
                  <a:pt x="32863" y="0"/>
                </a:lnTo>
                <a:lnTo>
                  <a:pt x="32863" y="870857"/>
                </a:ln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11352" y="2477013"/>
            <a:ext cx="5488043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 Pattern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11352" y="2707051"/>
            <a:ext cx="5479827" cy="37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6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Encapsulates query criteria in reusable objects, enabling composition of complex business rules and filtering logic.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5057" y="3310900"/>
            <a:ext cx="5701650" cy="870857"/>
          </a:xfrm>
          <a:custGeom>
            <a:avLst/>
            <a:gdLst/>
            <a:ahLst/>
            <a:cxnLst/>
            <a:rect l="l" t="t" r="r" b="b"/>
            <a:pathLst>
              <a:path w="5701650" h="870857">
                <a:moveTo>
                  <a:pt x="32863" y="0"/>
                </a:moveTo>
                <a:lnTo>
                  <a:pt x="5603060" y="0"/>
                </a:lnTo>
                <a:cubicBezTo>
                  <a:pt x="5657509" y="0"/>
                  <a:pt x="5701650" y="44140"/>
                  <a:pt x="5701650" y="98590"/>
                </a:cubicBezTo>
                <a:lnTo>
                  <a:pt x="5701650" y="772267"/>
                </a:lnTo>
                <a:cubicBezTo>
                  <a:pt x="5701650" y="826717"/>
                  <a:pt x="5657509" y="870857"/>
                  <a:pt x="5603060" y="870857"/>
                </a:cubicBez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294" dist="3286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5057" y="3310900"/>
            <a:ext cx="32863" cy="870857"/>
          </a:xfrm>
          <a:custGeom>
            <a:avLst/>
            <a:gdLst/>
            <a:ahLst/>
            <a:cxnLst/>
            <a:rect l="l" t="t" r="r" b="b"/>
            <a:pathLst>
              <a:path w="32863" h="870857">
                <a:moveTo>
                  <a:pt x="32863" y="0"/>
                </a:moveTo>
                <a:lnTo>
                  <a:pt x="32863" y="0"/>
                </a:lnTo>
                <a:lnTo>
                  <a:pt x="32863" y="870857"/>
                </a:ln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2938" y="3442350"/>
            <a:ext cx="5488043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 Abstraction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2938" y="3672388"/>
            <a:ext cx="5479827" cy="37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6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that decouples message queue implementation from business logic, enabling runtime transport selection.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63471" y="3310900"/>
            <a:ext cx="5701650" cy="870857"/>
          </a:xfrm>
          <a:custGeom>
            <a:avLst/>
            <a:gdLst/>
            <a:ahLst/>
            <a:cxnLst/>
            <a:rect l="l" t="t" r="r" b="b"/>
            <a:pathLst>
              <a:path w="5701650" h="870857">
                <a:moveTo>
                  <a:pt x="32863" y="0"/>
                </a:moveTo>
                <a:lnTo>
                  <a:pt x="5603060" y="0"/>
                </a:lnTo>
                <a:cubicBezTo>
                  <a:pt x="5657509" y="0"/>
                  <a:pt x="5701650" y="44140"/>
                  <a:pt x="5701650" y="98590"/>
                </a:cubicBezTo>
                <a:lnTo>
                  <a:pt x="5701650" y="772267"/>
                </a:lnTo>
                <a:cubicBezTo>
                  <a:pt x="5701650" y="826717"/>
                  <a:pt x="5657509" y="870857"/>
                  <a:pt x="5603060" y="870857"/>
                </a:cubicBez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294" dist="3286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63471" y="3310900"/>
            <a:ext cx="32863" cy="870857"/>
          </a:xfrm>
          <a:custGeom>
            <a:avLst/>
            <a:gdLst/>
            <a:ahLst/>
            <a:cxnLst/>
            <a:rect l="l" t="t" r="r" b="b"/>
            <a:pathLst>
              <a:path w="32863" h="870857">
                <a:moveTo>
                  <a:pt x="32863" y="0"/>
                </a:moveTo>
                <a:lnTo>
                  <a:pt x="32863" y="0"/>
                </a:lnTo>
                <a:lnTo>
                  <a:pt x="32863" y="870857"/>
                </a:ln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11352" y="3442350"/>
            <a:ext cx="5488043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 Core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11352" y="3672388"/>
            <a:ext cx="5479827" cy="18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6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Entity Framework Core — lightweight, extensible ORM for .NET supporting multiple database providers.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5057" y="4276237"/>
            <a:ext cx="5701650" cy="870857"/>
          </a:xfrm>
          <a:custGeom>
            <a:avLst/>
            <a:gdLst/>
            <a:ahLst/>
            <a:cxnLst/>
            <a:rect l="l" t="t" r="r" b="b"/>
            <a:pathLst>
              <a:path w="5701650" h="870857">
                <a:moveTo>
                  <a:pt x="32863" y="0"/>
                </a:moveTo>
                <a:lnTo>
                  <a:pt x="5603060" y="0"/>
                </a:lnTo>
                <a:cubicBezTo>
                  <a:pt x="5657509" y="0"/>
                  <a:pt x="5701650" y="44140"/>
                  <a:pt x="5701650" y="98590"/>
                </a:cubicBezTo>
                <a:lnTo>
                  <a:pt x="5701650" y="772267"/>
                </a:lnTo>
                <a:cubicBezTo>
                  <a:pt x="5701650" y="826717"/>
                  <a:pt x="5657509" y="870857"/>
                  <a:pt x="5603060" y="870857"/>
                </a:cubicBez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294" dist="3286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5057" y="4276237"/>
            <a:ext cx="32863" cy="870857"/>
          </a:xfrm>
          <a:custGeom>
            <a:avLst/>
            <a:gdLst/>
            <a:ahLst/>
            <a:cxnLst/>
            <a:rect l="l" t="t" r="r" b="b"/>
            <a:pathLst>
              <a:path w="32863" h="870857">
                <a:moveTo>
                  <a:pt x="32863" y="0"/>
                </a:moveTo>
                <a:lnTo>
                  <a:pt x="32863" y="0"/>
                </a:lnTo>
                <a:lnTo>
                  <a:pt x="32863" y="870857"/>
                </a:ln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2938" y="4407687"/>
            <a:ext cx="5488043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Secrets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2938" y="4637725"/>
            <a:ext cx="5479827" cy="18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6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ASP.NET Core feature for storing sensitive configuration during development, outside source control.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63471" y="4276237"/>
            <a:ext cx="5701650" cy="870857"/>
          </a:xfrm>
          <a:custGeom>
            <a:avLst/>
            <a:gdLst/>
            <a:ahLst/>
            <a:cxnLst/>
            <a:rect l="l" t="t" r="r" b="b"/>
            <a:pathLst>
              <a:path w="5701650" h="870857">
                <a:moveTo>
                  <a:pt x="32863" y="0"/>
                </a:moveTo>
                <a:lnTo>
                  <a:pt x="5603060" y="0"/>
                </a:lnTo>
                <a:cubicBezTo>
                  <a:pt x="5657509" y="0"/>
                  <a:pt x="5701650" y="44140"/>
                  <a:pt x="5701650" y="98590"/>
                </a:cubicBezTo>
                <a:lnTo>
                  <a:pt x="5701650" y="772267"/>
                </a:lnTo>
                <a:cubicBezTo>
                  <a:pt x="5701650" y="826717"/>
                  <a:pt x="5657509" y="870857"/>
                  <a:pt x="5603060" y="870857"/>
                </a:cubicBez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294" dist="3286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63471" y="4276237"/>
            <a:ext cx="32863" cy="870857"/>
          </a:xfrm>
          <a:custGeom>
            <a:avLst/>
            <a:gdLst/>
            <a:ahLst/>
            <a:cxnLst/>
            <a:rect l="l" t="t" r="r" b="b"/>
            <a:pathLst>
              <a:path w="32863" h="870857">
                <a:moveTo>
                  <a:pt x="32863" y="0"/>
                </a:moveTo>
                <a:lnTo>
                  <a:pt x="32863" y="0"/>
                </a:lnTo>
                <a:lnTo>
                  <a:pt x="32863" y="870857"/>
                </a:ln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11352" y="4407687"/>
            <a:ext cx="5488043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Architecture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11352" y="4637725"/>
            <a:ext cx="5479827" cy="37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6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Layered architecture where dependencies point inward toward domain logic, keeping frameworks and UI at the outer edges.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5057" y="5241574"/>
            <a:ext cx="5701650" cy="870857"/>
          </a:xfrm>
          <a:custGeom>
            <a:avLst/>
            <a:gdLst/>
            <a:ahLst/>
            <a:cxnLst/>
            <a:rect l="l" t="t" r="r" b="b"/>
            <a:pathLst>
              <a:path w="5701650" h="870857">
                <a:moveTo>
                  <a:pt x="32863" y="0"/>
                </a:moveTo>
                <a:lnTo>
                  <a:pt x="5603060" y="0"/>
                </a:lnTo>
                <a:cubicBezTo>
                  <a:pt x="5657509" y="0"/>
                  <a:pt x="5701650" y="44140"/>
                  <a:pt x="5701650" y="98590"/>
                </a:cubicBezTo>
                <a:lnTo>
                  <a:pt x="5701650" y="772267"/>
                </a:lnTo>
                <a:cubicBezTo>
                  <a:pt x="5701650" y="826717"/>
                  <a:pt x="5657509" y="870857"/>
                  <a:pt x="5603060" y="870857"/>
                </a:cubicBez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294" dist="3286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45057" y="5241574"/>
            <a:ext cx="32863" cy="870857"/>
          </a:xfrm>
          <a:custGeom>
            <a:avLst/>
            <a:gdLst/>
            <a:ahLst/>
            <a:cxnLst/>
            <a:rect l="l" t="t" r="r" b="b"/>
            <a:pathLst>
              <a:path w="32863" h="870857">
                <a:moveTo>
                  <a:pt x="32863" y="0"/>
                </a:moveTo>
                <a:lnTo>
                  <a:pt x="32863" y="0"/>
                </a:lnTo>
                <a:lnTo>
                  <a:pt x="32863" y="870857"/>
                </a:ln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2938" y="5373024"/>
            <a:ext cx="5488043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DTO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92938" y="5603062"/>
            <a:ext cx="5479827" cy="37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6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Transfer Object — lightweight object for carrying data between processes, decoupling internal models from API contracts.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63471" y="5241574"/>
            <a:ext cx="5701650" cy="870857"/>
          </a:xfrm>
          <a:custGeom>
            <a:avLst/>
            <a:gdLst/>
            <a:ahLst/>
            <a:cxnLst/>
            <a:rect l="l" t="t" r="r" b="b"/>
            <a:pathLst>
              <a:path w="5701650" h="870857">
                <a:moveTo>
                  <a:pt x="32863" y="0"/>
                </a:moveTo>
                <a:lnTo>
                  <a:pt x="5603060" y="0"/>
                </a:lnTo>
                <a:cubicBezTo>
                  <a:pt x="5657509" y="0"/>
                  <a:pt x="5701650" y="44140"/>
                  <a:pt x="5701650" y="98590"/>
                </a:cubicBezTo>
                <a:lnTo>
                  <a:pt x="5701650" y="772267"/>
                </a:lnTo>
                <a:cubicBezTo>
                  <a:pt x="5701650" y="826717"/>
                  <a:pt x="5657509" y="870857"/>
                  <a:pt x="5603060" y="870857"/>
                </a:cubicBez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294" dist="3286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63471" y="5241574"/>
            <a:ext cx="32863" cy="870857"/>
          </a:xfrm>
          <a:custGeom>
            <a:avLst/>
            <a:gdLst/>
            <a:ahLst/>
            <a:cxnLst/>
            <a:rect l="l" t="t" r="r" b="b"/>
            <a:pathLst>
              <a:path w="32863" h="870857">
                <a:moveTo>
                  <a:pt x="32863" y="0"/>
                </a:moveTo>
                <a:lnTo>
                  <a:pt x="32863" y="0"/>
                </a:lnTo>
                <a:lnTo>
                  <a:pt x="32863" y="870857"/>
                </a:lnTo>
                <a:lnTo>
                  <a:pt x="32863" y="870857"/>
                </a:lnTo>
                <a:cubicBezTo>
                  <a:pt x="14713" y="870857"/>
                  <a:pt x="0" y="856144"/>
                  <a:pt x="0" y="837995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11352" y="5373024"/>
            <a:ext cx="5488043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0F2D6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Extension Methods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11352" y="5603062"/>
            <a:ext cx="5479827" cy="37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6" dirty="0">
                <a:solidFill>
                  <a:srgbClr val="1A202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C# feature enabling addition of methods to existing types without modifying them, used for modular service registration.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8625" y="6206911"/>
            <a:ext cx="11534749" cy="657251"/>
          </a:xfrm>
          <a:custGeom>
            <a:avLst/>
            <a:gdLst/>
            <a:ahLst/>
            <a:cxnLst/>
            <a:rect l="l" t="t" r="r" b="b"/>
            <a:pathLst>
              <a:path w="11534749" h="657251">
                <a:moveTo>
                  <a:pt x="98588" y="0"/>
                </a:moveTo>
                <a:lnTo>
                  <a:pt x="11436162" y="0"/>
                </a:lnTo>
                <a:cubicBezTo>
                  <a:pt x="11490610" y="0"/>
                  <a:pt x="11534749" y="44139"/>
                  <a:pt x="11534749" y="98588"/>
                </a:cubicBezTo>
                <a:lnTo>
                  <a:pt x="11534749" y="558663"/>
                </a:lnTo>
                <a:cubicBezTo>
                  <a:pt x="11534749" y="613112"/>
                  <a:pt x="11490610" y="657251"/>
                  <a:pt x="11436162" y="657251"/>
                </a:cubicBezTo>
                <a:lnTo>
                  <a:pt x="98588" y="657251"/>
                </a:lnTo>
                <a:cubicBezTo>
                  <a:pt x="44139" y="657251"/>
                  <a:pt x="0" y="613112"/>
                  <a:pt x="0" y="558663"/>
                </a:cubicBezTo>
                <a:lnTo>
                  <a:pt x="0" y="98588"/>
                </a:lnTo>
                <a:cubicBezTo>
                  <a:pt x="0" y="44139"/>
                  <a:pt x="44139" y="0"/>
                  <a:pt x="98588" y="0"/>
                </a:cubicBezTo>
                <a:close/>
              </a:path>
            </a:pathLst>
          </a:custGeom>
          <a:solidFill>
            <a:srgbClr val="0F2D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97046" y="6436844"/>
            <a:ext cx="172528" cy="197175"/>
          </a:xfrm>
          <a:custGeom>
            <a:avLst/>
            <a:gdLst/>
            <a:ahLst/>
            <a:cxnLst/>
            <a:rect l="l" t="t" r="r" b="b"/>
            <a:pathLst>
              <a:path w="172528" h="197175">
                <a:moveTo>
                  <a:pt x="147881" y="197175"/>
                </a:moveTo>
                <a:lnTo>
                  <a:pt x="36970" y="197175"/>
                </a:lnTo>
                <a:cubicBezTo>
                  <a:pt x="16560" y="197175"/>
                  <a:pt x="0" y="180616"/>
                  <a:pt x="0" y="160205"/>
                </a:cubicBezTo>
                <a:lnTo>
                  <a:pt x="0" y="36970"/>
                </a:lnTo>
                <a:cubicBezTo>
                  <a:pt x="0" y="16560"/>
                  <a:pt x="16560" y="0"/>
                  <a:pt x="36970" y="0"/>
                </a:cubicBezTo>
                <a:lnTo>
                  <a:pt x="154043" y="0"/>
                </a:lnTo>
                <a:cubicBezTo>
                  <a:pt x="164248" y="0"/>
                  <a:pt x="172528" y="8280"/>
                  <a:pt x="172528" y="18485"/>
                </a:cubicBezTo>
                <a:lnTo>
                  <a:pt x="172528" y="129396"/>
                </a:lnTo>
                <a:cubicBezTo>
                  <a:pt x="172528" y="137445"/>
                  <a:pt x="167368" y="144300"/>
                  <a:pt x="160205" y="146842"/>
                </a:cubicBezTo>
                <a:lnTo>
                  <a:pt x="160205" y="172528"/>
                </a:lnTo>
                <a:cubicBezTo>
                  <a:pt x="167021" y="172528"/>
                  <a:pt x="172528" y="178035"/>
                  <a:pt x="172528" y="184852"/>
                </a:cubicBezTo>
                <a:cubicBezTo>
                  <a:pt x="172528" y="191668"/>
                  <a:pt x="167021" y="197175"/>
                  <a:pt x="160205" y="197175"/>
                </a:cubicBezTo>
                <a:lnTo>
                  <a:pt x="147881" y="197175"/>
                </a:lnTo>
                <a:close/>
                <a:moveTo>
                  <a:pt x="36970" y="147881"/>
                </a:moveTo>
                <a:cubicBezTo>
                  <a:pt x="30154" y="147881"/>
                  <a:pt x="24647" y="153388"/>
                  <a:pt x="24647" y="160205"/>
                </a:cubicBezTo>
                <a:cubicBezTo>
                  <a:pt x="24647" y="167021"/>
                  <a:pt x="30154" y="172528"/>
                  <a:pt x="36970" y="172528"/>
                </a:cubicBezTo>
                <a:lnTo>
                  <a:pt x="135558" y="172528"/>
                </a:lnTo>
                <a:lnTo>
                  <a:pt x="135558" y="147881"/>
                </a:lnTo>
                <a:lnTo>
                  <a:pt x="36970" y="147881"/>
                </a:lnTo>
                <a:close/>
                <a:moveTo>
                  <a:pt x="49294" y="58536"/>
                </a:moveTo>
                <a:cubicBezTo>
                  <a:pt x="49294" y="63658"/>
                  <a:pt x="53414" y="67779"/>
                  <a:pt x="58536" y="67779"/>
                </a:cubicBezTo>
                <a:lnTo>
                  <a:pt x="126315" y="67779"/>
                </a:lnTo>
                <a:cubicBezTo>
                  <a:pt x="131437" y="67779"/>
                  <a:pt x="135558" y="63658"/>
                  <a:pt x="135558" y="58536"/>
                </a:cubicBezTo>
                <a:cubicBezTo>
                  <a:pt x="135558" y="53414"/>
                  <a:pt x="131437" y="49294"/>
                  <a:pt x="126315" y="49294"/>
                </a:cubicBezTo>
                <a:lnTo>
                  <a:pt x="58536" y="49294"/>
                </a:lnTo>
                <a:cubicBezTo>
                  <a:pt x="53414" y="49294"/>
                  <a:pt x="49294" y="53414"/>
                  <a:pt x="49294" y="58536"/>
                </a:cubicBezTo>
                <a:close/>
                <a:moveTo>
                  <a:pt x="58536" y="86264"/>
                </a:moveTo>
                <a:cubicBezTo>
                  <a:pt x="53414" y="86264"/>
                  <a:pt x="49294" y="90385"/>
                  <a:pt x="49294" y="95507"/>
                </a:cubicBezTo>
                <a:cubicBezTo>
                  <a:pt x="49294" y="100629"/>
                  <a:pt x="53414" y="104749"/>
                  <a:pt x="58536" y="104749"/>
                </a:cubicBezTo>
                <a:lnTo>
                  <a:pt x="126315" y="104749"/>
                </a:lnTo>
                <a:cubicBezTo>
                  <a:pt x="131437" y="104749"/>
                  <a:pt x="135558" y="100629"/>
                  <a:pt x="135558" y="95507"/>
                </a:cubicBezTo>
                <a:cubicBezTo>
                  <a:pt x="135558" y="90385"/>
                  <a:pt x="131437" y="86264"/>
                  <a:pt x="126315" y="86264"/>
                </a:cubicBezTo>
                <a:lnTo>
                  <a:pt x="58536" y="86264"/>
                </a:lnTo>
                <a:close/>
              </a:path>
            </a:pathLst>
          </a:custGeom>
          <a:solidFill>
            <a:srgbClr val="26A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37995" y="6436844"/>
            <a:ext cx="540588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detailed implementation guidance, refer to the DGC API Guideline Solution documentation.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012543" y="6338361"/>
            <a:ext cx="722976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53" b="1" dirty="0">
                <a:solidFill>
                  <a:srgbClr val="26A2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61837" y="6601157"/>
            <a:ext cx="673682" cy="13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76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Terms Defined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1615</Words>
  <Application>Microsoft Office PowerPoint</Application>
  <PresentationFormat>Widescreen</PresentationFormat>
  <Paragraphs>298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Quattrocento Sans</vt:lpstr>
      <vt:lpstr>微软雅黑</vt:lpstr>
      <vt:lpstr>Hedvig Letters Sans</vt:lpstr>
      <vt:lpstr>Liter</vt:lpstr>
      <vt:lpstr>Arial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DGC API Guideline Standard</dc:title>
  <dc:subject>DGC API Guideline Standard</dc:subject>
  <dc:creator>Kimi</dc:creator>
  <cp:lastModifiedBy>Ngor Pichponereay</cp:lastModifiedBy>
  <cp:revision>5</cp:revision>
  <dcterms:created xsi:type="dcterms:W3CDTF">2026-03-20T09:40:04Z</dcterms:created>
  <dcterms:modified xsi:type="dcterms:W3CDTF">2026-03-20T09:47:14Z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{"Label":"DGC API Guideline Standard","ContentProducer":"001191110108MACG2KBH8F10000","ProduceID":"19d0a9b3-40e2-827c-8000-000064a8ee2f","ReservedCode1":"","ContentPropagator":"001191110108MACG2KBH8F20000","PropagateID":"19d0a9b3-40e2-827c-8000-000064a8ee2f","ReservedCode2":""}</vt:lpwstr>
  </property>
</Properties>
</file>